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 Title Slide</a:t>
            </a:r>
          </a:p>
          <a:p/>
          <a:p>
            <a:r>
              <a:t>Introduce yourself: 'Good [morning/afternoon], I am Ajeesh Kumar R, Roll No. 2024MT12104, presenting my Mid Semester Project titled IoT-Enabled Solar-Assisted High-Efficiency Battery Charging Using Supercapacitor Energy Buffering. My guide is Dr. Somasundaram Iyyamperumal.'</a:t>
            </a:r>
          </a:p>
          <a:p/>
          <a:p>
            <a:r>
              <a:t>Briefly mention: This project combines solar energy, supercapacitor buffering, embedded STM32 control, and IoT monitoring in a single integrated prototype.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2: Introduction – Background</a:t>
            </a:r>
          </a:p>
          <a:p/>
          <a:p>
            <a:r>
              <a:t>Emphasize the scale of the problem: Over 10 million EVs were sold globally in 2023, and solar capacity has crossed 1 terawatt. This creates a critical need for efficient solar-assisted charging solutions.</a:t>
            </a:r>
          </a:p>
          <a:p/>
          <a:p>
            <a:r>
              <a:t>Key message: The problems are real, measurable, and academically relevant.</a:t>
            </a:r>
          </a:p>
          <a:p/>
          <a:p>
            <a:r>
              <a:t>Transition: 'These challenges motivate our proposed solution of integrating supercapacitor buffering with IoT monitoring.'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3: Motivation and Novelty</a:t>
            </a:r>
          </a:p>
          <a:p/>
          <a:p>
            <a:r>
              <a:t>Key point on novelty: Cite Gopi et al. 2024 when mentioning the research gap: 'As noted by Gopi et al. in their 2024 Energy Reports review, integrated IoT monitoring for small-scale HBSC prototypes remains underexplored. Our project directly addresses this gap.'</a:t>
            </a:r>
          </a:p>
          <a:p/>
          <a:p>
            <a:r>
              <a:t>Emphasize the 'three-in-one' integration: embedded control + supercapacitor management + IoT cloud - this is what makes this project novel compared to existing 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4: Objectives</a:t>
            </a:r>
          </a:p>
          <a:p/>
          <a:p>
            <a:r>
              <a:t>Walk through each objective clearly:</a:t>
            </a:r>
          </a:p>
          <a:p>
            <a:r>
              <a:t>1. Study → Literature review already done (Slide 6-8)</a:t>
            </a:r>
          </a:p>
          <a:p>
            <a:r>
              <a:t>2. Design → System architecture (Slide 9-10)</a:t>
            </a:r>
          </a:p>
          <a:p>
            <a:r>
              <a:t>3. Implement → STM32 firmware (current work)</a:t>
            </a:r>
          </a:p>
          <a:p>
            <a:r>
              <a:t>4. Develop → ESP8266 IoT gateway (planned)</a:t>
            </a:r>
          </a:p>
          <a:p>
            <a:r>
              <a:t>5. Evaluate → Experimental comparison (future work)</a:t>
            </a:r>
          </a:p>
          <a:p/>
          <a:p>
            <a:r>
              <a:t>Note that all objectives are measurable and testable — this is important for academic rigor.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5: Scope of Work</a:t>
            </a:r>
          </a:p>
          <a:p/>
          <a:p>
            <a:r>
              <a:t>Clearly explaining scope boundaries demonstrates academic maturity. Key points:</a:t>
            </a:r>
          </a:p>
          <a:p/>
          <a:p>
            <a:r>
              <a:t>The low-voltage scope: We use a regulated DC power supply to simulate solar input. This is deliberate and safe. The physics of buffering and control are identical at low voltage; the proof of concept is valid.</a:t>
            </a:r>
          </a:p>
          <a:p/>
          <a:p>
            <a:r>
              <a:t>Limitations are NOT weaknesses — they define the boundaries of your contribution and are explicitly stated to maintain academic honesty.</a:t>
            </a:r>
          </a:p>
          <a:p/>
          <a:p>
            <a:r>
              <a:t>If asked about limitations: 'The limitations are acknowledged and represent natural extensions for future work, including higher power ratings and ML-based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6: Literature Overview</a:t>
            </a:r>
          </a:p>
          <a:p/>
          <a:p>
            <a:r>
              <a:t>Introduce each research theme:</a:t>
            </a:r>
          </a:p>
          <a:p>
            <a:r>
              <a:t>1. Solar Charging: MPPT is standard; direct coupling causes problems</a:t>
            </a:r>
          </a:p>
          <a:p>
            <a:r>
              <a:t>2. Supercapacitors: Much better power density and cycle life vs. batteries</a:t>
            </a:r>
          </a:p>
          <a:p>
            <a:r>
              <a:t>3. Hybrid HBSC: Three topologies—our system uses semi-active</a:t>
            </a:r>
          </a:p>
          <a:p>
            <a:r>
              <a:t>4. IoT: ESP8266 is the de-facto standard for low-cost WiFi nodes</a:t>
            </a:r>
          </a:p>
          <a:p/>
          <a:p>
            <a:r>
              <a:t>Transition: 'Let me now go through the specific papers that inform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7: Key Literature</a:t>
            </a:r>
          </a:p>
          <a:p/>
          <a:p>
            <a:r>
              <a:t>Be ready to discuss each paper briefly if asked:</a:t>
            </a:r>
          </a:p>
          <a:p>
            <a:r>
              <a:t>[1] Hassan: Analyzed 3 topologies; our semi-active topology is validated</a:t>
            </a:r>
          </a:p>
          <a:p>
            <a:r>
              <a:t>[2] Zhang: 40-70% ripple reduction is our benchmark</a:t>
            </a:r>
          </a:p>
          <a:p>
            <a:r>
              <a:t>[3] Gopi: This is the most important paper for justifying novelty—quote it directly</a:t>
            </a:r>
          </a:p>
          <a:p>
            <a:r>
              <a:t>[4] Piyumal: Most similar to our system but no IoT; our contribution is the IoT layer</a:t>
            </a:r>
          </a:p>
          <a:p>
            <a:r>
              <a:t>[5] Baqar: SoC formula and protection thresholds directly implemented in firmware</a:t>
            </a:r>
          </a:p>
          <a:p/>
          <a:p>
            <a:r>
              <a:t>If asked 'Have you read all these papers?' — YES, and explain what each contributed to your design.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8: Research Gaps</a:t>
            </a:r>
          </a:p>
          <a:p/>
          <a:p>
            <a:r>
              <a:t>This is a CRITICAL slide for academic viva. Spend time here.</a:t>
            </a:r>
          </a:p>
          <a:p/>
          <a:p>
            <a:r>
              <a:t>Key message: 'These three gaps in existing literature are not just theoretical — they represent practical limitations that prevent real-world deployment of small-scale solar-assisted charging systems. Our project addresses all three.'</a:t>
            </a:r>
          </a:p>
          <a:p/>
          <a:p>
            <a:r>
              <a:t>If examiner asks: 'How is your work different from Piyumal 2021?' → 'Piyumal demonstrated the hardware concept without IoT. We add the ESP8266 gateway, cloud dashboard, automated logging, and a PI controller — making the system truly end-to-end smart, not just a hardware prototype.'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9: System Architecture Block Diagram</a:t>
            </a:r>
          </a:p>
          <a:p/>
          <a:p>
            <a:r>
              <a:t>Walk through the diagram from left to right, top to bottom:</a:t>
            </a:r>
          </a:p>
          <a:p>
            <a:r>
              <a:t>1. Power path (orange): DC Supply → DC-DC Converter → Supercapacitor → Battery</a:t>
            </a:r>
          </a:p>
          <a:p>
            <a:r>
              <a:t>2. Sensing (brown): Voltage and Current sensors feed ADC inputs of STM32</a:t>
            </a:r>
          </a:p>
          <a:p>
            <a:r>
              <a:t>3. Control (blue): STM32 processes data and outputs PWM to regulate DC-DC converter</a:t>
            </a:r>
          </a:p>
          <a:p>
            <a:r>
              <a:t>4. IoT path (blue): STM32 → UART → ESP8266 → WiFi → Cloud → Dashboard</a:t>
            </a:r>
          </a:p>
          <a:p/>
          <a:p>
            <a:r>
              <a:t>Key insight: The STM32 is the 'brain' — it simultaneously reads sensors, controls power, and communicates data. This integration within a single MCU is a key design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10: Component Details</a:t>
            </a:r>
          </a:p>
          <a:p/>
          <a:p>
            <a:r>
              <a:t>Be ready to justify component choices:</a:t>
            </a:r>
          </a:p>
          <a:p>
            <a:r>
              <a:t>STM32F446RE: Why not an Arduino? STM32 has a 12-bit ADC (vs 10-bit), hardware timers for precise PWM, and enough processing power for the control loop.</a:t>
            </a:r>
          </a:p>
          <a:p/>
          <a:p>
            <a:r>
              <a:t>ACS712: Hall-effect sensor is non-invasive (no series resistance loss) and provides analog output directly readable by ADC. INA219 alternative uses I2C for higher accuracy.</a:t>
            </a:r>
          </a:p>
          <a:p/>
          <a:p>
            <a:r>
              <a:t>ESP8266: Cost-effective (~₹200-400), widely documented, WiFi built-in. ESP32 is an alternative if more processing power is needed.</a:t>
            </a:r>
          </a:p>
          <a:p/>
          <a:p>
            <a:r>
              <a:t>Supercapacitor: EDLC technology, rated voltage 2.7V per cell. Multiple cells in series for higher voltage. Key advantage: &gt;500,000 charge cycles vs 1000 for batteries.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11: Design Considerations (Safety &amp; Architecture)</a:t>
            </a:r>
          </a:p>
          <a:p/>
          <a:p>
            <a:r>
              <a:t>Faculty specifically asked for design considerations — this is a core content slide.</a:t>
            </a:r>
          </a:p>
          <a:p/>
          <a:p>
            <a:r>
              <a:t>Safety: Explain that operating at 5-12V means no regulatory compliance needed for prototype demonstration. This is a deliberate choice, not a limitation.</a:t>
            </a:r>
          </a:p>
          <a:p/>
          <a:p>
            <a:r>
              <a:t>Modular design: Each module has a defined interface (header file). This means a team member (or you in different sessions) can work on firmware without touching other modules.</a:t>
            </a:r>
          </a:p>
          <a:p/>
          <a:p>
            <a:r>
              <a:t>Real-time monitoring: DMA is key — it allows ADC to run continuously without CPU intervention, freeing the CPU for control algorithms.</a:t>
            </a:r>
          </a:p>
          <a:p/>
          <a:p>
            <a:r>
              <a:t>Noise: The RC filter cutoff at 16 kHz removes PWM switching noise (20 kHz) while passing charging dynamics (&lt; 1 kHz). This is a calculated engineering choice.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12: Computation &amp; Control</a:t>
            </a:r>
          </a:p>
          <a:p/>
          <a:p>
            <a:r>
              <a:t>IMPORTANT: Faculty asked for computation content — this is a KEY slide.</a:t>
            </a:r>
          </a:p>
          <a:p/>
          <a:p>
            <a:r>
              <a:t>P = V × I: Instantaneous power calculated every 1 ms (1 kHz sampling).</a:t>
            </a:r>
          </a:p>
          <a:p/>
          <a:p>
            <a:r>
              <a:t>Energy integration: E[n] = E[n-1] + P[n] × Δt. This is numerical integration (Euler method). For 1 ms intervals: E_total = sum of all P×0.001. Final energy in Wh: divide by 3600.</a:t>
            </a:r>
          </a:p>
          <a:p/>
          <a:p>
            <a:r>
              <a:t>SoC formula: Because supercapacitor energy is proportional to V², not V. If you use linear SoC: SoC = (V-Vmin)/(Vmax-Vmin), you overestimate SoC at low voltage and underestimate at high voltage. The V² formula is physically correct.</a:t>
            </a:r>
          </a:p>
          <a:p/>
          <a:p>
            <a:r>
              <a:t>PI controller: Proportional term reacts immediately to error; integral term eliminates steady-state offset. Anti-windup prevents integral saturation during limits.</a:t>
            </a:r>
          </a:p>
          <a:p/>
          <a:p>
            <a:r>
              <a:t>Control loop &lt; 10 ms: With DMA ADC and non-blocking UART, we have ~8 ms available for the actual control algorithms.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13: Research Methodology</a:t>
            </a:r>
          </a:p>
          <a:p/>
          <a:p>
            <a:r>
              <a:t>Methodology = your plan of action. Examiners want to see a logical sequence.</a:t>
            </a:r>
          </a:p>
          <a:p/>
          <a:p>
            <a:r>
              <a:t>Current status: Phase 1 is done (design and planning). We have finalized the architecture, selected components, and defined all computation methods.</a:t>
            </a:r>
          </a:p>
          <a:p/>
          <a:p>
            <a:r>
              <a:t>Phase 2 is in progress: We have started STM32 firmware. ADC and UART modules are being developed. PWM configuration is planned next.</a:t>
            </a:r>
          </a:p>
          <a:p/>
          <a:p>
            <a:r>
              <a:t>Phases 3-5 are upcoming but have detailed plans. This is appropriate for mid-semester.</a:t>
            </a:r>
          </a:p>
          <a:p/>
          <a:p>
            <a:r>
              <a:t>If examiner asks about specific firmware code: Explain the module structure (sensor_driver.c, pwm_control.c, etc.) and the control loop timing.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14: Modular Implementation</a:t>
            </a:r>
          </a:p>
          <a:p/>
          <a:p>
            <a:r>
              <a:t>This slide demonstrates systematic engineering thinking — important for academic evaluation.</a:t>
            </a:r>
          </a:p>
          <a:p/>
          <a:p>
            <a:r>
              <a:t>Each of the 6 modules maps to a specific C source file in the STM32 firmware:</a:t>
            </a:r>
          </a:p>
          <a:p>
            <a:r>
              <a:t>- Sensor Drivers → sensor_driver.c</a:t>
            </a:r>
          </a:p>
          <a:p>
            <a:r>
              <a:t>- Control Algorithms → pwm_control.c</a:t>
            </a:r>
          </a:p>
          <a:p>
            <a:r>
              <a:t>- Protection Logic → embedded in main.c or protection.c</a:t>
            </a:r>
          </a:p>
          <a:p>
            <a:r>
              <a:t>- Communication → communication.c (STM32) + iot_gateway.ino (ESP8266)</a:t>
            </a:r>
          </a:p>
          <a:p>
            <a:r>
              <a:t>- Data Logging → cloud backend database</a:t>
            </a:r>
          </a:p>
          <a:p>
            <a:r>
              <a:t>- Testing → unit tests + integration tests</a:t>
            </a:r>
          </a:p>
          <a:p/>
          <a:p>
            <a:r>
              <a:t>Testing strategy: Each module can be tested independently before integration. This reduces debugging time and isolates faults. The simulation demo (Python) allows testing data flow without hardware.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15: Data Collection Plan</a:t>
            </a:r>
          </a:p>
          <a:p/>
          <a:p>
            <a:r>
              <a:t>Key points to highlight:</a:t>
            </a:r>
          </a:p>
          <a:p/>
          <a:p>
            <a:r>
              <a:t>1 kHz sampling: This captures the supercapacitor's fast dynamics (time constant = R_ESR × C, typically 0.1–10 ms)</a:t>
            </a:r>
          </a:p>
          <a:p/>
          <a:p>
            <a:r>
              <a:t>Two storage locations: Local (SD card or SPIFFS) ensures no data loss if WiFi drops. Cloud storage enables remote access and analysis.</a:t>
            </a:r>
          </a:p>
          <a:p/>
          <a:p>
            <a:r>
              <a:t>Experimental design: We plan TWO sets of experiments:</a:t>
            </a:r>
          </a:p>
          <a:p>
            <a:r>
              <a:t>  A) With supercapacitor connected (buffered)</a:t>
            </a:r>
          </a:p>
          <a:p>
            <a:r>
              <a:t>  B) Without supercapacitor (direct DC-DC to battery)</a:t>
            </a:r>
          </a:p>
          <a:p>
            <a:r>
              <a:t>Same input voltage profile for both → quantifies supercapacitor contribution</a:t>
            </a:r>
          </a:p>
          <a:p/>
          <a:p>
            <a:r>
              <a:t>Metrics we will compare: Charging efficiency (%), voltage ripple (mV), supercapacitor contribution to charge (%), response time to input step changes.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16: Current Progress</a:t>
            </a:r>
          </a:p>
          <a:p/>
          <a:p>
            <a:r>
              <a:t>BE HONEST about current status — examiners appreciate accuracy over overstatement.</a:t>
            </a:r>
          </a:p>
          <a:p/>
          <a:p>
            <a:r>
              <a:t>Emphasize what IS done:</a:t>
            </a:r>
          </a:p>
          <a:p>
            <a:r>
              <a:t>- Complete architectural design</a:t>
            </a:r>
          </a:p>
          <a:p>
            <a:r>
              <a:t>- Full literature review with identified gaps</a:t>
            </a:r>
          </a:p>
          <a:p>
            <a:r>
              <a:t>- All computation methods defined and documented</a:t>
            </a:r>
          </a:p>
          <a:p>
            <a:r>
              <a:t>- Component selection complete</a:t>
            </a:r>
          </a:p>
          <a:p>
            <a:r>
              <a:t>- GitHub repository with full documentation</a:t>
            </a:r>
          </a:p>
          <a:p/>
          <a:p>
            <a:r>
              <a:t>For in-progress firmware:</a:t>
            </a:r>
          </a:p>
          <a:p>
            <a:r>
              <a:t>Explain that STM32 ADC configuration is underway — DMA mode setup, channel configuration for V and I sensing. Expected completion: 2 weeks.</a:t>
            </a:r>
          </a:p>
          <a:p/>
          <a:p>
            <a:r>
              <a:t>Handle questions about delay: 'Component procurement was the primary constraint, which is now being resolved. All design decisions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17: Simulation Approach</a:t>
            </a:r>
          </a:p>
          <a:p/>
          <a:p>
            <a:r>
              <a:t>If asked: 'You don't have hardware — how can you validate your system?'</a:t>
            </a:r>
          </a:p>
          <a:p/>
          <a:p>
            <a:r>
              <a:t>Answer: 'At this stage (mid-semester), hardware procurement is in progress. To demonstrate system behavior and validate our algorithms, we have developed a Python simulation that generates realistic charging curves based on battery electrochemical models. The simulation produces JSON output identical to what the real STM32 would send, allowing us to test the entire IoT + dashboard stack. When hardware is ready, we replace the simulator with real firmware — no changes to the IoT/cloud layer are needed.'</a:t>
            </a:r>
          </a:p>
          <a:p/>
          <a:p>
            <a:r>
              <a:t>This demonstrates software engineering best practices: testing layers independently before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18: Expected Outcomes</a:t>
            </a:r>
          </a:p>
          <a:p/>
          <a:p>
            <a:r>
              <a:t>These are the tangible deliverables of the project — all are concrete and measurable.</a:t>
            </a:r>
          </a:p>
          <a:p/>
          <a:p>
            <a:r>
              <a:t>Emphasize that the GitHub repository will contain ALL deliverables:</a:t>
            </a:r>
          </a:p>
          <a:p>
            <a:r>
              <a:t>Not just code, but documentation, data, simulation scripts — making the work fully reproducible by others.</a:t>
            </a:r>
          </a:p>
          <a:p/>
          <a:p>
            <a:r>
              <a:t>For the experimental results: We expect to see:</a:t>
            </a:r>
          </a:p>
          <a:p>
            <a:r>
              <a:t>- 15-30% reduction in charging current ripple (based on literature benchmark)</a:t>
            </a:r>
          </a:p>
          <a:p>
            <a:r>
              <a:t>- Improved charging stability during input voltage variations</a:t>
            </a:r>
          </a:p>
          <a:p>
            <a:r>
              <a:t>- Real-time visualization of all metrics on the cloud dashboard</a:t>
            </a:r>
          </a:p>
          <a:p/>
          <a:p>
            <a:r>
              <a:t>If asked about timeline: Final deliverables are due May 2026. Current trajectory (Phase 3-5 in Apr-May) is on track.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19: Timeline</a:t>
            </a:r>
          </a:p>
          <a:p/>
          <a:p>
            <a:r>
              <a:t>Current position: We are in April 2026, mid-way through Phase 3 (Firmware Development) and transitioning from Phase 2 (Hardware).</a:t>
            </a:r>
          </a:p>
          <a:p/>
          <a:p>
            <a:r>
              <a:t>Phase 1 complete: All design decisions made, architecture fixed, documentation done.</a:t>
            </a:r>
          </a:p>
          <a:p>
            <a:r>
              <a:t>Phase 2 in progress: Hardware components being sourced and assembled.</a:t>
            </a:r>
          </a:p>
          <a:p>
            <a:r>
              <a:t>Phase 3 active: STM32 ADC and PWM module coding underway.</a:t>
            </a:r>
          </a:p>
          <a:p/>
          <a:p>
            <a:r>
              <a:t>Recovery plan (if asked about being behind schedule):</a:t>
            </a:r>
          </a:p>
          <a:p>
            <a:r>
              <a:t>Phases 3-4 can overlap if firmware is developed against simulated hardware first. ESP8266 gateway can be developed in parallel with STM32 firmware since the interface is defined (JSON over UART). Phase 5 testing is the critical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20: Challenges &amp; Solutions</a:t>
            </a:r>
          </a:p>
          <a:p/>
          <a:p>
            <a:r>
              <a:t>This slide shows engineering problem-solving ability — an important academic skill.</a:t>
            </a:r>
          </a:p>
          <a:p/>
          <a:p>
            <a:r>
              <a:t>Real-time complexity: Emphasize that DMA and non-blocking UART are not 'hacks' — they are standard embedded engineering practices that allow concurrent operations.</a:t>
            </a:r>
          </a:p>
          <a:p/>
          <a:p>
            <a:r>
              <a:t>Cloud connectivity: Being able to adapt to the lab environment (mobile hotspot, campus WiFi, or even a local server) demonstrates flexible system design.</a:t>
            </a:r>
          </a:p>
          <a:p/>
          <a:p>
            <a:r>
              <a:t>If examiner asks about a specific challenge not listed:</a:t>
            </a:r>
          </a:p>
          <a:p>
            <a:r>
              <a:t>Other challenges: Cross-language development (C, Arduino, Python, JavaScript), handled by clear interface definitions and JSON as the universal format.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NOTES - Slide 21: References &amp; Conclusion</a:t>
            </a:r>
          </a:p>
          <a:p/>
          <a:p>
            <a:r>
              <a:t>Closing statement: 'In conclusion, this project presents a feasible, integrated approach to solar-assisted battery charging that uniquely combines supercapacitor energy buffering with real-time IoT monitoring. The architecture is designed, the computation methodology is defined, and development is progressing according to plan. We are confident in delivering all promised outcomes by May 2026.'</a:t>
            </a:r>
          </a:p>
          <a:p/>
          <a:p>
            <a:r>
              <a:t>For questions:</a:t>
            </a:r>
          </a:p>
          <a:p>
            <a:r>
              <a:t>GitHub repository is live at the URL shown — feel free to browse documentation.</a:t>
            </a:r>
          </a:p>
          <a:p/>
          <a:p>
            <a:r>
              <a:t>Future scope mention: 'Machine learning can optimize the PI controller gains adaptively based on battery chemistry and temperature — this is a natural extension for future work.'</a:t>
            </a:r>
          </a:p>
          <a:p/>
          <a:p>
            <a:r>
              <a:t>THANK the panel: 'Thank you for your time and feedback. I am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12188952" cy="438912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389120"/>
            <a:ext cx="12188952" cy="109728"/>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98848"/>
            <a:ext cx="12188952" cy="235915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68580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74320"/>
            <a:ext cx="11430000" cy="731520"/>
          </a:xfrm>
          <a:prstGeom prst="rect">
            <a:avLst/>
          </a:prstGeom>
          <a:noFill/>
        </p:spPr>
        <p:txBody>
          <a:bodyPr wrap="square">
            <a:spAutoFit/>
          </a:bodyPr>
          <a:lstStyle/>
          <a:p>
            <a:pPr algn="ctr"/>
            <a:r>
              <a:rPr sz="3600" b="1" i="0">
                <a:solidFill>
                  <a:srgbClr val="FFFFFF"/>
                </a:solidFill>
                <a:latin typeface="Calibri"/>
              </a:rPr>
              <a:t>IoT-Enabled Solar-Assisted</a:t>
            </a:r>
          </a:p>
        </p:txBody>
      </p:sp>
      <p:sp>
        <p:nvSpPr>
          <p:cNvPr id="7" name="TextBox 6"/>
          <p:cNvSpPr txBox="1"/>
          <p:nvPr/>
        </p:nvSpPr>
        <p:spPr>
          <a:xfrm>
            <a:off x="457200" y="914400"/>
            <a:ext cx="11430000" cy="731520"/>
          </a:xfrm>
          <a:prstGeom prst="rect">
            <a:avLst/>
          </a:prstGeom>
          <a:noFill/>
        </p:spPr>
        <p:txBody>
          <a:bodyPr wrap="square">
            <a:spAutoFit/>
          </a:bodyPr>
          <a:lstStyle/>
          <a:p>
            <a:pPr algn="ctr"/>
            <a:r>
              <a:rPr sz="3600" b="1" i="0">
                <a:solidFill>
                  <a:srgbClr val="FFFFFF"/>
                </a:solidFill>
                <a:latin typeface="Calibri"/>
              </a:rPr>
              <a:t>High-Efficiency Battery Charging</a:t>
            </a:r>
          </a:p>
        </p:txBody>
      </p:sp>
      <p:sp>
        <p:nvSpPr>
          <p:cNvPr id="8" name="TextBox 7"/>
          <p:cNvSpPr txBox="1"/>
          <p:nvPr/>
        </p:nvSpPr>
        <p:spPr>
          <a:xfrm>
            <a:off x="457200" y="1554480"/>
            <a:ext cx="11430000" cy="731520"/>
          </a:xfrm>
          <a:prstGeom prst="rect">
            <a:avLst/>
          </a:prstGeom>
          <a:noFill/>
        </p:spPr>
        <p:txBody>
          <a:bodyPr wrap="square">
            <a:spAutoFit/>
          </a:bodyPr>
          <a:lstStyle/>
          <a:p>
            <a:pPr algn="ctr"/>
            <a:r>
              <a:rPr sz="3200" b="1" i="0">
                <a:solidFill>
                  <a:srgbClr val="FFCC00"/>
                </a:solidFill>
                <a:latin typeface="Calibri"/>
              </a:rPr>
              <a:t>Using Supercapacitor Energy Buffering</a:t>
            </a:r>
          </a:p>
        </p:txBody>
      </p:sp>
      <p:sp>
        <p:nvSpPr>
          <p:cNvPr id="9" name="TextBox 8"/>
          <p:cNvSpPr txBox="1"/>
          <p:nvPr/>
        </p:nvSpPr>
        <p:spPr>
          <a:xfrm>
            <a:off x="457200" y="2468880"/>
            <a:ext cx="11430000" cy="457200"/>
          </a:xfrm>
          <a:prstGeom prst="rect">
            <a:avLst/>
          </a:prstGeom>
          <a:noFill/>
        </p:spPr>
        <p:txBody>
          <a:bodyPr wrap="square">
            <a:spAutoFit/>
          </a:bodyPr>
          <a:lstStyle/>
          <a:p>
            <a:pPr algn="ctr"/>
            <a:r>
              <a:rPr sz="2000" b="0" i="0">
                <a:solidFill>
                  <a:srgbClr val="CCE5FF"/>
                </a:solidFill>
                <a:latin typeface="Calibri"/>
              </a:rPr>
              <a:t>Mid Semester Project Viva Presentation</a:t>
            </a:r>
          </a:p>
        </p:txBody>
      </p:sp>
      <p:sp>
        <p:nvSpPr>
          <p:cNvPr id="10" name="Rectangle 9"/>
          <p:cNvSpPr/>
          <p:nvPr/>
        </p:nvSpPr>
        <p:spPr>
          <a:xfrm>
            <a:off x="2286000" y="3108960"/>
            <a:ext cx="7616952" cy="54864"/>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0" y="4617720"/>
            <a:ext cx="2286000" cy="347472"/>
          </a:xfrm>
          <a:prstGeom prst="rect">
            <a:avLst/>
          </a:prstGeom>
          <a:noFill/>
        </p:spPr>
        <p:txBody>
          <a:bodyPr wrap="square">
            <a:spAutoFit/>
          </a:bodyPr>
          <a:lstStyle/>
          <a:p>
            <a:pPr algn="r"/>
            <a:r>
              <a:rPr sz="1500" b="1" i="0">
                <a:solidFill>
                  <a:srgbClr val="003366"/>
                </a:solidFill>
                <a:latin typeface="Calibri"/>
              </a:rPr>
              <a:t>Student:</a:t>
            </a:r>
          </a:p>
        </p:txBody>
      </p:sp>
      <p:sp>
        <p:nvSpPr>
          <p:cNvPr id="12" name="TextBox 11"/>
          <p:cNvSpPr txBox="1"/>
          <p:nvPr/>
        </p:nvSpPr>
        <p:spPr>
          <a:xfrm>
            <a:off x="3749039" y="4617720"/>
            <a:ext cx="7772400" cy="347472"/>
          </a:xfrm>
          <a:prstGeom prst="rect">
            <a:avLst/>
          </a:prstGeom>
          <a:noFill/>
        </p:spPr>
        <p:txBody>
          <a:bodyPr wrap="square">
            <a:spAutoFit/>
          </a:bodyPr>
          <a:lstStyle/>
          <a:p>
            <a:pPr algn="l"/>
            <a:r>
              <a:rPr sz="1500" b="0" i="0">
                <a:solidFill>
                  <a:srgbClr val="333333"/>
                </a:solidFill>
                <a:latin typeface="Calibri"/>
              </a:rPr>
              <a:t>Ajeesh Kumar R (2024MT12104)</a:t>
            </a:r>
          </a:p>
        </p:txBody>
      </p:sp>
      <p:sp>
        <p:nvSpPr>
          <p:cNvPr id="13" name="TextBox 12"/>
          <p:cNvSpPr txBox="1"/>
          <p:nvPr/>
        </p:nvSpPr>
        <p:spPr>
          <a:xfrm>
            <a:off x="1371600" y="5001768"/>
            <a:ext cx="2286000" cy="347472"/>
          </a:xfrm>
          <a:prstGeom prst="rect">
            <a:avLst/>
          </a:prstGeom>
          <a:noFill/>
        </p:spPr>
        <p:txBody>
          <a:bodyPr wrap="square">
            <a:spAutoFit/>
          </a:bodyPr>
          <a:lstStyle/>
          <a:p>
            <a:pPr algn="r"/>
            <a:r>
              <a:rPr sz="1500" b="1" i="0">
                <a:solidFill>
                  <a:srgbClr val="003366"/>
                </a:solidFill>
                <a:latin typeface="Calibri"/>
              </a:rPr>
              <a:t>Guide:</a:t>
            </a:r>
          </a:p>
        </p:txBody>
      </p:sp>
      <p:sp>
        <p:nvSpPr>
          <p:cNvPr id="14" name="TextBox 13"/>
          <p:cNvSpPr txBox="1"/>
          <p:nvPr/>
        </p:nvSpPr>
        <p:spPr>
          <a:xfrm>
            <a:off x="3749039" y="5001768"/>
            <a:ext cx="7772400" cy="347472"/>
          </a:xfrm>
          <a:prstGeom prst="rect">
            <a:avLst/>
          </a:prstGeom>
          <a:noFill/>
        </p:spPr>
        <p:txBody>
          <a:bodyPr wrap="square">
            <a:spAutoFit/>
          </a:bodyPr>
          <a:lstStyle/>
          <a:p>
            <a:pPr algn="l"/>
            <a:r>
              <a:rPr sz="1500" b="0" i="0">
                <a:solidFill>
                  <a:srgbClr val="333333"/>
                </a:solidFill>
                <a:latin typeface="Calibri"/>
              </a:rPr>
              <a:t>Dr. Somasundaram Iyyamperumal</a:t>
            </a:r>
          </a:p>
        </p:txBody>
      </p:sp>
      <p:sp>
        <p:nvSpPr>
          <p:cNvPr id="15" name="TextBox 14"/>
          <p:cNvSpPr txBox="1"/>
          <p:nvPr/>
        </p:nvSpPr>
        <p:spPr>
          <a:xfrm>
            <a:off x="1371600" y="5385816"/>
            <a:ext cx="2286000" cy="347472"/>
          </a:xfrm>
          <a:prstGeom prst="rect">
            <a:avLst/>
          </a:prstGeom>
          <a:noFill/>
        </p:spPr>
        <p:txBody>
          <a:bodyPr wrap="square">
            <a:spAutoFit/>
          </a:bodyPr>
          <a:lstStyle/>
          <a:p>
            <a:pPr algn="r"/>
            <a:r>
              <a:rPr sz="1500" b="1" i="0">
                <a:solidFill>
                  <a:srgbClr val="003366"/>
                </a:solidFill>
                <a:latin typeface="Calibri"/>
              </a:rPr>
              <a:t>Institution:</a:t>
            </a:r>
          </a:p>
        </p:txBody>
      </p:sp>
      <p:sp>
        <p:nvSpPr>
          <p:cNvPr id="16" name="TextBox 15"/>
          <p:cNvSpPr txBox="1"/>
          <p:nvPr/>
        </p:nvSpPr>
        <p:spPr>
          <a:xfrm>
            <a:off x="3749039" y="5385816"/>
            <a:ext cx="7772400" cy="347472"/>
          </a:xfrm>
          <a:prstGeom prst="rect">
            <a:avLst/>
          </a:prstGeom>
          <a:noFill/>
        </p:spPr>
        <p:txBody>
          <a:bodyPr wrap="square">
            <a:spAutoFit/>
          </a:bodyPr>
          <a:lstStyle/>
          <a:p>
            <a:pPr algn="l"/>
            <a:r>
              <a:rPr sz="1500" b="0" i="0">
                <a:solidFill>
                  <a:srgbClr val="333333"/>
                </a:solidFill>
                <a:latin typeface="Calibri"/>
              </a:rPr>
              <a:t>BITS Pilani WILP, Department of Engineering</a:t>
            </a:r>
          </a:p>
        </p:txBody>
      </p:sp>
      <p:sp>
        <p:nvSpPr>
          <p:cNvPr id="17" name="TextBox 16"/>
          <p:cNvSpPr txBox="1"/>
          <p:nvPr/>
        </p:nvSpPr>
        <p:spPr>
          <a:xfrm>
            <a:off x="1371600" y="5769864"/>
            <a:ext cx="2286000" cy="347472"/>
          </a:xfrm>
          <a:prstGeom prst="rect">
            <a:avLst/>
          </a:prstGeom>
          <a:noFill/>
        </p:spPr>
        <p:txBody>
          <a:bodyPr wrap="square">
            <a:spAutoFit/>
          </a:bodyPr>
          <a:lstStyle/>
          <a:p>
            <a:pPr algn="r"/>
            <a:r>
              <a:rPr sz="1500" b="1" i="0">
                <a:solidFill>
                  <a:srgbClr val="003366"/>
                </a:solidFill>
                <a:latin typeface="Calibri"/>
              </a:rPr>
              <a:t>Semester:</a:t>
            </a:r>
          </a:p>
        </p:txBody>
      </p:sp>
      <p:sp>
        <p:nvSpPr>
          <p:cNvPr id="18" name="TextBox 17"/>
          <p:cNvSpPr txBox="1"/>
          <p:nvPr/>
        </p:nvSpPr>
        <p:spPr>
          <a:xfrm>
            <a:off x="3749039" y="5769864"/>
            <a:ext cx="7772400" cy="347472"/>
          </a:xfrm>
          <a:prstGeom prst="rect">
            <a:avLst/>
          </a:prstGeom>
          <a:noFill/>
        </p:spPr>
        <p:txBody>
          <a:bodyPr wrap="square">
            <a:spAutoFit/>
          </a:bodyPr>
          <a:lstStyle/>
          <a:p>
            <a:pPr algn="l"/>
            <a:r>
              <a:rPr sz="1500" b="0" i="0">
                <a:solidFill>
                  <a:srgbClr val="333333"/>
                </a:solidFill>
                <a:latin typeface="Calibri"/>
              </a:rPr>
              <a:t>2, 2026  |  Viva Date: April 17,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Introduction</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Background, Problem Statement &amp; Motivation</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577840" cy="489204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5212080" cy="411480"/>
          </a:xfrm>
          <a:prstGeom prst="rect">
            <a:avLst/>
          </a:prstGeom>
          <a:noFill/>
        </p:spPr>
        <p:txBody>
          <a:bodyPr wrap="square">
            <a:spAutoFit/>
          </a:bodyPr>
          <a:lstStyle/>
          <a:p>
            <a:pPr algn="l"/>
            <a:r>
              <a:rPr sz="1800" b="1" i="0">
                <a:solidFill>
                  <a:srgbClr val="003366"/>
                </a:solidFill>
                <a:latin typeface="Calibri"/>
              </a:rPr>
              <a:t>Background</a:t>
            </a:r>
          </a:p>
        </p:txBody>
      </p:sp>
      <p:sp>
        <p:nvSpPr>
          <p:cNvPr id="10" name="TextBox 9"/>
          <p:cNvSpPr txBox="1"/>
          <p:nvPr/>
        </p:nvSpPr>
        <p:spPr>
          <a:xfrm>
            <a:off x="457200" y="1965960"/>
            <a:ext cx="5303520" cy="4206240"/>
          </a:xfrm>
          <a:prstGeom prst="rect">
            <a:avLst/>
          </a:prstGeom>
          <a:noFill/>
        </p:spPr>
        <p:txBody>
          <a:bodyPr wrap="square">
            <a:spAutoFit/>
          </a:bodyPr>
          <a:lstStyle/>
          <a:p>
            <a:pPr algn="l"/>
            <a:r>
              <a:rPr sz="1500">
                <a:solidFill>
                  <a:srgbClr val="333333"/>
                </a:solidFill>
                <a:latin typeface="Calibri"/>
              </a:rPr>
              <a:t>⚡  Global EV adoption rising: &gt;10 million EVs sold in 2023</a:t>
            </a:r>
          </a:p>
          <a:p>
            <a:pPr algn="l"/>
            <a:r>
              <a:rPr sz="1500">
                <a:solidFill>
                  <a:srgbClr val="333333"/>
                </a:solidFill>
                <a:latin typeface="Calibri"/>
              </a:rPr>
              <a:t>☀️  Solar PV capacity exceeded 1 TW globally (IEA, 2023)</a:t>
            </a:r>
          </a:p>
          <a:p>
            <a:pPr algn="l"/>
            <a:r>
              <a:rPr sz="1500">
                <a:solidFill>
                  <a:srgbClr val="333333"/>
                </a:solidFill>
                <a:latin typeface="Calibri"/>
              </a:rPr>
              <a:t>🔋  Battery-powered devices growing: IoT, wearables, EVs</a:t>
            </a:r>
          </a:p>
          <a:p>
            <a:pPr algn="l"/>
            <a:r>
              <a:rPr sz="1500">
                <a:solidFill>
                  <a:srgbClr val="333333"/>
                </a:solidFill>
                <a:latin typeface="Calibri"/>
              </a:rPr>
              <a:t>🌐  Need for smart, sustainable charging infrastructure</a:t>
            </a:r>
          </a:p>
          <a:p>
            <a:pPr algn="l"/>
            <a:r>
              <a:rPr sz="1500">
                <a:solidFill>
                  <a:srgbClr val="333333"/>
                </a:solidFill>
                <a:latin typeface="Calibri"/>
              </a:rPr>
              <a:t>⚠️  Grid instability and power quality issues in developing regions</a:t>
            </a:r>
          </a:p>
        </p:txBody>
      </p:sp>
      <p:sp>
        <p:nvSpPr>
          <p:cNvPr id="11" name="Rectangle 10"/>
          <p:cNvSpPr/>
          <p:nvPr/>
        </p:nvSpPr>
        <p:spPr>
          <a:xfrm>
            <a:off x="6126480" y="1463040"/>
            <a:ext cx="5760720" cy="489204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508760"/>
            <a:ext cx="5394960" cy="411480"/>
          </a:xfrm>
          <a:prstGeom prst="rect">
            <a:avLst/>
          </a:prstGeom>
          <a:noFill/>
        </p:spPr>
        <p:txBody>
          <a:bodyPr wrap="square">
            <a:spAutoFit/>
          </a:bodyPr>
          <a:lstStyle/>
          <a:p>
            <a:pPr algn="l"/>
            <a:r>
              <a:rPr sz="1800" b="1" i="0">
                <a:solidFill>
                  <a:srgbClr val="CC4400"/>
                </a:solidFill>
                <a:latin typeface="Calibri"/>
              </a:rPr>
              <a:t>Problem Statement</a:t>
            </a:r>
          </a:p>
        </p:txBody>
      </p:sp>
      <p:sp>
        <p:nvSpPr>
          <p:cNvPr id="13" name="TextBox 12"/>
          <p:cNvSpPr txBox="1"/>
          <p:nvPr/>
        </p:nvSpPr>
        <p:spPr>
          <a:xfrm>
            <a:off x="6309360" y="1965960"/>
            <a:ext cx="5394960" cy="4206240"/>
          </a:xfrm>
          <a:prstGeom prst="rect">
            <a:avLst/>
          </a:prstGeom>
          <a:noFill/>
        </p:spPr>
        <p:txBody>
          <a:bodyPr wrap="square">
            <a:spAutoFit/>
          </a:bodyPr>
          <a:lstStyle/>
          <a:p>
            <a:pPr algn="l"/>
            <a:r>
              <a:rPr sz="1500">
                <a:solidFill>
                  <a:srgbClr val="333333"/>
                </a:solidFill>
                <a:latin typeface="Calibri"/>
              </a:rPr>
              <a:t>1️⃣  Solar energy is intermittent (cloud cover, angle changes)</a:t>
            </a:r>
          </a:p>
          <a:p>
            <a:pPr algn="l"/>
            <a:r>
              <a:rPr sz="1500">
                <a:solidFill>
                  <a:srgbClr val="333333"/>
                </a:solidFill>
                <a:latin typeface="Calibri"/>
              </a:rPr>
              <a:t>2️⃣  Direct PV-to-battery coupling → voltage ripple &amp; battery stress</a:t>
            </a:r>
          </a:p>
          <a:p>
            <a:pPr algn="l"/>
            <a:r>
              <a:rPr sz="1500">
                <a:solidFill>
                  <a:srgbClr val="333333"/>
                </a:solidFill>
                <a:latin typeface="Calibri"/>
              </a:rPr>
              <a:t>3️⃣  Grid voltage fluctuations degrade charger performance</a:t>
            </a:r>
          </a:p>
          <a:p>
            <a:pPr algn="l"/>
            <a:r>
              <a:rPr sz="1500">
                <a:solidFill>
                  <a:srgbClr val="333333"/>
                </a:solidFill>
                <a:latin typeface="Calibri"/>
              </a:rPr>
              <a:t>4️⃣  No real-time monitoring in small-scale systems</a:t>
            </a:r>
          </a:p>
          <a:p>
            <a:pPr algn="l"/>
            <a:r>
              <a:rPr sz="1500">
                <a:solidFill>
                  <a:srgbClr val="333333"/>
                </a:solidFill>
                <a:latin typeface="Calibri"/>
              </a:rPr>
              <a:t>5️⃣  Absence of adaptive IoT-enabled control for residential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Introduction</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Motivation, Novelty &amp; Project Relevance</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7772400" cy="2286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7406640" cy="365760"/>
          </a:xfrm>
          <a:prstGeom prst="rect">
            <a:avLst/>
          </a:prstGeom>
          <a:noFill/>
        </p:spPr>
        <p:txBody>
          <a:bodyPr wrap="square">
            <a:spAutoFit/>
          </a:bodyPr>
          <a:lstStyle/>
          <a:p>
            <a:pPr algn="l"/>
            <a:r>
              <a:rPr sz="1800" b="1" i="0">
                <a:solidFill>
                  <a:srgbClr val="00AA44"/>
                </a:solidFill>
                <a:latin typeface="Calibri"/>
              </a:rPr>
              <a:t>💡  Motivation</a:t>
            </a:r>
          </a:p>
        </p:txBody>
      </p:sp>
      <p:sp>
        <p:nvSpPr>
          <p:cNvPr id="10" name="TextBox 9"/>
          <p:cNvSpPr txBox="1"/>
          <p:nvPr/>
        </p:nvSpPr>
        <p:spPr>
          <a:xfrm>
            <a:off x="457200" y="1920240"/>
            <a:ext cx="7406640" cy="1645920"/>
          </a:xfrm>
          <a:prstGeom prst="rect">
            <a:avLst/>
          </a:prstGeom>
          <a:noFill/>
        </p:spPr>
        <p:txBody>
          <a:bodyPr wrap="square">
            <a:spAutoFit/>
          </a:bodyPr>
          <a:lstStyle/>
          <a:p>
            <a:pPr algn="l"/>
            <a:r>
              <a:rPr sz="1500">
                <a:solidFill>
                  <a:srgbClr val="333333"/>
                </a:solidFill>
                <a:latin typeface="Calibri"/>
              </a:rPr>
              <a:t>•  Need for low-cost, integrated smart charging in power-constrained environments</a:t>
            </a:r>
          </a:p>
          <a:p>
            <a:pPr algn="l"/>
            <a:r>
              <a:rPr sz="1500">
                <a:solidFill>
                  <a:srgbClr val="333333"/>
                </a:solidFill>
                <a:latin typeface="Calibri"/>
              </a:rPr>
              <a:t>•  Academic opportunity to combine embedded systems, power electronics, and IoT</a:t>
            </a:r>
          </a:p>
          <a:p>
            <a:pPr algn="l"/>
            <a:r>
              <a:rPr sz="1500">
                <a:solidFill>
                  <a:srgbClr val="333333"/>
                </a:solidFill>
                <a:latin typeface="Calibri"/>
              </a:rPr>
              <a:t>•  Alignment with national energy efficiency and sustainability goals</a:t>
            </a:r>
          </a:p>
          <a:p>
            <a:pPr algn="l"/>
            <a:r>
              <a:rPr sz="1500">
                <a:solidFill>
                  <a:srgbClr val="333333"/>
                </a:solidFill>
                <a:latin typeface="Calibri"/>
              </a:rPr>
              <a:t>•  Research gap: No unified IoT-enabled HBSC prototype at small scale (Gopi et al., 2024)</a:t>
            </a:r>
          </a:p>
        </p:txBody>
      </p:sp>
      <p:sp>
        <p:nvSpPr>
          <p:cNvPr id="11" name="Rectangle 10"/>
          <p:cNvSpPr/>
          <p:nvPr/>
        </p:nvSpPr>
        <p:spPr>
          <a:xfrm>
            <a:off x="274320" y="3886200"/>
            <a:ext cx="7772400" cy="228600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931920"/>
            <a:ext cx="7406640" cy="365760"/>
          </a:xfrm>
          <a:prstGeom prst="rect">
            <a:avLst/>
          </a:prstGeom>
          <a:noFill/>
        </p:spPr>
        <p:txBody>
          <a:bodyPr wrap="square">
            <a:spAutoFit/>
          </a:bodyPr>
          <a:lstStyle/>
          <a:p>
            <a:pPr algn="l"/>
            <a:r>
              <a:rPr sz="1800" b="1" i="0">
                <a:solidFill>
                  <a:srgbClr val="005599"/>
                </a:solidFill>
                <a:latin typeface="Calibri"/>
              </a:rPr>
              <a:t>🚀  Novelty of This Project</a:t>
            </a:r>
          </a:p>
        </p:txBody>
      </p:sp>
      <p:sp>
        <p:nvSpPr>
          <p:cNvPr id="13" name="TextBox 12"/>
          <p:cNvSpPr txBox="1"/>
          <p:nvPr/>
        </p:nvSpPr>
        <p:spPr>
          <a:xfrm>
            <a:off x="457200" y="4343400"/>
            <a:ext cx="7406640" cy="1645920"/>
          </a:xfrm>
          <a:prstGeom prst="rect">
            <a:avLst/>
          </a:prstGeom>
          <a:noFill/>
        </p:spPr>
        <p:txBody>
          <a:bodyPr wrap="square">
            <a:spAutoFit/>
          </a:bodyPr>
          <a:lstStyle/>
          <a:p>
            <a:pPr algn="l"/>
            <a:r>
              <a:rPr sz="1500">
                <a:solidFill>
                  <a:srgbClr val="333333"/>
                </a:solidFill>
                <a:latin typeface="Calibri"/>
              </a:rPr>
              <a:t>•  Solar PV simulation + Supercapacitor buffering + IoT monitoring in ONE prototype</a:t>
            </a:r>
          </a:p>
          <a:p>
            <a:pPr algn="l"/>
            <a:r>
              <a:rPr sz="1500">
                <a:solidFill>
                  <a:srgbClr val="333333"/>
                </a:solidFill>
                <a:latin typeface="Calibri"/>
              </a:rPr>
              <a:t>•  STM32-based real-time embedded control with &lt; 10 ms control loop</a:t>
            </a:r>
          </a:p>
          <a:p>
            <a:pPr algn="l"/>
            <a:r>
              <a:rPr sz="1500">
                <a:solidFill>
                  <a:srgbClr val="333333"/>
                </a:solidFill>
                <a:latin typeface="Calibri"/>
              </a:rPr>
              <a:t>•  ESP8266 edge gateway: UART → WiFi → Cloud Dashboard</a:t>
            </a:r>
          </a:p>
          <a:p>
            <a:pPr algn="l"/>
            <a:r>
              <a:rPr sz="1500">
                <a:solidFill>
                  <a:srgbClr val="333333"/>
                </a:solidFill>
                <a:latin typeface="Calibri"/>
              </a:rPr>
              <a:t>•  Experimental comparison: Buffered vs. non-buffered charging performance</a:t>
            </a:r>
          </a:p>
        </p:txBody>
      </p:sp>
      <p:sp>
        <p:nvSpPr>
          <p:cNvPr id="14" name="Rectangle 13"/>
          <p:cNvSpPr/>
          <p:nvPr/>
        </p:nvSpPr>
        <p:spPr>
          <a:xfrm>
            <a:off x="8229600" y="1463040"/>
            <a:ext cx="3749039" cy="4709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0" y="1508760"/>
            <a:ext cx="3383280" cy="777240"/>
          </a:xfrm>
          <a:prstGeom prst="rect">
            <a:avLst/>
          </a:prstGeom>
          <a:noFill/>
        </p:spPr>
        <p:txBody>
          <a:bodyPr wrap="square">
            <a:spAutoFit/>
          </a:bodyPr>
          <a:lstStyle/>
          <a:p>
            <a:pPr algn="ctr"/>
            <a:r>
              <a:rPr sz="1800" b="1" i="0">
                <a:solidFill>
                  <a:srgbClr val="FFFFFF"/>
                </a:solidFill>
                <a:latin typeface="Calibri"/>
              </a:rPr>
              <a:t>Project
Relevance</a:t>
            </a:r>
          </a:p>
        </p:txBody>
      </p:sp>
      <p:sp>
        <p:nvSpPr>
          <p:cNvPr id="16" name="TextBox 15"/>
          <p:cNvSpPr txBox="1"/>
          <p:nvPr/>
        </p:nvSpPr>
        <p:spPr>
          <a:xfrm>
            <a:off x="8412480" y="2331720"/>
            <a:ext cx="3383280" cy="3749039"/>
          </a:xfrm>
          <a:prstGeom prst="rect">
            <a:avLst/>
          </a:prstGeom>
          <a:noFill/>
        </p:spPr>
        <p:txBody>
          <a:bodyPr wrap="square">
            <a:spAutoFit/>
          </a:bodyPr>
          <a:lstStyle/>
          <a:p>
            <a:pPr algn="ctr"/>
            <a:r>
              <a:rPr sz="1400">
                <a:solidFill>
                  <a:srgbClr val="FFFFFF"/>
                </a:solidFill>
                <a:latin typeface="Calibri"/>
              </a:rPr>
              <a:t>🌍  Smart Energy
Infrastructure</a:t>
            </a:r>
          </a:p>
          <a:p>
            <a:pPr algn="ctr"/>
            <a:r>
              <a:rPr sz="1400">
                <a:solidFill>
                  <a:srgbClr val="FFFFFF"/>
                </a:solidFill>
                <a:latin typeface="Calibri"/>
              </a:rPr>
              <a:t/>
            </a:r>
          </a:p>
          <a:p>
            <a:pPr algn="ctr"/>
            <a:r>
              <a:rPr sz="1400">
                <a:solidFill>
                  <a:srgbClr val="FFFFFF"/>
                </a:solidFill>
                <a:latin typeface="Calibri"/>
              </a:rPr>
              <a:t>🔌  EV Charging
Ecosystem</a:t>
            </a:r>
          </a:p>
          <a:p>
            <a:pPr algn="ctr"/>
            <a:r>
              <a:rPr sz="1400">
                <a:solidFill>
                  <a:srgbClr val="FFFFFF"/>
                </a:solidFill>
                <a:latin typeface="Calibri"/>
              </a:rPr>
              <a:t/>
            </a:r>
          </a:p>
          <a:p>
            <a:pPr algn="ctr"/>
            <a:r>
              <a:rPr sz="1400">
                <a:solidFill>
                  <a:srgbClr val="FFFFFF"/>
                </a:solidFill>
                <a:latin typeface="Calibri"/>
              </a:rPr>
              <a:t>📡  Industry 4.0
IoT Integration</a:t>
            </a:r>
          </a:p>
          <a:p>
            <a:pPr algn="ctr"/>
            <a:r>
              <a:rPr sz="1400">
                <a:solidFill>
                  <a:srgbClr val="FFFFFF"/>
                </a:solidFill>
                <a:latin typeface="Calibri"/>
              </a:rPr>
              <a:t/>
            </a:r>
          </a:p>
          <a:p>
            <a:pPr algn="ctr"/>
            <a:r>
              <a:rPr sz="1400">
                <a:solidFill>
                  <a:srgbClr val="FFFFFF"/>
                </a:solidFill>
                <a:latin typeface="Calibri"/>
              </a:rPr>
              <a:t>🎓  Academic
Contribution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Project Objectives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Five Measurable Goals for This Research</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64008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508760"/>
            <a:ext cx="640080" cy="777240"/>
          </a:xfrm>
          <a:prstGeom prst="rect">
            <a:avLst/>
          </a:prstGeom>
          <a:noFill/>
        </p:spPr>
        <p:txBody>
          <a:bodyPr wrap="square">
            <a:spAutoFit/>
          </a:bodyPr>
          <a:lstStyle/>
          <a:p>
            <a:pPr algn="ctr"/>
            <a:r>
              <a:rPr sz="3200" b="1" i="0">
                <a:solidFill>
                  <a:srgbClr val="FFFFFF"/>
                </a:solidFill>
                <a:latin typeface="Calibri"/>
              </a:rPr>
              <a:t>1</a:t>
            </a:r>
          </a:p>
        </p:txBody>
      </p:sp>
      <p:sp>
        <p:nvSpPr>
          <p:cNvPr id="10" name="Rectangle 9"/>
          <p:cNvSpPr/>
          <p:nvPr/>
        </p:nvSpPr>
        <p:spPr>
          <a:xfrm>
            <a:off x="1005840" y="1463040"/>
            <a:ext cx="201168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1600200"/>
            <a:ext cx="1920240" cy="594360"/>
          </a:xfrm>
          <a:prstGeom prst="rect">
            <a:avLst/>
          </a:prstGeom>
          <a:noFill/>
        </p:spPr>
        <p:txBody>
          <a:bodyPr wrap="square">
            <a:spAutoFit/>
          </a:bodyPr>
          <a:lstStyle/>
          <a:p>
            <a:pPr algn="ctr"/>
            <a:r>
              <a:rPr sz="2000" b="1" i="0">
                <a:solidFill>
                  <a:srgbClr val="003366"/>
                </a:solidFill>
                <a:latin typeface="Calibri"/>
              </a:rPr>
              <a:t>Study</a:t>
            </a:r>
          </a:p>
        </p:txBody>
      </p:sp>
      <p:sp>
        <p:nvSpPr>
          <p:cNvPr id="12" name="Rectangle 11"/>
          <p:cNvSpPr/>
          <p:nvPr/>
        </p:nvSpPr>
        <p:spPr>
          <a:xfrm>
            <a:off x="3108960" y="1463040"/>
            <a:ext cx="877824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46120" y="1536192"/>
            <a:ext cx="8503920" cy="731520"/>
          </a:xfrm>
          <a:prstGeom prst="rect">
            <a:avLst/>
          </a:prstGeom>
          <a:noFill/>
        </p:spPr>
        <p:txBody>
          <a:bodyPr wrap="square">
            <a:spAutoFit/>
          </a:bodyPr>
          <a:lstStyle/>
          <a:p>
            <a:pPr algn="l"/>
            <a:r>
              <a:rPr sz="1600" b="0" i="0">
                <a:solidFill>
                  <a:srgbClr val="333333"/>
                </a:solidFill>
                <a:latin typeface="Calibri"/>
              </a:rPr>
              <a:t>conventional battery charging mechanisms and identify limitations in renewable energy contexts</a:t>
            </a:r>
          </a:p>
        </p:txBody>
      </p:sp>
      <p:sp>
        <p:nvSpPr>
          <p:cNvPr id="14" name="Rectangle 13"/>
          <p:cNvSpPr/>
          <p:nvPr/>
        </p:nvSpPr>
        <p:spPr>
          <a:xfrm>
            <a:off x="274320" y="2432304"/>
            <a:ext cx="64008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2478024"/>
            <a:ext cx="640080" cy="777240"/>
          </a:xfrm>
          <a:prstGeom prst="rect">
            <a:avLst/>
          </a:prstGeom>
          <a:noFill/>
        </p:spPr>
        <p:txBody>
          <a:bodyPr wrap="square">
            <a:spAutoFit/>
          </a:bodyPr>
          <a:lstStyle/>
          <a:p>
            <a:pPr algn="ctr"/>
            <a:r>
              <a:rPr sz="3200" b="1" i="0">
                <a:solidFill>
                  <a:srgbClr val="FFFFFF"/>
                </a:solidFill>
                <a:latin typeface="Calibri"/>
              </a:rPr>
              <a:t>2</a:t>
            </a:r>
          </a:p>
        </p:txBody>
      </p:sp>
      <p:sp>
        <p:nvSpPr>
          <p:cNvPr id="16" name="Rectangle 15"/>
          <p:cNvSpPr/>
          <p:nvPr/>
        </p:nvSpPr>
        <p:spPr>
          <a:xfrm>
            <a:off x="1005840" y="2432304"/>
            <a:ext cx="201168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569464"/>
            <a:ext cx="1920240" cy="594360"/>
          </a:xfrm>
          <a:prstGeom prst="rect">
            <a:avLst/>
          </a:prstGeom>
          <a:noFill/>
        </p:spPr>
        <p:txBody>
          <a:bodyPr wrap="square">
            <a:spAutoFit/>
          </a:bodyPr>
          <a:lstStyle/>
          <a:p>
            <a:pPr algn="ctr"/>
            <a:r>
              <a:rPr sz="2000" b="1" i="0">
                <a:solidFill>
                  <a:srgbClr val="005599"/>
                </a:solidFill>
                <a:latin typeface="Calibri"/>
              </a:rPr>
              <a:t>Design</a:t>
            </a:r>
          </a:p>
        </p:txBody>
      </p:sp>
      <p:sp>
        <p:nvSpPr>
          <p:cNvPr id="18" name="Rectangle 17"/>
          <p:cNvSpPr/>
          <p:nvPr/>
        </p:nvSpPr>
        <p:spPr>
          <a:xfrm>
            <a:off x="3108960" y="2432304"/>
            <a:ext cx="877824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6120" y="2505456"/>
            <a:ext cx="8503920" cy="731520"/>
          </a:xfrm>
          <a:prstGeom prst="rect">
            <a:avLst/>
          </a:prstGeom>
          <a:noFill/>
        </p:spPr>
        <p:txBody>
          <a:bodyPr wrap="square">
            <a:spAutoFit/>
          </a:bodyPr>
          <a:lstStyle/>
          <a:p>
            <a:pPr algn="l"/>
            <a:r>
              <a:rPr sz="1600" b="0" i="0">
                <a:solidFill>
                  <a:srgbClr val="333333"/>
                </a:solidFill>
                <a:latin typeface="Calibri"/>
              </a:rPr>
              <a:t>a solar-assisted smart charging system with supercapacitor energy buffering for improved stability</a:t>
            </a:r>
          </a:p>
        </p:txBody>
      </p:sp>
      <p:sp>
        <p:nvSpPr>
          <p:cNvPr id="20" name="Rectangle 19"/>
          <p:cNvSpPr/>
          <p:nvPr/>
        </p:nvSpPr>
        <p:spPr>
          <a:xfrm>
            <a:off x="274320" y="3401568"/>
            <a:ext cx="640080" cy="86868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3447288"/>
            <a:ext cx="640080" cy="777240"/>
          </a:xfrm>
          <a:prstGeom prst="rect">
            <a:avLst/>
          </a:prstGeom>
          <a:noFill/>
        </p:spPr>
        <p:txBody>
          <a:bodyPr wrap="square">
            <a:spAutoFit/>
          </a:bodyPr>
          <a:lstStyle/>
          <a:p>
            <a:pPr algn="ctr"/>
            <a:r>
              <a:rPr sz="3200" b="1" i="0">
                <a:solidFill>
                  <a:srgbClr val="FFFFFF"/>
                </a:solidFill>
                <a:latin typeface="Calibri"/>
              </a:rPr>
              <a:t>3</a:t>
            </a:r>
          </a:p>
        </p:txBody>
      </p:sp>
      <p:sp>
        <p:nvSpPr>
          <p:cNvPr id="22" name="Rectangle 21"/>
          <p:cNvSpPr/>
          <p:nvPr/>
        </p:nvSpPr>
        <p:spPr>
          <a:xfrm>
            <a:off x="1005840" y="3401568"/>
            <a:ext cx="201168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538728"/>
            <a:ext cx="1920240" cy="594360"/>
          </a:xfrm>
          <a:prstGeom prst="rect">
            <a:avLst/>
          </a:prstGeom>
          <a:noFill/>
        </p:spPr>
        <p:txBody>
          <a:bodyPr wrap="square">
            <a:spAutoFit/>
          </a:bodyPr>
          <a:lstStyle/>
          <a:p>
            <a:pPr algn="ctr"/>
            <a:r>
              <a:rPr sz="2000" b="1" i="0">
                <a:solidFill>
                  <a:srgbClr val="00AA44"/>
                </a:solidFill>
                <a:latin typeface="Calibri"/>
              </a:rPr>
              <a:t>Implement</a:t>
            </a:r>
          </a:p>
        </p:txBody>
      </p:sp>
      <p:sp>
        <p:nvSpPr>
          <p:cNvPr id="24" name="Rectangle 23"/>
          <p:cNvSpPr/>
          <p:nvPr/>
        </p:nvSpPr>
        <p:spPr>
          <a:xfrm>
            <a:off x="3108960" y="3401568"/>
            <a:ext cx="877824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6120" y="3474720"/>
            <a:ext cx="8503920" cy="731520"/>
          </a:xfrm>
          <a:prstGeom prst="rect">
            <a:avLst/>
          </a:prstGeom>
          <a:noFill/>
        </p:spPr>
        <p:txBody>
          <a:bodyPr wrap="square">
            <a:spAutoFit/>
          </a:bodyPr>
          <a:lstStyle/>
          <a:p>
            <a:pPr algn="l"/>
            <a:r>
              <a:rPr sz="1600" b="0" i="0">
                <a:solidFill>
                  <a:srgbClr val="333333"/>
                </a:solidFill>
                <a:latin typeface="Calibri"/>
              </a:rPr>
              <a:t>real-time monitoring &amp; adaptive control using STM32 embedded controller (ADC, PWM, UART)</a:t>
            </a:r>
          </a:p>
        </p:txBody>
      </p:sp>
      <p:sp>
        <p:nvSpPr>
          <p:cNvPr id="26" name="Rectangle 25"/>
          <p:cNvSpPr/>
          <p:nvPr/>
        </p:nvSpPr>
        <p:spPr>
          <a:xfrm>
            <a:off x="274320" y="4370832"/>
            <a:ext cx="640080" cy="868680"/>
          </a:xfrm>
          <a:prstGeom prst="rect">
            <a:avLst/>
          </a:prstGeom>
          <a:solidFill>
            <a:srgbClr val="0088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4416552"/>
            <a:ext cx="640080" cy="777240"/>
          </a:xfrm>
          <a:prstGeom prst="rect">
            <a:avLst/>
          </a:prstGeom>
          <a:noFill/>
        </p:spPr>
        <p:txBody>
          <a:bodyPr wrap="square">
            <a:spAutoFit/>
          </a:bodyPr>
          <a:lstStyle/>
          <a:p>
            <a:pPr algn="ctr"/>
            <a:r>
              <a:rPr sz="3200" b="1" i="0">
                <a:solidFill>
                  <a:srgbClr val="FFFFFF"/>
                </a:solidFill>
                <a:latin typeface="Calibri"/>
              </a:rPr>
              <a:t>4</a:t>
            </a:r>
          </a:p>
        </p:txBody>
      </p:sp>
      <p:sp>
        <p:nvSpPr>
          <p:cNvPr id="28" name="Rectangle 27"/>
          <p:cNvSpPr/>
          <p:nvPr/>
        </p:nvSpPr>
        <p:spPr>
          <a:xfrm>
            <a:off x="1005840" y="4370832"/>
            <a:ext cx="201168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507992"/>
            <a:ext cx="1920240" cy="594360"/>
          </a:xfrm>
          <a:prstGeom prst="rect">
            <a:avLst/>
          </a:prstGeom>
          <a:noFill/>
        </p:spPr>
        <p:txBody>
          <a:bodyPr wrap="square">
            <a:spAutoFit/>
          </a:bodyPr>
          <a:lstStyle/>
          <a:p>
            <a:pPr algn="ctr"/>
            <a:r>
              <a:rPr sz="2000" b="1" i="0">
                <a:solidFill>
                  <a:srgbClr val="008833"/>
                </a:solidFill>
                <a:latin typeface="Calibri"/>
              </a:rPr>
              <a:t>Develop</a:t>
            </a:r>
          </a:p>
        </p:txBody>
      </p:sp>
      <p:sp>
        <p:nvSpPr>
          <p:cNvPr id="30" name="Rectangle 29"/>
          <p:cNvSpPr/>
          <p:nvPr/>
        </p:nvSpPr>
        <p:spPr>
          <a:xfrm>
            <a:off x="3108960" y="4370832"/>
            <a:ext cx="877824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6120" y="4443984"/>
            <a:ext cx="8503920" cy="731520"/>
          </a:xfrm>
          <a:prstGeom prst="rect">
            <a:avLst/>
          </a:prstGeom>
          <a:noFill/>
        </p:spPr>
        <p:txBody>
          <a:bodyPr wrap="square">
            <a:spAutoFit/>
          </a:bodyPr>
          <a:lstStyle/>
          <a:p>
            <a:pPr algn="l"/>
            <a:r>
              <a:rPr sz="1600" b="0" i="0">
                <a:solidFill>
                  <a:srgbClr val="333333"/>
                </a:solidFill>
                <a:latin typeface="Calibri"/>
              </a:rPr>
              <a:t>an IoT-based edge gateway (ESP8266) for cloud connectivity, visualization, and data logging</a:t>
            </a:r>
          </a:p>
        </p:txBody>
      </p:sp>
      <p:sp>
        <p:nvSpPr>
          <p:cNvPr id="32" name="Rectangle 31"/>
          <p:cNvSpPr/>
          <p:nvPr/>
        </p:nvSpPr>
        <p:spPr>
          <a:xfrm>
            <a:off x="274320" y="5340096"/>
            <a:ext cx="640080" cy="8686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5385816"/>
            <a:ext cx="640080" cy="777240"/>
          </a:xfrm>
          <a:prstGeom prst="rect">
            <a:avLst/>
          </a:prstGeom>
          <a:noFill/>
        </p:spPr>
        <p:txBody>
          <a:bodyPr wrap="square">
            <a:spAutoFit/>
          </a:bodyPr>
          <a:lstStyle/>
          <a:p>
            <a:pPr algn="ctr"/>
            <a:r>
              <a:rPr sz="3200" b="1" i="0">
                <a:solidFill>
                  <a:srgbClr val="FFFFFF"/>
                </a:solidFill>
                <a:latin typeface="Calibri"/>
              </a:rPr>
              <a:t>5</a:t>
            </a:r>
          </a:p>
        </p:txBody>
      </p:sp>
      <p:sp>
        <p:nvSpPr>
          <p:cNvPr id="34" name="Rectangle 33"/>
          <p:cNvSpPr/>
          <p:nvPr/>
        </p:nvSpPr>
        <p:spPr>
          <a:xfrm>
            <a:off x="1005840" y="5340096"/>
            <a:ext cx="201168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477256"/>
            <a:ext cx="1920240" cy="594360"/>
          </a:xfrm>
          <a:prstGeom prst="rect">
            <a:avLst/>
          </a:prstGeom>
          <a:noFill/>
        </p:spPr>
        <p:txBody>
          <a:bodyPr wrap="square">
            <a:spAutoFit/>
          </a:bodyPr>
          <a:lstStyle/>
          <a:p>
            <a:pPr algn="ctr"/>
            <a:r>
              <a:rPr sz="2000" b="1" i="0">
                <a:solidFill>
                  <a:srgbClr val="FF9900"/>
                </a:solidFill>
                <a:latin typeface="Calibri"/>
              </a:rPr>
              <a:t>Evaluate</a:t>
            </a:r>
          </a:p>
        </p:txBody>
      </p:sp>
      <p:sp>
        <p:nvSpPr>
          <p:cNvPr id="36" name="Rectangle 35"/>
          <p:cNvSpPr/>
          <p:nvPr/>
        </p:nvSpPr>
        <p:spPr>
          <a:xfrm>
            <a:off x="3108960" y="5340096"/>
            <a:ext cx="877824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6120" y="5413248"/>
            <a:ext cx="8503920" cy="731520"/>
          </a:xfrm>
          <a:prstGeom prst="rect">
            <a:avLst/>
          </a:prstGeom>
          <a:noFill/>
        </p:spPr>
        <p:txBody>
          <a:bodyPr wrap="square">
            <a:spAutoFit/>
          </a:bodyPr>
          <a:lstStyle/>
          <a:p>
            <a:pPr algn="l"/>
            <a:r>
              <a:rPr sz="1600" b="0" i="0">
                <a:solidFill>
                  <a:srgbClr val="333333"/>
                </a:solidFill>
                <a:latin typeface="Calibri"/>
              </a:rPr>
              <a:t>charging performance metrics (efficiency, ripple, response time) in buffered vs. non-buffered mode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Scope of Work</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Boundaries and Limitations of This Research</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577840" cy="49377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5577840" cy="50292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08760"/>
            <a:ext cx="5303520" cy="411480"/>
          </a:xfrm>
          <a:prstGeom prst="rect">
            <a:avLst/>
          </a:prstGeom>
          <a:noFill/>
        </p:spPr>
        <p:txBody>
          <a:bodyPr wrap="square">
            <a:spAutoFit/>
          </a:bodyPr>
          <a:lstStyle/>
          <a:p>
            <a:pPr algn="l"/>
            <a:r>
              <a:rPr sz="1800" b="1" i="0">
                <a:solidFill>
                  <a:srgbClr val="FFFFFF"/>
                </a:solidFill>
                <a:latin typeface="Calibri"/>
              </a:rPr>
              <a:t>✅  IN SCOPE</a:t>
            </a:r>
          </a:p>
        </p:txBody>
      </p:sp>
      <p:sp>
        <p:nvSpPr>
          <p:cNvPr id="11" name="TextBox 10"/>
          <p:cNvSpPr txBox="1"/>
          <p:nvPr/>
        </p:nvSpPr>
        <p:spPr>
          <a:xfrm>
            <a:off x="457200" y="2057400"/>
            <a:ext cx="5303520" cy="4206240"/>
          </a:xfrm>
          <a:prstGeom prst="rect">
            <a:avLst/>
          </a:prstGeom>
          <a:noFill/>
        </p:spPr>
        <p:txBody>
          <a:bodyPr wrap="square">
            <a:spAutoFit/>
          </a:bodyPr>
          <a:lstStyle/>
          <a:p>
            <a:pPr algn="l"/>
            <a:r>
              <a:rPr sz="1500">
                <a:solidFill>
                  <a:srgbClr val="333333"/>
                </a:solidFill>
                <a:latin typeface="Calibri"/>
              </a:rPr>
              <a:t>📦  Scaled low-voltage prototype (5–12V DC)</a:t>
            </a:r>
          </a:p>
          <a:p>
            <a:pPr algn="l"/>
            <a:r>
              <a:rPr sz="1500">
                <a:solidFill>
                  <a:srgbClr val="333333"/>
                </a:solidFill>
                <a:latin typeface="Calibri"/>
              </a:rPr>
              <a:t>🔧  Hardware integration with standard components</a:t>
            </a:r>
          </a:p>
          <a:p>
            <a:pPr algn="l"/>
            <a:r>
              <a:rPr sz="1500">
                <a:solidFill>
                  <a:srgbClr val="333333"/>
                </a:solidFill>
                <a:latin typeface="Calibri"/>
              </a:rPr>
              <a:t>💻  Embedded firmware development (STM32 HAL, C)</a:t>
            </a:r>
          </a:p>
          <a:p>
            <a:pPr algn="l"/>
            <a:r>
              <a:rPr sz="1500">
                <a:solidFill>
                  <a:srgbClr val="333333"/>
                </a:solidFill>
                <a:latin typeface="Calibri"/>
              </a:rPr>
              <a:t>📡  IoT gateway firmware (ESP8266, Arduino)</a:t>
            </a:r>
          </a:p>
          <a:p>
            <a:pPr algn="l"/>
            <a:r>
              <a:rPr sz="1500">
                <a:solidFill>
                  <a:srgbClr val="333333"/>
                </a:solidFill>
                <a:latin typeface="Calibri"/>
              </a:rPr>
              <a:t>☁️  Cloud dashboard for visualization &amp; logging</a:t>
            </a:r>
          </a:p>
          <a:p>
            <a:pPr algn="l"/>
            <a:r>
              <a:rPr sz="1500">
                <a:solidFill>
                  <a:srgbClr val="333333"/>
                </a:solidFill>
                <a:latin typeface="Calibri"/>
              </a:rPr>
              <a:t>📊  Experimental comparison: buffered vs. non-buffered</a:t>
            </a:r>
          </a:p>
          <a:p>
            <a:pPr algn="l"/>
            <a:r>
              <a:rPr sz="1500">
                <a:solidFill>
                  <a:srgbClr val="333333"/>
                </a:solidFill>
                <a:latin typeface="Calibri"/>
              </a:rPr>
              <a:t>📝  Complete technical documentation</a:t>
            </a:r>
          </a:p>
          <a:p>
            <a:pPr algn="l"/>
            <a:r>
              <a:rPr sz="1500">
                <a:solidFill>
                  <a:srgbClr val="333333"/>
                </a:solidFill>
                <a:latin typeface="Calibri"/>
              </a:rPr>
              <a:t>🔬  Simulation demo (Python-based)</a:t>
            </a:r>
          </a:p>
        </p:txBody>
      </p:sp>
      <p:sp>
        <p:nvSpPr>
          <p:cNvPr id="12" name="Rectangle 11"/>
          <p:cNvSpPr/>
          <p:nvPr/>
        </p:nvSpPr>
        <p:spPr>
          <a:xfrm>
            <a:off x="6126480" y="1463040"/>
            <a:ext cx="5760720" cy="493776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463040"/>
            <a:ext cx="5760720" cy="50292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508760"/>
            <a:ext cx="5394960" cy="411480"/>
          </a:xfrm>
          <a:prstGeom prst="rect">
            <a:avLst/>
          </a:prstGeom>
          <a:noFill/>
        </p:spPr>
        <p:txBody>
          <a:bodyPr wrap="square">
            <a:spAutoFit/>
          </a:bodyPr>
          <a:lstStyle/>
          <a:p>
            <a:pPr algn="l"/>
            <a:r>
              <a:rPr sz="1800" b="1" i="0">
                <a:solidFill>
                  <a:srgbClr val="FFFFFF"/>
                </a:solidFill>
                <a:latin typeface="Calibri"/>
              </a:rPr>
              <a:t>❌  OUT OF SCOPE (Limitations)</a:t>
            </a:r>
          </a:p>
        </p:txBody>
      </p:sp>
      <p:sp>
        <p:nvSpPr>
          <p:cNvPr id="15" name="TextBox 14"/>
          <p:cNvSpPr txBox="1"/>
          <p:nvPr/>
        </p:nvSpPr>
        <p:spPr>
          <a:xfrm>
            <a:off x="6309360" y="2057400"/>
            <a:ext cx="5394960" cy="4206240"/>
          </a:xfrm>
          <a:prstGeom prst="rect">
            <a:avLst/>
          </a:prstGeom>
          <a:noFill/>
        </p:spPr>
        <p:txBody>
          <a:bodyPr wrap="square">
            <a:spAutoFit/>
          </a:bodyPr>
          <a:lstStyle/>
          <a:p>
            <a:pPr algn="l"/>
            <a:r>
              <a:rPr sz="1500">
                <a:solidFill>
                  <a:srgbClr val="333333"/>
                </a:solidFill>
                <a:latin typeface="Calibri"/>
              </a:rPr>
              <a:t>⚡  High-voltage EV charging (safety constraint)</a:t>
            </a:r>
          </a:p>
          <a:p>
            <a:pPr algn="l"/>
            <a:r>
              <a:rPr sz="1500">
                <a:solidFill>
                  <a:srgbClr val="333333"/>
                </a:solidFill>
                <a:latin typeface="Calibri"/>
              </a:rPr>
              <a:t>🏭  Large-scale grid integration</a:t>
            </a:r>
          </a:p>
          <a:p>
            <a:pPr algn="l"/>
            <a:r>
              <a:rPr sz="1500">
                <a:solidFill>
                  <a:srgbClr val="333333"/>
                </a:solidFill>
                <a:latin typeface="Calibri"/>
              </a:rPr>
              <a:t>🔬  Custom PCB design (breadboard only)</a:t>
            </a:r>
          </a:p>
          <a:p>
            <a:pPr algn="l"/>
            <a:r>
              <a:rPr sz="1500">
                <a:solidFill>
                  <a:srgbClr val="333333"/>
                </a:solidFill>
                <a:latin typeface="Calibri"/>
              </a:rPr>
              <a:t>🤖  Machine learning optimization (future work)</a:t>
            </a:r>
          </a:p>
          <a:p>
            <a:pPr algn="l"/>
            <a:r>
              <a:rPr sz="1500">
                <a:solidFill>
                  <a:srgbClr val="333333"/>
                </a:solidFill>
                <a:latin typeface="Calibri"/>
              </a:rPr>
              <a:t>🔋  Multi-battery management systems</a:t>
            </a:r>
          </a:p>
          <a:p>
            <a:pPr algn="l"/>
            <a:r>
              <a:rPr sz="1500">
                <a:solidFill>
                  <a:srgbClr val="333333"/>
                </a:solidFill>
                <a:latin typeface="Calibri"/>
              </a:rPr>
              <a:t>☀️  Real solar panel (regulated DC supply used)</a:t>
            </a:r>
          </a:p>
          <a:p>
            <a:pPr algn="l"/>
            <a:r>
              <a:rPr sz="1500">
                <a:solidFill>
                  <a:srgbClr val="333333"/>
                </a:solidFill>
                <a:latin typeface="Calibri"/>
              </a:rPr>
              <a:t>🌡️  Thermal management analysis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Literature Review</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Current State of Research – Overview</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2743200" cy="4937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2743200" cy="13716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08760"/>
            <a:ext cx="1828800" cy="640080"/>
          </a:xfrm>
          <a:prstGeom prst="rect">
            <a:avLst/>
          </a:prstGeom>
          <a:noFill/>
        </p:spPr>
        <p:txBody>
          <a:bodyPr wrap="square">
            <a:spAutoFit/>
          </a:bodyPr>
          <a:lstStyle/>
          <a:p>
            <a:pPr algn="ctr"/>
            <a:r>
              <a:rPr sz="3600" b="0" i="0">
                <a:solidFill>
                  <a:srgbClr val="FFFFFF"/>
                </a:solidFill>
                <a:latin typeface="Calibri"/>
              </a:rPr>
              <a:t>☀️</a:t>
            </a:r>
          </a:p>
        </p:txBody>
      </p:sp>
      <p:sp>
        <p:nvSpPr>
          <p:cNvPr id="11" name="TextBox 10"/>
          <p:cNvSpPr txBox="1"/>
          <p:nvPr/>
        </p:nvSpPr>
        <p:spPr>
          <a:xfrm>
            <a:off x="365760" y="2103120"/>
            <a:ext cx="2560320" cy="685800"/>
          </a:xfrm>
          <a:prstGeom prst="rect">
            <a:avLst/>
          </a:prstGeom>
          <a:noFill/>
        </p:spPr>
        <p:txBody>
          <a:bodyPr wrap="square">
            <a:spAutoFit/>
          </a:bodyPr>
          <a:lstStyle/>
          <a:p>
            <a:pPr algn="ctr"/>
            <a:r>
              <a:rPr sz="1600" b="1" i="0">
                <a:solidFill>
                  <a:srgbClr val="FFFFFF"/>
                </a:solidFill>
                <a:latin typeface="Calibri"/>
              </a:rPr>
              <a:t>Solar Charging
Systems</a:t>
            </a:r>
          </a:p>
        </p:txBody>
      </p:sp>
      <p:sp>
        <p:nvSpPr>
          <p:cNvPr id="12" name="TextBox 11"/>
          <p:cNvSpPr txBox="1"/>
          <p:nvPr/>
        </p:nvSpPr>
        <p:spPr>
          <a:xfrm>
            <a:off x="411479" y="2926080"/>
            <a:ext cx="2468880" cy="3383280"/>
          </a:xfrm>
          <a:prstGeom prst="rect">
            <a:avLst/>
          </a:prstGeom>
          <a:noFill/>
        </p:spPr>
        <p:txBody>
          <a:bodyPr wrap="square">
            <a:spAutoFit/>
          </a:bodyPr>
          <a:lstStyle/>
          <a:p>
            <a:pPr algn="l"/>
            <a:r>
              <a:rPr sz="1400" b="0" i="0">
                <a:solidFill>
                  <a:srgbClr val="333333"/>
                </a:solidFill>
                <a:latin typeface="Calibri"/>
              </a:rPr>
              <a:t>MPPT algorithms, PV-battery direct coupling limitations, efficiency analysis</a:t>
            </a:r>
          </a:p>
        </p:txBody>
      </p:sp>
      <p:sp>
        <p:nvSpPr>
          <p:cNvPr id="13" name="Rectangle 12"/>
          <p:cNvSpPr/>
          <p:nvPr/>
        </p:nvSpPr>
        <p:spPr>
          <a:xfrm>
            <a:off x="3246120" y="1463040"/>
            <a:ext cx="2743200" cy="4937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46120" y="1463040"/>
            <a:ext cx="2743200" cy="13716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03320" y="1508760"/>
            <a:ext cx="1828800" cy="640080"/>
          </a:xfrm>
          <a:prstGeom prst="rect">
            <a:avLst/>
          </a:prstGeom>
          <a:noFill/>
        </p:spPr>
        <p:txBody>
          <a:bodyPr wrap="square">
            <a:spAutoFit/>
          </a:bodyPr>
          <a:lstStyle/>
          <a:p>
            <a:pPr algn="ctr"/>
            <a:r>
              <a:rPr sz="3600" b="0" i="0">
                <a:solidFill>
                  <a:srgbClr val="FFFFFF"/>
                </a:solidFill>
                <a:latin typeface="Calibri"/>
              </a:rPr>
              <a:t>⚡</a:t>
            </a:r>
          </a:p>
        </p:txBody>
      </p:sp>
      <p:sp>
        <p:nvSpPr>
          <p:cNvPr id="16" name="TextBox 15"/>
          <p:cNvSpPr txBox="1"/>
          <p:nvPr/>
        </p:nvSpPr>
        <p:spPr>
          <a:xfrm>
            <a:off x="3337560" y="2103120"/>
            <a:ext cx="2560320" cy="685800"/>
          </a:xfrm>
          <a:prstGeom prst="rect">
            <a:avLst/>
          </a:prstGeom>
          <a:noFill/>
        </p:spPr>
        <p:txBody>
          <a:bodyPr wrap="square">
            <a:spAutoFit/>
          </a:bodyPr>
          <a:lstStyle/>
          <a:p>
            <a:pPr algn="ctr"/>
            <a:r>
              <a:rPr sz="1600" b="1" i="0">
                <a:solidFill>
                  <a:srgbClr val="FFFFFF"/>
                </a:solidFill>
                <a:latin typeface="Calibri"/>
              </a:rPr>
              <a:t>Supercapacitor
Technology</a:t>
            </a:r>
          </a:p>
        </p:txBody>
      </p:sp>
      <p:sp>
        <p:nvSpPr>
          <p:cNvPr id="17" name="TextBox 16"/>
          <p:cNvSpPr txBox="1"/>
          <p:nvPr/>
        </p:nvSpPr>
        <p:spPr>
          <a:xfrm>
            <a:off x="3383279" y="2926080"/>
            <a:ext cx="2468880" cy="3383280"/>
          </a:xfrm>
          <a:prstGeom prst="rect">
            <a:avLst/>
          </a:prstGeom>
          <a:noFill/>
        </p:spPr>
        <p:txBody>
          <a:bodyPr wrap="square">
            <a:spAutoFit/>
          </a:bodyPr>
          <a:lstStyle/>
          <a:p>
            <a:pPr algn="l"/>
            <a:r>
              <a:rPr sz="1400" b="0" i="0">
                <a:solidFill>
                  <a:srgbClr val="333333"/>
                </a:solidFill>
                <a:latin typeface="Calibri"/>
              </a:rPr>
              <a:t>EDLC properties, high power density, cycle life &gt;500k, fast charge/discharge</a:t>
            </a:r>
          </a:p>
        </p:txBody>
      </p:sp>
      <p:sp>
        <p:nvSpPr>
          <p:cNvPr id="18" name="Rectangle 17"/>
          <p:cNvSpPr/>
          <p:nvPr/>
        </p:nvSpPr>
        <p:spPr>
          <a:xfrm>
            <a:off x="6217920" y="1463040"/>
            <a:ext cx="2743200" cy="4937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1463040"/>
            <a:ext cx="2743200" cy="13716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1508760"/>
            <a:ext cx="1828800" cy="640080"/>
          </a:xfrm>
          <a:prstGeom prst="rect">
            <a:avLst/>
          </a:prstGeom>
          <a:noFill/>
        </p:spPr>
        <p:txBody>
          <a:bodyPr wrap="square">
            <a:spAutoFit/>
          </a:bodyPr>
          <a:lstStyle/>
          <a:p>
            <a:pPr algn="ctr"/>
            <a:r>
              <a:rPr sz="3600" b="0" i="0">
                <a:solidFill>
                  <a:srgbClr val="FFFFFF"/>
                </a:solidFill>
                <a:latin typeface="Calibri"/>
              </a:rPr>
              <a:t>🔋</a:t>
            </a:r>
          </a:p>
        </p:txBody>
      </p:sp>
      <p:sp>
        <p:nvSpPr>
          <p:cNvPr id="21" name="TextBox 20"/>
          <p:cNvSpPr txBox="1"/>
          <p:nvPr/>
        </p:nvSpPr>
        <p:spPr>
          <a:xfrm>
            <a:off x="6309359" y="2103120"/>
            <a:ext cx="2560320" cy="685800"/>
          </a:xfrm>
          <a:prstGeom prst="rect">
            <a:avLst/>
          </a:prstGeom>
          <a:noFill/>
        </p:spPr>
        <p:txBody>
          <a:bodyPr wrap="square">
            <a:spAutoFit/>
          </a:bodyPr>
          <a:lstStyle/>
          <a:p>
            <a:pPr algn="ctr"/>
            <a:r>
              <a:rPr sz="1600" b="1" i="0">
                <a:solidFill>
                  <a:srgbClr val="FFFFFF"/>
                </a:solidFill>
                <a:latin typeface="Calibri"/>
              </a:rPr>
              <a:t>Hybrid Energy
Storage (HBSC)</a:t>
            </a:r>
          </a:p>
        </p:txBody>
      </p:sp>
      <p:sp>
        <p:nvSpPr>
          <p:cNvPr id="22" name="TextBox 21"/>
          <p:cNvSpPr txBox="1"/>
          <p:nvPr/>
        </p:nvSpPr>
        <p:spPr>
          <a:xfrm>
            <a:off x="6355080" y="2926080"/>
            <a:ext cx="2468880" cy="3383280"/>
          </a:xfrm>
          <a:prstGeom prst="rect">
            <a:avLst/>
          </a:prstGeom>
          <a:noFill/>
        </p:spPr>
        <p:txBody>
          <a:bodyPr wrap="square">
            <a:spAutoFit/>
          </a:bodyPr>
          <a:lstStyle/>
          <a:p>
            <a:pPr algn="l"/>
            <a:r>
              <a:rPr sz="1400" b="0" i="0">
                <a:solidFill>
                  <a:srgbClr val="333333"/>
                </a:solidFill>
                <a:latin typeface="Calibri"/>
              </a:rPr>
              <a:t>Battery-supercapacitor topologies: passive, semi-active, active hybrid</a:t>
            </a:r>
          </a:p>
        </p:txBody>
      </p:sp>
      <p:sp>
        <p:nvSpPr>
          <p:cNvPr id="23" name="Rectangle 22"/>
          <p:cNvSpPr/>
          <p:nvPr/>
        </p:nvSpPr>
        <p:spPr>
          <a:xfrm>
            <a:off x="9189720" y="1463040"/>
            <a:ext cx="2743200" cy="4937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463040"/>
            <a:ext cx="2743200" cy="13716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46920" y="1508760"/>
            <a:ext cx="1828800" cy="640080"/>
          </a:xfrm>
          <a:prstGeom prst="rect">
            <a:avLst/>
          </a:prstGeom>
          <a:noFill/>
        </p:spPr>
        <p:txBody>
          <a:bodyPr wrap="square">
            <a:spAutoFit/>
          </a:bodyPr>
          <a:lstStyle/>
          <a:p>
            <a:pPr algn="ctr"/>
            <a:r>
              <a:rPr sz="3600" b="0" i="0">
                <a:solidFill>
                  <a:srgbClr val="FFFFFF"/>
                </a:solidFill>
                <a:latin typeface="Calibri"/>
              </a:rPr>
              <a:t>📡</a:t>
            </a:r>
          </a:p>
        </p:txBody>
      </p:sp>
      <p:sp>
        <p:nvSpPr>
          <p:cNvPr id="26" name="TextBox 25"/>
          <p:cNvSpPr txBox="1"/>
          <p:nvPr/>
        </p:nvSpPr>
        <p:spPr>
          <a:xfrm>
            <a:off x="9281160" y="2103120"/>
            <a:ext cx="2560320" cy="685800"/>
          </a:xfrm>
          <a:prstGeom prst="rect">
            <a:avLst/>
          </a:prstGeom>
          <a:noFill/>
        </p:spPr>
        <p:txBody>
          <a:bodyPr wrap="square">
            <a:spAutoFit/>
          </a:bodyPr>
          <a:lstStyle/>
          <a:p>
            <a:pPr algn="ctr"/>
            <a:r>
              <a:rPr sz="1600" b="1" i="0">
                <a:solidFill>
                  <a:srgbClr val="FFFFFF"/>
                </a:solidFill>
                <a:latin typeface="Calibri"/>
              </a:rPr>
              <a:t>IoT in Energy
Management</a:t>
            </a:r>
          </a:p>
        </p:txBody>
      </p:sp>
      <p:sp>
        <p:nvSpPr>
          <p:cNvPr id="27" name="TextBox 26"/>
          <p:cNvSpPr txBox="1"/>
          <p:nvPr/>
        </p:nvSpPr>
        <p:spPr>
          <a:xfrm>
            <a:off x="9326880" y="2926080"/>
            <a:ext cx="2468880" cy="3383280"/>
          </a:xfrm>
          <a:prstGeom prst="rect">
            <a:avLst/>
          </a:prstGeom>
          <a:noFill/>
        </p:spPr>
        <p:txBody>
          <a:bodyPr wrap="square">
            <a:spAutoFit/>
          </a:bodyPr>
          <a:lstStyle/>
          <a:p>
            <a:pPr algn="l"/>
            <a:r>
              <a:rPr sz="1400" b="0" i="0">
                <a:solidFill>
                  <a:srgbClr val="333333"/>
                </a:solidFill>
                <a:latin typeface="Calibri"/>
              </a:rPr>
              <a:t>Remote monitoring, cloud analytics, ESP8266/ESP32 applications in energy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Literature Review</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Key References &amp; Findings</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4864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508760"/>
            <a:ext cx="548640" cy="777240"/>
          </a:xfrm>
          <a:prstGeom prst="rect">
            <a:avLst/>
          </a:prstGeom>
          <a:noFill/>
        </p:spPr>
        <p:txBody>
          <a:bodyPr wrap="square">
            <a:spAutoFit/>
          </a:bodyPr>
          <a:lstStyle/>
          <a:p>
            <a:pPr algn="ctr"/>
            <a:r>
              <a:rPr sz="2200" b="1" i="0">
                <a:solidFill>
                  <a:srgbClr val="FFFFFF"/>
                </a:solidFill>
                <a:latin typeface="Calibri"/>
              </a:rPr>
              <a:t>1</a:t>
            </a:r>
          </a:p>
        </p:txBody>
      </p:sp>
      <p:sp>
        <p:nvSpPr>
          <p:cNvPr id="10" name="Rectangle 9"/>
          <p:cNvSpPr/>
          <p:nvPr/>
        </p:nvSpPr>
        <p:spPr>
          <a:xfrm>
            <a:off x="914400" y="1463040"/>
            <a:ext cx="301752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481328"/>
            <a:ext cx="2834640" cy="457200"/>
          </a:xfrm>
          <a:prstGeom prst="rect">
            <a:avLst/>
          </a:prstGeom>
          <a:noFill/>
        </p:spPr>
        <p:txBody>
          <a:bodyPr wrap="square">
            <a:spAutoFit/>
          </a:bodyPr>
          <a:lstStyle/>
          <a:p>
            <a:pPr algn="l"/>
            <a:r>
              <a:rPr sz="1300" b="1" i="0">
                <a:solidFill>
                  <a:srgbClr val="003366"/>
                </a:solidFill>
                <a:latin typeface="Calibri"/>
              </a:rPr>
              <a:t>[1] Hassan et al., 2022</a:t>
            </a:r>
          </a:p>
        </p:txBody>
      </p:sp>
      <p:sp>
        <p:nvSpPr>
          <p:cNvPr id="12" name="TextBox 11"/>
          <p:cNvSpPr txBox="1"/>
          <p:nvPr/>
        </p:nvSpPr>
        <p:spPr>
          <a:xfrm>
            <a:off x="1005840" y="1920240"/>
            <a:ext cx="2834640" cy="365760"/>
          </a:xfrm>
          <a:prstGeom prst="rect">
            <a:avLst/>
          </a:prstGeom>
          <a:noFill/>
        </p:spPr>
        <p:txBody>
          <a:bodyPr wrap="square">
            <a:spAutoFit/>
          </a:bodyPr>
          <a:lstStyle/>
          <a:p>
            <a:pPr algn="l"/>
            <a:r>
              <a:rPr sz="1100" b="0" i="1">
                <a:solidFill>
                  <a:srgbClr val="333333"/>
                </a:solidFill>
                <a:latin typeface="Calibri"/>
              </a:rPr>
              <a:t>Renewable Energy Reports</a:t>
            </a:r>
          </a:p>
        </p:txBody>
      </p:sp>
      <p:sp>
        <p:nvSpPr>
          <p:cNvPr id="13" name="Rectangle 12"/>
          <p:cNvSpPr/>
          <p:nvPr/>
        </p:nvSpPr>
        <p:spPr>
          <a:xfrm>
            <a:off x="4023360" y="1463040"/>
            <a:ext cx="5303520" cy="868680"/>
          </a:xfrm>
          <a:prstGeom prst="rect">
            <a:avLst/>
          </a:prstGeom>
          <a:solidFill>
            <a:srgbClr val="F0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0" y="1554480"/>
            <a:ext cx="5120640" cy="685800"/>
          </a:xfrm>
          <a:prstGeom prst="rect">
            <a:avLst/>
          </a:prstGeom>
          <a:noFill/>
        </p:spPr>
        <p:txBody>
          <a:bodyPr wrap="square">
            <a:spAutoFit/>
          </a:bodyPr>
          <a:lstStyle/>
          <a:p>
            <a:pPr algn="l"/>
            <a:r>
              <a:rPr sz="1300" b="0" i="0">
                <a:solidFill>
                  <a:srgbClr val="333333"/>
                </a:solidFill>
                <a:latin typeface="Calibri"/>
              </a:rPr>
              <a:t>PV-supercapacitor topologies analysis; semi-active gives 15–25% efficiency gain</a:t>
            </a:r>
          </a:p>
        </p:txBody>
      </p:sp>
      <p:sp>
        <p:nvSpPr>
          <p:cNvPr id="15" name="Rectangle 14"/>
          <p:cNvSpPr/>
          <p:nvPr/>
        </p:nvSpPr>
        <p:spPr>
          <a:xfrm>
            <a:off x="9418320" y="1463040"/>
            <a:ext cx="2560320" cy="8686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0" y="1554480"/>
            <a:ext cx="2377440" cy="685800"/>
          </a:xfrm>
          <a:prstGeom prst="rect">
            <a:avLst/>
          </a:prstGeom>
          <a:noFill/>
        </p:spPr>
        <p:txBody>
          <a:bodyPr wrap="square">
            <a:spAutoFit/>
          </a:bodyPr>
          <a:lstStyle/>
          <a:p>
            <a:pPr algn="l"/>
            <a:r>
              <a:rPr sz="1200" b="0" i="0">
                <a:solidFill>
                  <a:srgbClr val="007733"/>
                </a:solidFill>
                <a:latin typeface="Calibri"/>
              </a:rPr>
              <a:t>Topology selection, supercapacitor sizing</a:t>
            </a:r>
          </a:p>
        </p:txBody>
      </p:sp>
      <p:sp>
        <p:nvSpPr>
          <p:cNvPr id="17" name="Rectangle 16"/>
          <p:cNvSpPr/>
          <p:nvPr/>
        </p:nvSpPr>
        <p:spPr>
          <a:xfrm>
            <a:off x="274320" y="2423160"/>
            <a:ext cx="54864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2468880"/>
            <a:ext cx="548640" cy="777240"/>
          </a:xfrm>
          <a:prstGeom prst="rect">
            <a:avLst/>
          </a:prstGeom>
          <a:noFill/>
        </p:spPr>
        <p:txBody>
          <a:bodyPr wrap="square">
            <a:spAutoFit/>
          </a:bodyPr>
          <a:lstStyle/>
          <a:p>
            <a:pPr algn="ctr"/>
            <a:r>
              <a:rPr sz="2200" b="1" i="0">
                <a:solidFill>
                  <a:srgbClr val="FFFFFF"/>
                </a:solidFill>
                <a:latin typeface="Calibri"/>
              </a:rPr>
              <a:t>2</a:t>
            </a:r>
          </a:p>
        </p:txBody>
      </p:sp>
      <p:sp>
        <p:nvSpPr>
          <p:cNvPr id="19" name="Rectangle 18"/>
          <p:cNvSpPr/>
          <p:nvPr/>
        </p:nvSpPr>
        <p:spPr>
          <a:xfrm>
            <a:off x="914400" y="2423160"/>
            <a:ext cx="301752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2441448"/>
            <a:ext cx="2834640" cy="457200"/>
          </a:xfrm>
          <a:prstGeom prst="rect">
            <a:avLst/>
          </a:prstGeom>
          <a:noFill/>
        </p:spPr>
        <p:txBody>
          <a:bodyPr wrap="square">
            <a:spAutoFit/>
          </a:bodyPr>
          <a:lstStyle/>
          <a:p>
            <a:pPr algn="l"/>
            <a:r>
              <a:rPr sz="1300" b="1" i="0">
                <a:solidFill>
                  <a:srgbClr val="005599"/>
                </a:solidFill>
                <a:latin typeface="Calibri"/>
              </a:rPr>
              <a:t>[2] Zhang, 2023</a:t>
            </a:r>
          </a:p>
        </p:txBody>
      </p:sp>
      <p:sp>
        <p:nvSpPr>
          <p:cNvPr id="21" name="TextBox 20"/>
          <p:cNvSpPr txBox="1"/>
          <p:nvPr/>
        </p:nvSpPr>
        <p:spPr>
          <a:xfrm>
            <a:off x="1005840" y="2880360"/>
            <a:ext cx="2834640" cy="365760"/>
          </a:xfrm>
          <a:prstGeom prst="rect">
            <a:avLst/>
          </a:prstGeom>
          <a:noFill/>
        </p:spPr>
        <p:txBody>
          <a:bodyPr wrap="square">
            <a:spAutoFit/>
          </a:bodyPr>
          <a:lstStyle/>
          <a:p>
            <a:pPr algn="l"/>
            <a:r>
              <a:rPr sz="1100" b="0" i="1">
                <a:solidFill>
                  <a:srgbClr val="333333"/>
                </a:solidFill>
                <a:latin typeface="Calibri"/>
              </a:rPr>
              <a:t>Renewable &amp; Sustainable Energy Reviews</a:t>
            </a:r>
          </a:p>
        </p:txBody>
      </p:sp>
      <p:sp>
        <p:nvSpPr>
          <p:cNvPr id="22" name="Rectangle 21"/>
          <p:cNvSpPr/>
          <p:nvPr/>
        </p:nvSpPr>
        <p:spPr>
          <a:xfrm>
            <a:off x="4023360" y="2423160"/>
            <a:ext cx="5303520" cy="868680"/>
          </a:xfrm>
          <a:prstGeom prst="rect">
            <a:avLst/>
          </a:prstGeom>
          <a:solidFill>
            <a:srgbClr val="F0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0" y="2514600"/>
            <a:ext cx="5120640" cy="685800"/>
          </a:xfrm>
          <a:prstGeom prst="rect">
            <a:avLst/>
          </a:prstGeom>
          <a:noFill/>
        </p:spPr>
        <p:txBody>
          <a:bodyPr wrap="square">
            <a:spAutoFit/>
          </a:bodyPr>
          <a:lstStyle/>
          <a:p>
            <a:pPr algn="l"/>
            <a:r>
              <a:rPr sz="1300" b="0" i="0">
                <a:solidFill>
                  <a:srgbClr val="333333"/>
                </a:solidFill>
                <a:latin typeface="Calibri"/>
              </a:rPr>
              <a:t>Supercapacitor review: 40–70% battery current ripple reduction in PV systems</a:t>
            </a:r>
          </a:p>
        </p:txBody>
      </p:sp>
      <p:sp>
        <p:nvSpPr>
          <p:cNvPr id="24" name="Rectangle 23"/>
          <p:cNvSpPr/>
          <p:nvPr/>
        </p:nvSpPr>
        <p:spPr>
          <a:xfrm>
            <a:off x="9418320" y="2423160"/>
            <a:ext cx="2560320" cy="8686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2514600"/>
            <a:ext cx="2377440" cy="685800"/>
          </a:xfrm>
          <a:prstGeom prst="rect">
            <a:avLst/>
          </a:prstGeom>
          <a:noFill/>
        </p:spPr>
        <p:txBody>
          <a:bodyPr wrap="square">
            <a:spAutoFit/>
          </a:bodyPr>
          <a:lstStyle/>
          <a:p>
            <a:pPr algn="l"/>
            <a:r>
              <a:rPr sz="1200" b="0" i="0">
                <a:solidFill>
                  <a:srgbClr val="007733"/>
                </a:solidFill>
                <a:latin typeface="Calibri"/>
              </a:rPr>
              <a:t>Justifies buffering, measurement target</a:t>
            </a:r>
          </a:p>
        </p:txBody>
      </p:sp>
      <p:sp>
        <p:nvSpPr>
          <p:cNvPr id="26" name="Rectangle 25"/>
          <p:cNvSpPr/>
          <p:nvPr/>
        </p:nvSpPr>
        <p:spPr>
          <a:xfrm>
            <a:off x="274320" y="3383280"/>
            <a:ext cx="548640" cy="868680"/>
          </a:xfrm>
          <a:prstGeom prst="rect">
            <a:avLst/>
          </a:prstGeom>
          <a:solidFill>
            <a:srgbClr val="00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20" y="3429000"/>
            <a:ext cx="548640" cy="777240"/>
          </a:xfrm>
          <a:prstGeom prst="rect">
            <a:avLst/>
          </a:prstGeom>
          <a:noFill/>
        </p:spPr>
        <p:txBody>
          <a:bodyPr wrap="square">
            <a:spAutoFit/>
          </a:bodyPr>
          <a:lstStyle/>
          <a:p>
            <a:pPr algn="ctr"/>
            <a:r>
              <a:rPr sz="2200" b="1" i="0">
                <a:solidFill>
                  <a:srgbClr val="FFFFFF"/>
                </a:solidFill>
                <a:latin typeface="Calibri"/>
              </a:rPr>
              <a:t>3</a:t>
            </a:r>
          </a:p>
        </p:txBody>
      </p:sp>
      <p:sp>
        <p:nvSpPr>
          <p:cNvPr id="28" name="Rectangle 27"/>
          <p:cNvSpPr/>
          <p:nvPr/>
        </p:nvSpPr>
        <p:spPr>
          <a:xfrm>
            <a:off x="914400" y="3383280"/>
            <a:ext cx="301752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3401568"/>
            <a:ext cx="2834640" cy="457200"/>
          </a:xfrm>
          <a:prstGeom prst="rect">
            <a:avLst/>
          </a:prstGeom>
          <a:noFill/>
        </p:spPr>
        <p:txBody>
          <a:bodyPr wrap="square">
            <a:spAutoFit/>
          </a:bodyPr>
          <a:lstStyle/>
          <a:p>
            <a:pPr algn="l"/>
            <a:r>
              <a:rPr sz="1300" b="1" i="0">
                <a:solidFill>
                  <a:srgbClr val="007733"/>
                </a:solidFill>
                <a:latin typeface="Calibri"/>
              </a:rPr>
              <a:t>[3] Gopi et al., 2024</a:t>
            </a:r>
          </a:p>
        </p:txBody>
      </p:sp>
      <p:sp>
        <p:nvSpPr>
          <p:cNvPr id="30" name="TextBox 29"/>
          <p:cNvSpPr txBox="1"/>
          <p:nvPr/>
        </p:nvSpPr>
        <p:spPr>
          <a:xfrm>
            <a:off x="1005840" y="3840480"/>
            <a:ext cx="2834640" cy="365760"/>
          </a:xfrm>
          <a:prstGeom prst="rect">
            <a:avLst/>
          </a:prstGeom>
          <a:noFill/>
        </p:spPr>
        <p:txBody>
          <a:bodyPr wrap="square">
            <a:spAutoFit/>
          </a:bodyPr>
          <a:lstStyle/>
          <a:p>
            <a:pPr algn="l"/>
            <a:r>
              <a:rPr sz="1100" b="0" i="1">
                <a:solidFill>
                  <a:srgbClr val="333333"/>
                </a:solidFill>
                <a:latin typeface="Calibri"/>
              </a:rPr>
              <a:t>Energy Reports</a:t>
            </a:r>
          </a:p>
        </p:txBody>
      </p:sp>
      <p:sp>
        <p:nvSpPr>
          <p:cNvPr id="31" name="Rectangle 30"/>
          <p:cNvSpPr/>
          <p:nvPr/>
        </p:nvSpPr>
        <p:spPr>
          <a:xfrm>
            <a:off x="4023360" y="3383280"/>
            <a:ext cx="5303520" cy="868680"/>
          </a:xfrm>
          <a:prstGeom prst="rect">
            <a:avLst/>
          </a:prstGeom>
          <a:solidFill>
            <a:srgbClr val="F0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0" y="3474720"/>
            <a:ext cx="5120640" cy="685800"/>
          </a:xfrm>
          <a:prstGeom prst="rect">
            <a:avLst/>
          </a:prstGeom>
          <a:noFill/>
        </p:spPr>
        <p:txBody>
          <a:bodyPr wrap="square">
            <a:spAutoFit/>
          </a:bodyPr>
          <a:lstStyle/>
          <a:p>
            <a:pPr algn="l"/>
            <a:r>
              <a:rPr sz="1300" b="0" i="0">
                <a:solidFill>
                  <a:srgbClr val="333333"/>
                </a:solidFill>
                <a:latin typeface="Calibri"/>
              </a:rPr>
              <a:t>HBSC review; identifies gap: 'IoT monitoring for small-scale prototypes underexplored'</a:t>
            </a:r>
          </a:p>
        </p:txBody>
      </p:sp>
      <p:sp>
        <p:nvSpPr>
          <p:cNvPr id="33" name="Rectangle 32"/>
          <p:cNvSpPr/>
          <p:nvPr/>
        </p:nvSpPr>
        <p:spPr>
          <a:xfrm>
            <a:off x="9418320" y="3383280"/>
            <a:ext cx="2560320" cy="8686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09760" y="3474720"/>
            <a:ext cx="2377440" cy="685800"/>
          </a:xfrm>
          <a:prstGeom prst="rect">
            <a:avLst/>
          </a:prstGeom>
          <a:noFill/>
        </p:spPr>
        <p:txBody>
          <a:bodyPr wrap="square">
            <a:spAutoFit/>
          </a:bodyPr>
          <a:lstStyle/>
          <a:p>
            <a:pPr algn="l"/>
            <a:r>
              <a:rPr sz="1200" b="0" i="0">
                <a:solidFill>
                  <a:srgbClr val="007733"/>
                </a:solidFill>
                <a:latin typeface="Calibri"/>
              </a:rPr>
              <a:t>Directly validates project novelty</a:t>
            </a:r>
          </a:p>
        </p:txBody>
      </p:sp>
      <p:sp>
        <p:nvSpPr>
          <p:cNvPr id="35" name="Rectangle 34"/>
          <p:cNvSpPr/>
          <p:nvPr/>
        </p:nvSpPr>
        <p:spPr>
          <a:xfrm>
            <a:off x="274320" y="4343400"/>
            <a:ext cx="548640" cy="86868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4320" y="4389120"/>
            <a:ext cx="548640" cy="777240"/>
          </a:xfrm>
          <a:prstGeom prst="rect">
            <a:avLst/>
          </a:prstGeom>
          <a:noFill/>
        </p:spPr>
        <p:txBody>
          <a:bodyPr wrap="square">
            <a:spAutoFit/>
          </a:bodyPr>
          <a:lstStyle/>
          <a:p>
            <a:pPr algn="ctr"/>
            <a:r>
              <a:rPr sz="2200" b="1" i="0">
                <a:solidFill>
                  <a:srgbClr val="FFFFFF"/>
                </a:solidFill>
                <a:latin typeface="Calibri"/>
              </a:rPr>
              <a:t>4</a:t>
            </a:r>
          </a:p>
        </p:txBody>
      </p:sp>
      <p:sp>
        <p:nvSpPr>
          <p:cNvPr id="37" name="Rectangle 36"/>
          <p:cNvSpPr/>
          <p:nvPr/>
        </p:nvSpPr>
        <p:spPr>
          <a:xfrm>
            <a:off x="914400" y="4343400"/>
            <a:ext cx="301752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361688"/>
            <a:ext cx="2834640" cy="457200"/>
          </a:xfrm>
          <a:prstGeom prst="rect">
            <a:avLst/>
          </a:prstGeom>
          <a:noFill/>
        </p:spPr>
        <p:txBody>
          <a:bodyPr wrap="square">
            <a:spAutoFit/>
          </a:bodyPr>
          <a:lstStyle/>
          <a:p>
            <a:pPr algn="l"/>
            <a:r>
              <a:rPr sz="1300" b="1" i="0">
                <a:solidFill>
                  <a:srgbClr val="00AA44"/>
                </a:solidFill>
                <a:latin typeface="Calibri"/>
              </a:rPr>
              <a:t>[4] Piyumal et al., 2021</a:t>
            </a:r>
          </a:p>
        </p:txBody>
      </p:sp>
      <p:sp>
        <p:nvSpPr>
          <p:cNvPr id="39" name="TextBox 38"/>
          <p:cNvSpPr txBox="1"/>
          <p:nvPr/>
        </p:nvSpPr>
        <p:spPr>
          <a:xfrm>
            <a:off x="1005840" y="4800600"/>
            <a:ext cx="2834640" cy="365760"/>
          </a:xfrm>
          <a:prstGeom prst="rect">
            <a:avLst/>
          </a:prstGeom>
          <a:noFill/>
        </p:spPr>
        <p:txBody>
          <a:bodyPr wrap="square">
            <a:spAutoFit/>
          </a:bodyPr>
          <a:lstStyle/>
          <a:p>
            <a:pPr algn="l"/>
            <a:r>
              <a:rPr sz="1100" b="0" i="1">
                <a:solidFill>
                  <a:srgbClr val="333333"/>
                </a:solidFill>
                <a:latin typeface="Calibri"/>
              </a:rPr>
              <a:t>Electronics, MDPI</a:t>
            </a:r>
          </a:p>
        </p:txBody>
      </p:sp>
      <p:sp>
        <p:nvSpPr>
          <p:cNvPr id="40" name="Rectangle 39"/>
          <p:cNvSpPr/>
          <p:nvPr/>
        </p:nvSpPr>
        <p:spPr>
          <a:xfrm>
            <a:off x="4023360" y="4343400"/>
            <a:ext cx="5303520" cy="868680"/>
          </a:xfrm>
          <a:prstGeom prst="rect">
            <a:avLst/>
          </a:prstGeom>
          <a:solidFill>
            <a:srgbClr val="F0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114800" y="4434840"/>
            <a:ext cx="5120640" cy="685800"/>
          </a:xfrm>
          <a:prstGeom prst="rect">
            <a:avLst/>
          </a:prstGeom>
          <a:noFill/>
        </p:spPr>
        <p:txBody>
          <a:bodyPr wrap="square">
            <a:spAutoFit/>
          </a:bodyPr>
          <a:lstStyle/>
          <a:p>
            <a:pPr algn="l"/>
            <a:r>
              <a:rPr sz="1300" b="0" i="0">
                <a:solidFill>
                  <a:srgbClr val="333333"/>
                </a:solidFill>
                <a:latin typeface="Calibri"/>
              </a:rPr>
              <a:t>Microcontroller-based PV+supercap prototype; 22% efficiency improvement measured</a:t>
            </a:r>
          </a:p>
        </p:txBody>
      </p:sp>
      <p:sp>
        <p:nvSpPr>
          <p:cNvPr id="42" name="Rectangle 41"/>
          <p:cNvSpPr/>
          <p:nvPr/>
        </p:nvSpPr>
        <p:spPr>
          <a:xfrm>
            <a:off x="9418320" y="4343400"/>
            <a:ext cx="2560320" cy="8686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9760" y="4434840"/>
            <a:ext cx="2377440" cy="685800"/>
          </a:xfrm>
          <a:prstGeom prst="rect">
            <a:avLst/>
          </a:prstGeom>
          <a:noFill/>
        </p:spPr>
        <p:txBody>
          <a:bodyPr wrap="square">
            <a:spAutoFit/>
          </a:bodyPr>
          <a:lstStyle/>
          <a:p>
            <a:pPr algn="l"/>
            <a:r>
              <a:rPr sz="1200" b="0" i="0">
                <a:solidFill>
                  <a:srgbClr val="007733"/>
                </a:solidFill>
                <a:latin typeface="Calibri"/>
              </a:rPr>
              <a:t>Most similar prior work; no IoT</a:t>
            </a:r>
          </a:p>
        </p:txBody>
      </p:sp>
      <p:sp>
        <p:nvSpPr>
          <p:cNvPr id="44" name="Rectangle 43"/>
          <p:cNvSpPr/>
          <p:nvPr/>
        </p:nvSpPr>
        <p:spPr>
          <a:xfrm>
            <a:off x="274320" y="5303520"/>
            <a:ext cx="548640" cy="8686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74320" y="5349240"/>
            <a:ext cx="548640" cy="777240"/>
          </a:xfrm>
          <a:prstGeom prst="rect">
            <a:avLst/>
          </a:prstGeom>
          <a:noFill/>
        </p:spPr>
        <p:txBody>
          <a:bodyPr wrap="square">
            <a:spAutoFit/>
          </a:bodyPr>
          <a:lstStyle/>
          <a:p>
            <a:pPr algn="ctr"/>
            <a:r>
              <a:rPr sz="2200" b="1" i="0">
                <a:solidFill>
                  <a:srgbClr val="FFFFFF"/>
                </a:solidFill>
                <a:latin typeface="Calibri"/>
              </a:rPr>
              <a:t>5</a:t>
            </a:r>
          </a:p>
        </p:txBody>
      </p:sp>
      <p:sp>
        <p:nvSpPr>
          <p:cNvPr id="46" name="Rectangle 45"/>
          <p:cNvSpPr/>
          <p:nvPr/>
        </p:nvSpPr>
        <p:spPr>
          <a:xfrm>
            <a:off x="914400" y="5303520"/>
            <a:ext cx="301752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 y="5321807"/>
            <a:ext cx="2834640" cy="457200"/>
          </a:xfrm>
          <a:prstGeom prst="rect">
            <a:avLst/>
          </a:prstGeom>
          <a:noFill/>
        </p:spPr>
        <p:txBody>
          <a:bodyPr wrap="square">
            <a:spAutoFit/>
          </a:bodyPr>
          <a:lstStyle/>
          <a:p>
            <a:pPr algn="l"/>
            <a:r>
              <a:rPr sz="1300" b="1" i="0">
                <a:solidFill>
                  <a:srgbClr val="FF9900"/>
                </a:solidFill>
                <a:latin typeface="Calibri"/>
              </a:rPr>
              <a:t>[5] Baqar et al., 2023</a:t>
            </a:r>
          </a:p>
        </p:txBody>
      </p:sp>
      <p:sp>
        <p:nvSpPr>
          <p:cNvPr id="48" name="TextBox 47"/>
          <p:cNvSpPr txBox="1"/>
          <p:nvPr/>
        </p:nvSpPr>
        <p:spPr>
          <a:xfrm>
            <a:off x="1005840" y="5760720"/>
            <a:ext cx="2834640" cy="365760"/>
          </a:xfrm>
          <a:prstGeom prst="rect">
            <a:avLst/>
          </a:prstGeom>
          <a:noFill/>
        </p:spPr>
        <p:txBody>
          <a:bodyPr wrap="square">
            <a:spAutoFit/>
          </a:bodyPr>
          <a:lstStyle/>
          <a:p>
            <a:pPr algn="l"/>
            <a:r>
              <a:rPr sz="1100" b="0" i="1">
                <a:solidFill>
                  <a:srgbClr val="333333"/>
                </a:solidFill>
                <a:latin typeface="Calibri"/>
              </a:rPr>
              <a:t>Energies, MDPI</a:t>
            </a:r>
          </a:p>
        </p:txBody>
      </p:sp>
      <p:sp>
        <p:nvSpPr>
          <p:cNvPr id="49" name="Rectangle 48"/>
          <p:cNvSpPr/>
          <p:nvPr/>
        </p:nvSpPr>
        <p:spPr>
          <a:xfrm>
            <a:off x="4023360" y="5303520"/>
            <a:ext cx="5303520" cy="868680"/>
          </a:xfrm>
          <a:prstGeom prst="rect">
            <a:avLst/>
          </a:prstGeom>
          <a:solidFill>
            <a:srgbClr val="F0F8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0" y="5394959"/>
            <a:ext cx="5120640" cy="685800"/>
          </a:xfrm>
          <a:prstGeom prst="rect">
            <a:avLst/>
          </a:prstGeom>
          <a:noFill/>
        </p:spPr>
        <p:txBody>
          <a:bodyPr wrap="square">
            <a:spAutoFit/>
          </a:bodyPr>
          <a:lstStyle/>
          <a:p>
            <a:pPr algn="l"/>
            <a:r>
              <a:rPr sz="1300" b="0" i="0">
                <a:solidFill>
                  <a:srgbClr val="333333"/>
                </a:solidFill>
                <a:latin typeface="Calibri"/>
              </a:rPr>
              <a:t>SoC-based supercapacitor ageing control; 35% life extension via voltage limiting</a:t>
            </a:r>
          </a:p>
        </p:txBody>
      </p:sp>
      <p:sp>
        <p:nvSpPr>
          <p:cNvPr id="51" name="Rectangle 50"/>
          <p:cNvSpPr/>
          <p:nvPr/>
        </p:nvSpPr>
        <p:spPr>
          <a:xfrm>
            <a:off x="9418320" y="5303520"/>
            <a:ext cx="2560320" cy="86868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5394959"/>
            <a:ext cx="2377440" cy="685800"/>
          </a:xfrm>
          <a:prstGeom prst="rect">
            <a:avLst/>
          </a:prstGeom>
          <a:noFill/>
        </p:spPr>
        <p:txBody>
          <a:bodyPr wrap="square">
            <a:spAutoFit/>
          </a:bodyPr>
          <a:lstStyle/>
          <a:p>
            <a:pPr algn="l"/>
            <a:r>
              <a:rPr sz="1200" b="0" i="0">
                <a:solidFill>
                  <a:srgbClr val="007733"/>
                </a:solidFill>
                <a:latin typeface="Calibri"/>
              </a:rPr>
              <a:t>SoC algorithm, protection thresholds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Literature Review</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Research Gaps &amp; Our Contributions</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11640312" cy="36576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08760"/>
            <a:ext cx="11430000" cy="292608"/>
          </a:xfrm>
          <a:prstGeom prst="rect">
            <a:avLst/>
          </a:prstGeom>
          <a:noFill/>
        </p:spPr>
        <p:txBody>
          <a:bodyPr wrap="square">
            <a:spAutoFit/>
          </a:bodyPr>
          <a:lstStyle/>
          <a:p>
            <a:pPr algn="l"/>
            <a:r>
              <a:rPr sz="1700" b="1" i="0">
                <a:solidFill>
                  <a:srgbClr val="CC0000"/>
                </a:solidFill>
                <a:latin typeface="Calibri"/>
              </a:rPr>
              <a:t>🔍  Identified Research Gaps</a:t>
            </a:r>
          </a:p>
        </p:txBody>
      </p:sp>
      <p:sp>
        <p:nvSpPr>
          <p:cNvPr id="10" name="Rectangle 9"/>
          <p:cNvSpPr/>
          <p:nvPr/>
        </p:nvSpPr>
        <p:spPr>
          <a:xfrm>
            <a:off x="274320" y="1920240"/>
            <a:ext cx="1097280" cy="7772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65960"/>
            <a:ext cx="1005840" cy="685800"/>
          </a:xfrm>
          <a:prstGeom prst="rect">
            <a:avLst/>
          </a:prstGeom>
          <a:noFill/>
        </p:spPr>
        <p:txBody>
          <a:bodyPr wrap="square">
            <a:spAutoFit/>
          </a:bodyPr>
          <a:lstStyle/>
          <a:p>
            <a:pPr algn="ctr"/>
            <a:r>
              <a:rPr sz="1300" b="1" i="0">
                <a:solidFill>
                  <a:srgbClr val="FFFFFF"/>
                </a:solidFill>
                <a:latin typeface="Calibri"/>
              </a:rPr>
              <a:t>Gap 1</a:t>
            </a:r>
          </a:p>
        </p:txBody>
      </p:sp>
      <p:sp>
        <p:nvSpPr>
          <p:cNvPr id="12" name="Rectangle 11"/>
          <p:cNvSpPr/>
          <p:nvPr/>
        </p:nvSpPr>
        <p:spPr>
          <a:xfrm>
            <a:off x="1463040" y="1920240"/>
            <a:ext cx="10451592" cy="777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54480" y="1938528"/>
            <a:ext cx="10241280" cy="320040"/>
          </a:xfrm>
          <a:prstGeom prst="rect">
            <a:avLst/>
          </a:prstGeom>
          <a:noFill/>
        </p:spPr>
        <p:txBody>
          <a:bodyPr wrap="square">
            <a:spAutoFit/>
          </a:bodyPr>
          <a:lstStyle/>
          <a:p>
            <a:pPr algn="l"/>
            <a:r>
              <a:rPr sz="1500" b="1" i="0">
                <a:solidFill>
                  <a:srgbClr val="333333"/>
                </a:solidFill>
                <a:latin typeface="Calibri"/>
              </a:rPr>
              <a:t>Limited IoT monitoring in small-scale HBSC systems</a:t>
            </a:r>
          </a:p>
        </p:txBody>
      </p:sp>
      <p:sp>
        <p:nvSpPr>
          <p:cNvPr id="14" name="TextBox 13"/>
          <p:cNvSpPr txBox="1"/>
          <p:nvPr/>
        </p:nvSpPr>
        <p:spPr>
          <a:xfrm>
            <a:off x="1554480" y="2267712"/>
            <a:ext cx="10241280" cy="384048"/>
          </a:xfrm>
          <a:prstGeom prst="rect">
            <a:avLst/>
          </a:prstGeom>
          <a:noFill/>
        </p:spPr>
        <p:txBody>
          <a:bodyPr wrap="square">
            <a:spAutoFit/>
          </a:bodyPr>
          <a:lstStyle/>
          <a:p>
            <a:pPr algn="l"/>
            <a:r>
              <a:rPr sz="1200" b="0" i="1">
                <a:solidFill>
                  <a:srgbClr val="666666"/>
                </a:solidFill>
                <a:latin typeface="Calibri"/>
              </a:rPr>
              <a:t>Gopi et al. 2024 explicitly notes: 'IoT-enabled monitoring for small-scale HBSC prototypes remains underexplored'</a:t>
            </a:r>
          </a:p>
        </p:txBody>
      </p:sp>
      <p:sp>
        <p:nvSpPr>
          <p:cNvPr id="15" name="Rectangle 14"/>
          <p:cNvSpPr/>
          <p:nvPr/>
        </p:nvSpPr>
        <p:spPr>
          <a:xfrm>
            <a:off x="274320" y="2788920"/>
            <a:ext cx="1097280" cy="7772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2834639"/>
            <a:ext cx="1005840" cy="685800"/>
          </a:xfrm>
          <a:prstGeom prst="rect">
            <a:avLst/>
          </a:prstGeom>
          <a:noFill/>
        </p:spPr>
        <p:txBody>
          <a:bodyPr wrap="square">
            <a:spAutoFit/>
          </a:bodyPr>
          <a:lstStyle/>
          <a:p>
            <a:pPr algn="ctr"/>
            <a:r>
              <a:rPr sz="1300" b="1" i="0">
                <a:solidFill>
                  <a:srgbClr val="FFFFFF"/>
                </a:solidFill>
                <a:latin typeface="Calibri"/>
              </a:rPr>
              <a:t>Gap 2</a:t>
            </a:r>
          </a:p>
        </p:txBody>
      </p:sp>
      <p:sp>
        <p:nvSpPr>
          <p:cNvPr id="17" name="Rectangle 16"/>
          <p:cNvSpPr/>
          <p:nvPr/>
        </p:nvSpPr>
        <p:spPr>
          <a:xfrm>
            <a:off x="1463040" y="2788920"/>
            <a:ext cx="10451592" cy="777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4480" y="2807208"/>
            <a:ext cx="10241280" cy="320040"/>
          </a:xfrm>
          <a:prstGeom prst="rect">
            <a:avLst/>
          </a:prstGeom>
          <a:noFill/>
        </p:spPr>
        <p:txBody>
          <a:bodyPr wrap="square">
            <a:spAutoFit/>
          </a:bodyPr>
          <a:lstStyle/>
          <a:p>
            <a:pPr algn="l"/>
            <a:r>
              <a:rPr sz="1500" b="1" i="0">
                <a:solidFill>
                  <a:srgbClr val="333333"/>
                </a:solidFill>
                <a:latin typeface="Calibri"/>
              </a:rPr>
              <a:t>No real-time embedded control in prototype demonstrations</a:t>
            </a:r>
          </a:p>
        </p:txBody>
      </p:sp>
      <p:sp>
        <p:nvSpPr>
          <p:cNvPr id="19" name="TextBox 18"/>
          <p:cNvSpPr txBox="1"/>
          <p:nvPr/>
        </p:nvSpPr>
        <p:spPr>
          <a:xfrm>
            <a:off x="1554480" y="3136391"/>
            <a:ext cx="10241280" cy="384048"/>
          </a:xfrm>
          <a:prstGeom prst="rect">
            <a:avLst/>
          </a:prstGeom>
          <a:noFill/>
        </p:spPr>
        <p:txBody>
          <a:bodyPr wrap="square">
            <a:spAutoFit/>
          </a:bodyPr>
          <a:lstStyle/>
          <a:p>
            <a:pPr algn="l"/>
            <a:r>
              <a:rPr sz="1200" b="0" i="1">
                <a:solidFill>
                  <a:srgbClr val="666666"/>
                </a:solidFill>
                <a:latin typeface="Calibri"/>
              </a:rPr>
              <a:t>Zhang 2023 and Piyumal 2021: simulation-heavy; no STM32/MCU-level control loop</a:t>
            </a:r>
          </a:p>
        </p:txBody>
      </p:sp>
      <p:sp>
        <p:nvSpPr>
          <p:cNvPr id="20" name="Rectangle 19"/>
          <p:cNvSpPr/>
          <p:nvPr/>
        </p:nvSpPr>
        <p:spPr>
          <a:xfrm>
            <a:off x="274320" y="3657600"/>
            <a:ext cx="1097280" cy="77724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703320"/>
            <a:ext cx="1005840" cy="685800"/>
          </a:xfrm>
          <a:prstGeom prst="rect">
            <a:avLst/>
          </a:prstGeom>
          <a:noFill/>
        </p:spPr>
        <p:txBody>
          <a:bodyPr wrap="square">
            <a:spAutoFit/>
          </a:bodyPr>
          <a:lstStyle/>
          <a:p>
            <a:pPr algn="ctr"/>
            <a:r>
              <a:rPr sz="1300" b="1" i="0">
                <a:solidFill>
                  <a:srgbClr val="FFFFFF"/>
                </a:solidFill>
                <a:latin typeface="Calibri"/>
              </a:rPr>
              <a:t>Gap 3</a:t>
            </a:r>
          </a:p>
        </p:txBody>
      </p:sp>
      <p:sp>
        <p:nvSpPr>
          <p:cNvPr id="22" name="Rectangle 21"/>
          <p:cNvSpPr/>
          <p:nvPr/>
        </p:nvSpPr>
        <p:spPr>
          <a:xfrm>
            <a:off x="1463040" y="3657600"/>
            <a:ext cx="10451592" cy="7772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54480" y="3675887"/>
            <a:ext cx="10241280" cy="320040"/>
          </a:xfrm>
          <a:prstGeom prst="rect">
            <a:avLst/>
          </a:prstGeom>
          <a:noFill/>
        </p:spPr>
        <p:txBody>
          <a:bodyPr wrap="square">
            <a:spAutoFit/>
          </a:bodyPr>
          <a:lstStyle/>
          <a:p>
            <a:pPr algn="l"/>
            <a:r>
              <a:rPr sz="1500" b="1" i="0">
                <a:solidFill>
                  <a:srgbClr val="333333"/>
                </a:solidFill>
                <a:latin typeface="Calibri"/>
              </a:rPr>
              <a:t>Absence of comparative dataset for buffered vs. non-buffered</a:t>
            </a:r>
          </a:p>
        </p:txBody>
      </p:sp>
      <p:sp>
        <p:nvSpPr>
          <p:cNvPr id="24" name="TextBox 23"/>
          <p:cNvSpPr txBox="1"/>
          <p:nvPr/>
        </p:nvSpPr>
        <p:spPr>
          <a:xfrm>
            <a:off x="1554480" y="4005072"/>
            <a:ext cx="10241280" cy="384048"/>
          </a:xfrm>
          <a:prstGeom prst="rect">
            <a:avLst/>
          </a:prstGeom>
          <a:noFill/>
        </p:spPr>
        <p:txBody>
          <a:bodyPr wrap="square">
            <a:spAutoFit/>
          </a:bodyPr>
          <a:lstStyle/>
          <a:p>
            <a:pPr algn="l"/>
            <a:r>
              <a:rPr sz="1200" b="0" i="1">
                <a:solidFill>
                  <a:srgbClr val="666666"/>
                </a:solidFill>
                <a:latin typeface="Calibri"/>
              </a:rPr>
              <a:t>No publicly available experimental data for small-scale prototype comparison</a:t>
            </a:r>
          </a:p>
        </p:txBody>
      </p:sp>
      <p:sp>
        <p:nvSpPr>
          <p:cNvPr id="25" name="Rectangle 24"/>
          <p:cNvSpPr/>
          <p:nvPr/>
        </p:nvSpPr>
        <p:spPr>
          <a:xfrm>
            <a:off x="274320" y="4617720"/>
            <a:ext cx="11640312" cy="3657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663440"/>
            <a:ext cx="11430000" cy="292608"/>
          </a:xfrm>
          <a:prstGeom prst="rect">
            <a:avLst/>
          </a:prstGeom>
          <a:noFill/>
        </p:spPr>
        <p:txBody>
          <a:bodyPr wrap="square">
            <a:spAutoFit/>
          </a:bodyPr>
          <a:lstStyle/>
          <a:p>
            <a:pPr algn="l"/>
            <a:r>
              <a:rPr sz="1700" b="1" i="0">
                <a:solidFill>
                  <a:srgbClr val="00AA44"/>
                </a:solidFill>
                <a:latin typeface="Calibri"/>
              </a:rPr>
              <a:t>🚀  This Project's Contributions</a:t>
            </a:r>
          </a:p>
        </p:txBody>
      </p:sp>
      <p:sp>
        <p:nvSpPr>
          <p:cNvPr id="27" name="Rectangle 26"/>
          <p:cNvSpPr/>
          <p:nvPr/>
        </p:nvSpPr>
        <p:spPr>
          <a:xfrm>
            <a:off x="274320" y="5074920"/>
            <a:ext cx="2286000" cy="6858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5120640"/>
            <a:ext cx="2194560" cy="594360"/>
          </a:xfrm>
          <a:prstGeom prst="rect">
            <a:avLst/>
          </a:prstGeom>
          <a:noFill/>
        </p:spPr>
        <p:txBody>
          <a:bodyPr wrap="square">
            <a:spAutoFit/>
          </a:bodyPr>
          <a:lstStyle/>
          <a:p>
            <a:pPr algn="ctr"/>
            <a:r>
              <a:rPr sz="1200" b="1" i="0">
                <a:solidFill>
                  <a:srgbClr val="FFFFFF"/>
                </a:solidFill>
                <a:latin typeface="Calibri"/>
              </a:rPr>
              <a:t>Our Contribution 1</a:t>
            </a:r>
          </a:p>
        </p:txBody>
      </p:sp>
      <p:sp>
        <p:nvSpPr>
          <p:cNvPr id="29" name="Rectangle 28"/>
          <p:cNvSpPr/>
          <p:nvPr/>
        </p:nvSpPr>
        <p:spPr>
          <a:xfrm>
            <a:off x="2651760" y="5074920"/>
            <a:ext cx="9262872" cy="68580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43200" y="5166359"/>
            <a:ext cx="9052560" cy="502920"/>
          </a:xfrm>
          <a:prstGeom prst="rect">
            <a:avLst/>
          </a:prstGeom>
          <a:noFill/>
        </p:spPr>
        <p:txBody>
          <a:bodyPr wrap="square">
            <a:spAutoFit/>
          </a:bodyPr>
          <a:lstStyle/>
          <a:p>
            <a:pPr algn="l"/>
            <a:r>
              <a:rPr sz="1400" b="0" i="0">
                <a:solidFill>
                  <a:srgbClr val="333333"/>
                </a:solidFill>
                <a:latin typeface="Calibri"/>
              </a:rPr>
              <a:t>ESP8266-based IoT gateway with cloud dashboard and real-time visualization</a:t>
            </a:r>
          </a:p>
        </p:txBody>
      </p:sp>
      <p:sp>
        <p:nvSpPr>
          <p:cNvPr id="31" name="Rectangle 30"/>
          <p:cNvSpPr/>
          <p:nvPr/>
        </p:nvSpPr>
        <p:spPr>
          <a:xfrm>
            <a:off x="274320" y="5852159"/>
            <a:ext cx="2286000" cy="6858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5897879"/>
            <a:ext cx="2194560" cy="594360"/>
          </a:xfrm>
          <a:prstGeom prst="rect">
            <a:avLst/>
          </a:prstGeom>
          <a:noFill/>
        </p:spPr>
        <p:txBody>
          <a:bodyPr wrap="square">
            <a:spAutoFit/>
          </a:bodyPr>
          <a:lstStyle/>
          <a:p>
            <a:pPr algn="ctr"/>
            <a:r>
              <a:rPr sz="1200" b="1" i="0">
                <a:solidFill>
                  <a:srgbClr val="FFFFFF"/>
                </a:solidFill>
                <a:latin typeface="Calibri"/>
              </a:rPr>
              <a:t>Our Contribution 2</a:t>
            </a:r>
          </a:p>
        </p:txBody>
      </p:sp>
      <p:sp>
        <p:nvSpPr>
          <p:cNvPr id="33" name="Rectangle 32"/>
          <p:cNvSpPr/>
          <p:nvPr/>
        </p:nvSpPr>
        <p:spPr>
          <a:xfrm>
            <a:off x="2651760" y="5852159"/>
            <a:ext cx="9262872" cy="68580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0" y="5943599"/>
            <a:ext cx="9052560" cy="502920"/>
          </a:xfrm>
          <a:prstGeom prst="rect">
            <a:avLst/>
          </a:prstGeom>
          <a:noFill/>
        </p:spPr>
        <p:txBody>
          <a:bodyPr wrap="square">
            <a:spAutoFit/>
          </a:bodyPr>
          <a:lstStyle/>
          <a:p>
            <a:pPr algn="l"/>
            <a:r>
              <a:rPr sz="1400" b="0" i="0">
                <a:solidFill>
                  <a:srgbClr val="333333"/>
                </a:solidFill>
                <a:latin typeface="Calibri"/>
              </a:rPr>
              <a:t>STM32 firmware with real-time closed-loop control (P=V×I, E=∫Pdt, PI controller)</a:t>
            </a:r>
          </a:p>
        </p:txBody>
      </p:sp>
      <p:sp>
        <p:nvSpPr>
          <p:cNvPr id="35" name="Rectangle 34"/>
          <p:cNvSpPr/>
          <p:nvPr/>
        </p:nvSpPr>
        <p:spPr>
          <a:xfrm>
            <a:off x="274320" y="6629399"/>
            <a:ext cx="2286000" cy="6858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675119"/>
            <a:ext cx="2194560" cy="594360"/>
          </a:xfrm>
          <a:prstGeom prst="rect">
            <a:avLst/>
          </a:prstGeom>
          <a:noFill/>
        </p:spPr>
        <p:txBody>
          <a:bodyPr wrap="square">
            <a:spAutoFit/>
          </a:bodyPr>
          <a:lstStyle/>
          <a:p>
            <a:pPr algn="ctr"/>
            <a:r>
              <a:rPr sz="1200" b="1" i="0">
                <a:solidFill>
                  <a:srgbClr val="FFFFFF"/>
                </a:solidFill>
                <a:latin typeface="Calibri"/>
              </a:rPr>
              <a:t>Our Contribution 3</a:t>
            </a:r>
          </a:p>
        </p:txBody>
      </p:sp>
      <p:sp>
        <p:nvSpPr>
          <p:cNvPr id="37" name="Rectangle 36"/>
          <p:cNvSpPr/>
          <p:nvPr/>
        </p:nvSpPr>
        <p:spPr>
          <a:xfrm>
            <a:off x="2651760" y="6629399"/>
            <a:ext cx="9262872" cy="685800"/>
          </a:xfrm>
          <a:prstGeom prst="rect">
            <a:avLst/>
          </a:prstGeom>
          <a:solidFill>
            <a:srgbClr val="F1F8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0" y="6720839"/>
            <a:ext cx="9052560" cy="502920"/>
          </a:xfrm>
          <a:prstGeom prst="rect">
            <a:avLst/>
          </a:prstGeom>
          <a:noFill/>
        </p:spPr>
        <p:txBody>
          <a:bodyPr wrap="square">
            <a:spAutoFit/>
          </a:bodyPr>
          <a:lstStyle/>
          <a:p>
            <a:pPr algn="l"/>
            <a:r>
              <a:rPr sz="1400" b="0" i="0">
                <a:solidFill>
                  <a:srgbClr val="333333"/>
                </a:solidFill>
                <a:latin typeface="Calibri"/>
              </a:rPr>
              <a:t>Automated data logging for buffered vs. non-buffered comparison analysis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System Architecture</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Functional Block Diagram</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554480"/>
            <a:ext cx="201168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874519"/>
            <a:ext cx="1920240" cy="365760"/>
          </a:xfrm>
          <a:prstGeom prst="rect">
            <a:avLst/>
          </a:prstGeom>
          <a:noFill/>
        </p:spPr>
        <p:txBody>
          <a:bodyPr wrap="square">
            <a:spAutoFit/>
          </a:bodyPr>
          <a:lstStyle/>
          <a:p>
            <a:pPr algn="ctr"/>
            <a:r>
              <a:rPr sz="1300" b="1" i="0">
                <a:solidFill>
                  <a:srgbClr val="FFFFFF"/>
                </a:solidFill>
                <a:latin typeface="Calibri"/>
              </a:rPr>
              <a:t>DC Power Supply
(5V–12V)</a:t>
            </a:r>
          </a:p>
        </p:txBody>
      </p:sp>
      <p:sp>
        <p:nvSpPr>
          <p:cNvPr id="10" name="Rectangle 9"/>
          <p:cNvSpPr/>
          <p:nvPr/>
        </p:nvSpPr>
        <p:spPr>
          <a:xfrm>
            <a:off x="2834640" y="1554480"/>
            <a:ext cx="2103120" cy="91440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80360" y="1874519"/>
            <a:ext cx="2011679" cy="365760"/>
          </a:xfrm>
          <a:prstGeom prst="rect">
            <a:avLst/>
          </a:prstGeom>
          <a:noFill/>
        </p:spPr>
        <p:txBody>
          <a:bodyPr wrap="square">
            <a:spAutoFit/>
          </a:bodyPr>
          <a:lstStyle/>
          <a:p>
            <a:pPr algn="ctr"/>
            <a:r>
              <a:rPr sz="1300" b="1" i="0">
                <a:solidFill>
                  <a:srgbClr val="FFFFFF"/>
                </a:solidFill>
                <a:latin typeface="Calibri"/>
              </a:rPr>
              <a:t>DC-DC
Converter</a:t>
            </a:r>
          </a:p>
        </p:txBody>
      </p:sp>
      <p:sp>
        <p:nvSpPr>
          <p:cNvPr id="12" name="Rectangle 11"/>
          <p:cNvSpPr/>
          <p:nvPr/>
        </p:nvSpPr>
        <p:spPr>
          <a:xfrm>
            <a:off x="5577840" y="1554480"/>
            <a:ext cx="210312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59" y="1874519"/>
            <a:ext cx="2011679" cy="365760"/>
          </a:xfrm>
          <a:prstGeom prst="rect">
            <a:avLst/>
          </a:prstGeom>
          <a:noFill/>
        </p:spPr>
        <p:txBody>
          <a:bodyPr wrap="square">
            <a:spAutoFit/>
          </a:bodyPr>
          <a:lstStyle/>
          <a:p>
            <a:pPr algn="ctr"/>
            <a:r>
              <a:rPr sz="1300" b="1" i="0">
                <a:solidFill>
                  <a:srgbClr val="FFFFFF"/>
                </a:solidFill>
                <a:latin typeface="Calibri"/>
              </a:rPr>
              <a:t>Supercapacitor
Buffer</a:t>
            </a:r>
          </a:p>
        </p:txBody>
      </p:sp>
      <p:sp>
        <p:nvSpPr>
          <p:cNvPr id="14" name="Rectangle 13"/>
          <p:cNvSpPr/>
          <p:nvPr/>
        </p:nvSpPr>
        <p:spPr>
          <a:xfrm>
            <a:off x="8412480" y="1554480"/>
            <a:ext cx="2103120" cy="914400"/>
          </a:xfrm>
          <a:prstGeom prst="rect">
            <a:avLst/>
          </a:prstGeom>
          <a:solidFill>
            <a:srgbClr val="0088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58200" y="1874519"/>
            <a:ext cx="2011679" cy="365760"/>
          </a:xfrm>
          <a:prstGeom prst="rect">
            <a:avLst/>
          </a:prstGeom>
          <a:noFill/>
        </p:spPr>
        <p:txBody>
          <a:bodyPr wrap="square">
            <a:spAutoFit/>
          </a:bodyPr>
          <a:lstStyle/>
          <a:p>
            <a:pPr algn="ctr"/>
            <a:r>
              <a:rPr sz="1300" b="1" i="0">
                <a:solidFill>
                  <a:srgbClr val="FFFFFF"/>
                </a:solidFill>
                <a:latin typeface="Calibri"/>
              </a:rPr>
              <a:t>Battery
/ Load</a:t>
            </a:r>
          </a:p>
        </p:txBody>
      </p:sp>
      <p:cxnSp>
        <p:nvCxnSpPr>
          <p:cNvPr id="16" name="Connector 15"/>
          <p:cNvCxnSpPr/>
          <p:nvPr/>
        </p:nvCxnSpPr>
        <p:spPr>
          <a:xfrm>
            <a:off x="2286000" y="2011680"/>
            <a:ext cx="548640" cy="0"/>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937760" y="2011680"/>
            <a:ext cx="640080" cy="0"/>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80960" y="2011680"/>
            <a:ext cx="731520" cy="0"/>
          </a:xfrm>
          <a:prstGeom prst="line">
            <a:avLst/>
          </a:prstGeom>
          <a:ln w="19050">
            <a:solidFill>
              <a:srgbClr val="333333"/>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274320" y="3200400"/>
            <a:ext cx="1645920" cy="731520"/>
          </a:xfrm>
          <a:prstGeom prst="rect">
            <a:avLst/>
          </a:prstGeom>
          <a:solidFill>
            <a:srgbClr val="88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3429000"/>
            <a:ext cx="1554480" cy="347472"/>
          </a:xfrm>
          <a:prstGeom prst="rect">
            <a:avLst/>
          </a:prstGeom>
          <a:noFill/>
        </p:spPr>
        <p:txBody>
          <a:bodyPr wrap="square">
            <a:spAutoFit/>
          </a:bodyPr>
          <a:lstStyle/>
          <a:p>
            <a:pPr algn="ctr"/>
            <a:r>
              <a:rPr sz="1200" b="1" i="0">
                <a:solidFill>
                  <a:srgbClr val="FFFFFF"/>
                </a:solidFill>
                <a:latin typeface="Calibri"/>
              </a:rPr>
              <a:t>Voltage
Sensor</a:t>
            </a:r>
          </a:p>
        </p:txBody>
      </p:sp>
      <p:sp>
        <p:nvSpPr>
          <p:cNvPr id="21" name="Rectangle 20"/>
          <p:cNvSpPr/>
          <p:nvPr/>
        </p:nvSpPr>
        <p:spPr>
          <a:xfrm>
            <a:off x="2011680" y="3200400"/>
            <a:ext cx="1645920" cy="731520"/>
          </a:xfrm>
          <a:prstGeom prst="rect">
            <a:avLst/>
          </a:prstGeom>
          <a:solidFill>
            <a:srgbClr val="88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057400" y="3429000"/>
            <a:ext cx="1554480" cy="347472"/>
          </a:xfrm>
          <a:prstGeom prst="rect">
            <a:avLst/>
          </a:prstGeom>
          <a:noFill/>
        </p:spPr>
        <p:txBody>
          <a:bodyPr wrap="square">
            <a:spAutoFit/>
          </a:bodyPr>
          <a:lstStyle/>
          <a:p>
            <a:pPr algn="ctr"/>
            <a:r>
              <a:rPr sz="1200" b="1" i="0">
                <a:solidFill>
                  <a:srgbClr val="FFFFFF"/>
                </a:solidFill>
                <a:latin typeface="Calibri"/>
              </a:rPr>
              <a:t>Current
Sensor</a:t>
            </a:r>
          </a:p>
        </p:txBody>
      </p:sp>
      <p:sp>
        <p:nvSpPr>
          <p:cNvPr id="23" name="Rectangle 22"/>
          <p:cNvSpPr/>
          <p:nvPr/>
        </p:nvSpPr>
        <p:spPr>
          <a:xfrm>
            <a:off x="4114800" y="2743200"/>
            <a:ext cx="2743200" cy="164592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60520" y="3429000"/>
            <a:ext cx="2651760" cy="438912"/>
          </a:xfrm>
          <a:prstGeom prst="rect">
            <a:avLst/>
          </a:prstGeom>
          <a:noFill/>
        </p:spPr>
        <p:txBody>
          <a:bodyPr wrap="square">
            <a:spAutoFit/>
          </a:bodyPr>
          <a:lstStyle/>
          <a:p>
            <a:pPr algn="ctr"/>
            <a:r>
              <a:rPr sz="1200" b="1" i="0">
                <a:solidFill>
                  <a:srgbClr val="FFFFFF"/>
                </a:solidFill>
                <a:latin typeface="Calibri"/>
              </a:rPr>
              <a:t>STM32F446RE
ADC | PWM | UART
Control &amp; Computation</a:t>
            </a:r>
          </a:p>
        </p:txBody>
      </p:sp>
      <p:sp>
        <p:nvSpPr>
          <p:cNvPr id="25" name="Rectangle 24"/>
          <p:cNvSpPr/>
          <p:nvPr/>
        </p:nvSpPr>
        <p:spPr>
          <a:xfrm>
            <a:off x="7589520" y="2743200"/>
            <a:ext cx="1828800" cy="82296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3017520"/>
            <a:ext cx="1737360" cy="356616"/>
          </a:xfrm>
          <a:prstGeom prst="rect">
            <a:avLst/>
          </a:prstGeom>
          <a:noFill/>
        </p:spPr>
        <p:txBody>
          <a:bodyPr wrap="square">
            <a:spAutoFit/>
          </a:bodyPr>
          <a:lstStyle/>
          <a:p>
            <a:pPr algn="ctr"/>
            <a:r>
              <a:rPr sz="1200" b="1" i="0">
                <a:solidFill>
                  <a:srgbClr val="FFFFFF"/>
                </a:solidFill>
                <a:latin typeface="Calibri"/>
              </a:rPr>
              <a:t>ESP8266
WiFi Gateway</a:t>
            </a:r>
          </a:p>
        </p:txBody>
      </p:sp>
      <p:sp>
        <p:nvSpPr>
          <p:cNvPr id="27" name="Rectangle 26"/>
          <p:cNvSpPr/>
          <p:nvPr/>
        </p:nvSpPr>
        <p:spPr>
          <a:xfrm>
            <a:off x="7589520" y="3840480"/>
            <a:ext cx="1828800" cy="82296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0" y="4114800"/>
            <a:ext cx="1737360" cy="356616"/>
          </a:xfrm>
          <a:prstGeom prst="rect">
            <a:avLst/>
          </a:prstGeom>
          <a:noFill/>
        </p:spPr>
        <p:txBody>
          <a:bodyPr wrap="square">
            <a:spAutoFit/>
          </a:bodyPr>
          <a:lstStyle/>
          <a:p>
            <a:pPr algn="ctr"/>
            <a:r>
              <a:rPr sz="1200" b="1" i="0">
                <a:solidFill>
                  <a:srgbClr val="FFFFFF"/>
                </a:solidFill>
                <a:latin typeface="Calibri"/>
              </a:rPr>
              <a:t>Cloud
Backend</a:t>
            </a:r>
          </a:p>
        </p:txBody>
      </p:sp>
      <p:sp>
        <p:nvSpPr>
          <p:cNvPr id="29" name="Rectangle 28"/>
          <p:cNvSpPr/>
          <p:nvPr/>
        </p:nvSpPr>
        <p:spPr>
          <a:xfrm>
            <a:off x="7589520" y="4937760"/>
            <a:ext cx="1828800" cy="82296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5212080"/>
            <a:ext cx="1737360" cy="356616"/>
          </a:xfrm>
          <a:prstGeom prst="rect">
            <a:avLst/>
          </a:prstGeom>
          <a:noFill/>
        </p:spPr>
        <p:txBody>
          <a:bodyPr wrap="square">
            <a:spAutoFit/>
          </a:bodyPr>
          <a:lstStyle/>
          <a:p>
            <a:pPr algn="ctr"/>
            <a:r>
              <a:rPr sz="1200" b="1" i="0">
                <a:solidFill>
                  <a:srgbClr val="333333"/>
                </a:solidFill>
                <a:latin typeface="Calibri"/>
              </a:rPr>
              <a:t>Dashboard
&amp; Analytics</a:t>
            </a:r>
          </a:p>
        </p:txBody>
      </p:sp>
      <p:sp>
        <p:nvSpPr>
          <p:cNvPr id="31" name="TextBox 30"/>
          <p:cNvSpPr txBox="1"/>
          <p:nvPr/>
        </p:nvSpPr>
        <p:spPr>
          <a:xfrm>
            <a:off x="3886200" y="3246120"/>
            <a:ext cx="1005840" cy="274320"/>
          </a:xfrm>
          <a:prstGeom prst="rect">
            <a:avLst/>
          </a:prstGeom>
          <a:noFill/>
        </p:spPr>
        <p:txBody>
          <a:bodyPr wrap="square">
            <a:spAutoFit/>
          </a:bodyPr>
          <a:lstStyle/>
          <a:p>
            <a:pPr algn="ctr"/>
            <a:r>
              <a:rPr sz="1100" b="0" i="0">
                <a:solidFill>
                  <a:srgbClr val="333333"/>
                </a:solidFill>
                <a:latin typeface="Calibri"/>
              </a:rPr>
              <a:t>ADC In</a:t>
            </a:r>
          </a:p>
        </p:txBody>
      </p:sp>
      <p:sp>
        <p:nvSpPr>
          <p:cNvPr id="32" name="TextBox 31"/>
          <p:cNvSpPr txBox="1"/>
          <p:nvPr/>
        </p:nvSpPr>
        <p:spPr>
          <a:xfrm>
            <a:off x="3429000" y="2514600"/>
            <a:ext cx="1188720" cy="274320"/>
          </a:xfrm>
          <a:prstGeom prst="rect">
            <a:avLst/>
          </a:prstGeom>
          <a:noFill/>
        </p:spPr>
        <p:txBody>
          <a:bodyPr wrap="square">
            <a:spAutoFit/>
          </a:bodyPr>
          <a:lstStyle/>
          <a:p>
            <a:pPr algn="ctr"/>
            <a:r>
              <a:rPr sz="1100" b="0" i="0">
                <a:solidFill>
                  <a:srgbClr val="333333"/>
                </a:solidFill>
                <a:latin typeface="Calibri"/>
              </a:rPr>
              <a:t>PWM Out</a:t>
            </a:r>
          </a:p>
        </p:txBody>
      </p:sp>
      <p:sp>
        <p:nvSpPr>
          <p:cNvPr id="33" name="TextBox 32"/>
          <p:cNvSpPr txBox="1"/>
          <p:nvPr/>
        </p:nvSpPr>
        <p:spPr>
          <a:xfrm>
            <a:off x="7086600" y="3017520"/>
            <a:ext cx="914400" cy="457200"/>
          </a:xfrm>
          <a:prstGeom prst="rect">
            <a:avLst/>
          </a:prstGeom>
          <a:noFill/>
        </p:spPr>
        <p:txBody>
          <a:bodyPr wrap="square">
            <a:spAutoFit/>
          </a:bodyPr>
          <a:lstStyle/>
          <a:p>
            <a:pPr algn="ctr"/>
            <a:r>
              <a:rPr sz="1100" b="0" i="0">
                <a:solidFill>
                  <a:srgbClr val="333333"/>
                </a:solidFill>
                <a:latin typeface="Calibri"/>
              </a:rPr>
              <a:t>UART
115200</a:t>
            </a:r>
          </a:p>
        </p:txBody>
      </p:sp>
      <p:sp>
        <p:nvSpPr>
          <p:cNvPr id="34" name="TextBox 33"/>
          <p:cNvSpPr txBox="1"/>
          <p:nvPr/>
        </p:nvSpPr>
        <p:spPr>
          <a:xfrm>
            <a:off x="8458200" y="3749039"/>
            <a:ext cx="731520" cy="274320"/>
          </a:xfrm>
          <a:prstGeom prst="rect">
            <a:avLst/>
          </a:prstGeom>
          <a:noFill/>
        </p:spPr>
        <p:txBody>
          <a:bodyPr wrap="square">
            <a:spAutoFit/>
          </a:bodyPr>
          <a:lstStyle/>
          <a:p>
            <a:pPr algn="ctr"/>
            <a:r>
              <a:rPr sz="1100" b="0" i="0">
                <a:solidFill>
                  <a:srgbClr val="333333"/>
                </a:solidFill>
                <a:latin typeface="Calibri"/>
              </a:rPr>
              <a:t>WiFi</a:t>
            </a:r>
          </a:p>
        </p:txBody>
      </p:sp>
      <p:sp>
        <p:nvSpPr>
          <p:cNvPr id="35" name="TextBox 34"/>
          <p:cNvSpPr txBox="1"/>
          <p:nvPr/>
        </p:nvSpPr>
        <p:spPr>
          <a:xfrm>
            <a:off x="8458200" y="4800600"/>
            <a:ext cx="731520" cy="365760"/>
          </a:xfrm>
          <a:prstGeom prst="rect">
            <a:avLst/>
          </a:prstGeom>
          <a:noFill/>
        </p:spPr>
        <p:txBody>
          <a:bodyPr wrap="square">
            <a:spAutoFit/>
          </a:bodyPr>
          <a:lstStyle/>
          <a:p>
            <a:pPr algn="ctr"/>
            <a:r>
              <a:rPr sz="1100" b="0" i="0">
                <a:solidFill>
                  <a:srgbClr val="333333"/>
                </a:solidFill>
                <a:latin typeface="Calibri"/>
              </a:rPr>
              <a:t>HTTP/
WSS</a:t>
            </a:r>
          </a:p>
        </p:txBody>
      </p:sp>
      <p:sp>
        <p:nvSpPr>
          <p:cNvPr id="36" name="Rectangle 35"/>
          <p:cNvSpPr/>
          <p:nvPr/>
        </p:nvSpPr>
        <p:spPr>
          <a:xfrm>
            <a:off x="274320" y="1417320"/>
            <a:ext cx="10241280" cy="164592"/>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417320"/>
            <a:ext cx="2743200" cy="182880"/>
          </a:xfrm>
          <a:prstGeom prst="rect">
            <a:avLst/>
          </a:prstGeom>
          <a:noFill/>
        </p:spPr>
        <p:txBody>
          <a:bodyPr wrap="square">
            <a:spAutoFit/>
          </a:bodyPr>
          <a:lstStyle/>
          <a:p>
            <a:pPr algn="l"/>
            <a:r>
              <a:rPr sz="1100" b="1" i="0">
                <a:solidFill>
                  <a:srgbClr val="FFFFFF"/>
                </a:solidFill>
                <a:latin typeface="Calibri"/>
              </a:rPr>
              <a:t>⚡  POWER FLOW</a:t>
            </a:r>
          </a:p>
        </p:txBody>
      </p:sp>
      <p:sp>
        <p:nvSpPr>
          <p:cNvPr id="38" name="Rectangle 37"/>
          <p:cNvSpPr/>
          <p:nvPr/>
        </p:nvSpPr>
        <p:spPr>
          <a:xfrm>
            <a:off x="274320" y="5257800"/>
            <a:ext cx="5943600" cy="164592"/>
          </a:xfrm>
          <a:prstGeom prst="rect">
            <a:avLst/>
          </a:prstGeom>
          <a:solidFill>
            <a:srgbClr val="88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5257800"/>
            <a:ext cx="3657600" cy="182880"/>
          </a:xfrm>
          <a:prstGeom prst="rect">
            <a:avLst/>
          </a:prstGeom>
          <a:noFill/>
        </p:spPr>
        <p:txBody>
          <a:bodyPr wrap="square">
            <a:spAutoFit/>
          </a:bodyPr>
          <a:lstStyle/>
          <a:p>
            <a:pPr algn="l"/>
            <a:r>
              <a:rPr sz="1100" b="1" i="0">
                <a:solidFill>
                  <a:srgbClr val="FFFFFF"/>
                </a:solidFill>
                <a:latin typeface="Calibri"/>
              </a:rPr>
              <a:t>📊  SENSING &amp; CONTROL</a:t>
            </a:r>
          </a:p>
        </p:txBody>
      </p:sp>
      <p:sp>
        <p:nvSpPr>
          <p:cNvPr id="40" name="Rectangle 39"/>
          <p:cNvSpPr/>
          <p:nvPr/>
        </p:nvSpPr>
        <p:spPr>
          <a:xfrm>
            <a:off x="7406640" y="5257800"/>
            <a:ext cx="2743200" cy="164592"/>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89520" y="5257800"/>
            <a:ext cx="2743200" cy="182880"/>
          </a:xfrm>
          <a:prstGeom prst="rect">
            <a:avLst/>
          </a:prstGeom>
          <a:noFill/>
        </p:spPr>
        <p:txBody>
          <a:bodyPr wrap="square">
            <a:spAutoFit/>
          </a:bodyPr>
          <a:lstStyle/>
          <a:p>
            <a:pPr algn="l"/>
            <a:r>
              <a:rPr sz="1100" b="1" i="0">
                <a:solidFill>
                  <a:srgbClr val="FFFFFF"/>
                </a:solidFill>
                <a:latin typeface="Calibri"/>
              </a:rPr>
              <a:t>🌐  IoT LAYER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System Architecture</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Component Details &amp; Specifications</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2560320" cy="603504"/>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17904"/>
            <a:ext cx="2377440" cy="502920"/>
          </a:xfrm>
          <a:prstGeom prst="rect">
            <a:avLst/>
          </a:prstGeom>
          <a:noFill/>
        </p:spPr>
        <p:txBody>
          <a:bodyPr wrap="square">
            <a:spAutoFit/>
          </a:bodyPr>
          <a:lstStyle/>
          <a:p>
            <a:pPr algn="l"/>
            <a:r>
              <a:rPr sz="1300" b="1" i="0">
                <a:solidFill>
                  <a:srgbClr val="FFFFFF"/>
                </a:solidFill>
                <a:latin typeface="Calibri"/>
              </a:rPr>
              <a:t>STM32F446RE</a:t>
            </a:r>
          </a:p>
        </p:txBody>
      </p:sp>
      <p:sp>
        <p:nvSpPr>
          <p:cNvPr id="10" name="Rectangle 9"/>
          <p:cNvSpPr/>
          <p:nvPr/>
        </p:nvSpPr>
        <p:spPr>
          <a:xfrm>
            <a:off x="2926080" y="146304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517904"/>
            <a:ext cx="2103120" cy="502920"/>
          </a:xfrm>
          <a:prstGeom prst="rect">
            <a:avLst/>
          </a:prstGeom>
          <a:noFill/>
        </p:spPr>
        <p:txBody>
          <a:bodyPr wrap="square">
            <a:spAutoFit/>
          </a:bodyPr>
          <a:lstStyle/>
          <a:p>
            <a:pPr algn="l"/>
            <a:r>
              <a:rPr sz="1300" b="0" i="0">
                <a:solidFill>
                  <a:srgbClr val="003366"/>
                </a:solidFill>
                <a:latin typeface="Calibri"/>
              </a:rPr>
              <a:t>Central Controller</a:t>
            </a:r>
          </a:p>
        </p:txBody>
      </p:sp>
      <p:sp>
        <p:nvSpPr>
          <p:cNvPr id="12" name="Rectangle 11"/>
          <p:cNvSpPr/>
          <p:nvPr/>
        </p:nvSpPr>
        <p:spPr>
          <a:xfrm>
            <a:off x="5303520" y="1463040"/>
            <a:ext cx="6611112" cy="603504"/>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0" y="1517904"/>
            <a:ext cx="6492240" cy="502920"/>
          </a:xfrm>
          <a:prstGeom prst="rect">
            <a:avLst/>
          </a:prstGeom>
          <a:noFill/>
        </p:spPr>
        <p:txBody>
          <a:bodyPr wrap="square">
            <a:spAutoFit/>
          </a:bodyPr>
          <a:lstStyle/>
          <a:p>
            <a:pPr algn="l"/>
            <a:r>
              <a:rPr sz="1200" b="0" i="0">
                <a:solidFill>
                  <a:srgbClr val="333333"/>
                </a:solidFill>
                <a:latin typeface="Calibri"/>
              </a:rPr>
              <a:t>32-bit ARM Cortex-M4, 180 MHz, 12-bit ADC, TIM1 PWM, USART2</a:t>
            </a:r>
          </a:p>
        </p:txBody>
      </p:sp>
      <p:sp>
        <p:nvSpPr>
          <p:cNvPr id="14" name="Rectangle 13"/>
          <p:cNvSpPr/>
          <p:nvPr/>
        </p:nvSpPr>
        <p:spPr>
          <a:xfrm>
            <a:off x="274320" y="2103120"/>
            <a:ext cx="2560320" cy="603504"/>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157984"/>
            <a:ext cx="2377440" cy="502920"/>
          </a:xfrm>
          <a:prstGeom prst="rect">
            <a:avLst/>
          </a:prstGeom>
          <a:noFill/>
        </p:spPr>
        <p:txBody>
          <a:bodyPr wrap="square">
            <a:spAutoFit/>
          </a:bodyPr>
          <a:lstStyle/>
          <a:p>
            <a:pPr algn="l"/>
            <a:r>
              <a:rPr sz="1300" b="1" i="0">
                <a:solidFill>
                  <a:srgbClr val="FFFFFF"/>
                </a:solidFill>
                <a:latin typeface="Calibri"/>
              </a:rPr>
              <a:t>DC-DC Converter</a:t>
            </a:r>
          </a:p>
        </p:txBody>
      </p:sp>
      <p:sp>
        <p:nvSpPr>
          <p:cNvPr id="16" name="Rectangle 15"/>
          <p:cNvSpPr/>
          <p:nvPr/>
        </p:nvSpPr>
        <p:spPr>
          <a:xfrm>
            <a:off x="2926080" y="210312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17520" y="2157984"/>
            <a:ext cx="2103120" cy="502920"/>
          </a:xfrm>
          <a:prstGeom prst="rect">
            <a:avLst/>
          </a:prstGeom>
          <a:noFill/>
        </p:spPr>
        <p:txBody>
          <a:bodyPr wrap="square">
            <a:spAutoFit/>
          </a:bodyPr>
          <a:lstStyle/>
          <a:p>
            <a:pPr algn="l"/>
            <a:r>
              <a:rPr sz="1300" b="0" i="0">
                <a:solidFill>
                  <a:srgbClr val="003366"/>
                </a:solidFill>
                <a:latin typeface="Calibri"/>
              </a:rPr>
              <a:t>Voltage Regulation</a:t>
            </a:r>
          </a:p>
        </p:txBody>
      </p:sp>
      <p:sp>
        <p:nvSpPr>
          <p:cNvPr id="18" name="Rectangle 17"/>
          <p:cNvSpPr/>
          <p:nvPr/>
        </p:nvSpPr>
        <p:spPr>
          <a:xfrm>
            <a:off x="5303520" y="2103120"/>
            <a:ext cx="6611112"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0" y="2157984"/>
            <a:ext cx="6492240" cy="502920"/>
          </a:xfrm>
          <a:prstGeom prst="rect">
            <a:avLst/>
          </a:prstGeom>
          <a:noFill/>
        </p:spPr>
        <p:txBody>
          <a:bodyPr wrap="square">
            <a:spAutoFit/>
          </a:bodyPr>
          <a:lstStyle/>
          <a:p>
            <a:pPr algn="l"/>
            <a:r>
              <a:rPr sz="1200" b="0" i="0">
                <a:solidFill>
                  <a:srgbClr val="333333"/>
                </a:solidFill>
                <a:latin typeface="Calibri"/>
              </a:rPr>
              <a:t>PWM-controlled Buck/Boost, adjustable output, 20 kHz switching</a:t>
            </a:r>
          </a:p>
        </p:txBody>
      </p:sp>
      <p:sp>
        <p:nvSpPr>
          <p:cNvPr id="20" name="Rectangle 19"/>
          <p:cNvSpPr/>
          <p:nvPr/>
        </p:nvSpPr>
        <p:spPr>
          <a:xfrm>
            <a:off x="274320" y="2743200"/>
            <a:ext cx="2560320" cy="603504"/>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2798064"/>
            <a:ext cx="2377440" cy="502920"/>
          </a:xfrm>
          <a:prstGeom prst="rect">
            <a:avLst/>
          </a:prstGeom>
          <a:noFill/>
        </p:spPr>
        <p:txBody>
          <a:bodyPr wrap="square">
            <a:spAutoFit/>
          </a:bodyPr>
          <a:lstStyle/>
          <a:p>
            <a:pPr algn="l"/>
            <a:r>
              <a:rPr sz="1300" b="1" i="0">
                <a:solidFill>
                  <a:srgbClr val="FFFFFF"/>
                </a:solidFill>
                <a:latin typeface="Calibri"/>
              </a:rPr>
              <a:t>Supercapacitor</a:t>
            </a:r>
          </a:p>
        </p:txBody>
      </p:sp>
      <p:sp>
        <p:nvSpPr>
          <p:cNvPr id="22" name="Rectangle 21"/>
          <p:cNvSpPr/>
          <p:nvPr/>
        </p:nvSpPr>
        <p:spPr>
          <a:xfrm>
            <a:off x="2926080" y="274320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17520" y="2798064"/>
            <a:ext cx="2103120" cy="502920"/>
          </a:xfrm>
          <a:prstGeom prst="rect">
            <a:avLst/>
          </a:prstGeom>
          <a:noFill/>
        </p:spPr>
        <p:txBody>
          <a:bodyPr wrap="square">
            <a:spAutoFit/>
          </a:bodyPr>
          <a:lstStyle/>
          <a:p>
            <a:pPr algn="l"/>
            <a:r>
              <a:rPr sz="1300" b="0" i="0">
                <a:solidFill>
                  <a:srgbClr val="003366"/>
                </a:solidFill>
                <a:latin typeface="Calibri"/>
              </a:rPr>
              <a:t>Energy Buffer</a:t>
            </a:r>
          </a:p>
        </p:txBody>
      </p:sp>
      <p:sp>
        <p:nvSpPr>
          <p:cNvPr id="24" name="Rectangle 23"/>
          <p:cNvSpPr/>
          <p:nvPr/>
        </p:nvSpPr>
        <p:spPr>
          <a:xfrm>
            <a:off x="5303520" y="2743200"/>
            <a:ext cx="6611112" cy="603504"/>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0" y="2798064"/>
            <a:ext cx="6492240" cy="502920"/>
          </a:xfrm>
          <a:prstGeom prst="rect">
            <a:avLst/>
          </a:prstGeom>
          <a:noFill/>
        </p:spPr>
        <p:txBody>
          <a:bodyPr wrap="square">
            <a:spAutoFit/>
          </a:bodyPr>
          <a:lstStyle/>
          <a:p>
            <a:pPr algn="l"/>
            <a:r>
              <a:rPr sz="1200" b="0" i="0">
                <a:solidFill>
                  <a:srgbClr val="333333"/>
                </a:solidFill>
                <a:latin typeface="Calibri"/>
              </a:rPr>
              <a:t>EDLC, 2.7V/cell, 10–100F, fast charge/discharge, &gt;500k cycles</a:t>
            </a:r>
          </a:p>
        </p:txBody>
      </p:sp>
      <p:sp>
        <p:nvSpPr>
          <p:cNvPr id="26" name="Rectangle 25"/>
          <p:cNvSpPr/>
          <p:nvPr/>
        </p:nvSpPr>
        <p:spPr>
          <a:xfrm>
            <a:off x="274320" y="3383280"/>
            <a:ext cx="2560320" cy="603504"/>
          </a:xfrm>
          <a:prstGeom prst="rect">
            <a:avLst/>
          </a:prstGeom>
          <a:solidFill>
            <a:srgbClr val="0088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3438144"/>
            <a:ext cx="2377440" cy="502920"/>
          </a:xfrm>
          <a:prstGeom prst="rect">
            <a:avLst/>
          </a:prstGeom>
          <a:noFill/>
        </p:spPr>
        <p:txBody>
          <a:bodyPr wrap="square">
            <a:spAutoFit/>
          </a:bodyPr>
          <a:lstStyle/>
          <a:p>
            <a:pPr algn="l"/>
            <a:r>
              <a:rPr sz="1300" b="1" i="0">
                <a:solidFill>
                  <a:srgbClr val="FFFFFF"/>
                </a:solidFill>
                <a:latin typeface="Calibri"/>
              </a:rPr>
              <a:t>Battery/Load</a:t>
            </a:r>
          </a:p>
        </p:txBody>
      </p:sp>
      <p:sp>
        <p:nvSpPr>
          <p:cNvPr id="28" name="Rectangle 27"/>
          <p:cNvSpPr/>
          <p:nvPr/>
        </p:nvSpPr>
        <p:spPr>
          <a:xfrm>
            <a:off x="2926080" y="338328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3438144"/>
            <a:ext cx="2103120" cy="502920"/>
          </a:xfrm>
          <a:prstGeom prst="rect">
            <a:avLst/>
          </a:prstGeom>
          <a:noFill/>
        </p:spPr>
        <p:txBody>
          <a:bodyPr wrap="square">
            <a:spAutoFit/>
          </a:bodyPr>
          <a:lstStyle/>
          <a:p>
            <a:pPr algn="l"/>
            <a:r>
              <a:rPr sz="1300" b="0" i="0">
                <a:solidFill>
                  <a:srgbClr val="003366"/>
                </a:solidFill>
                <a:latin typeface="Calibri"/>
              </a:rPr>
              <a:t>Charging Target</a:t>
            </a:r>
          </a:p>
        </p:txBody>
      </p:sp>
      <p:sp>
        <p:nvSpPr>
          <p:cNvPr id="30" name="Rectangle 29"/>
          <p:cNvSpPr/>
          <p:nvPr/>
        </p:nvSpPr>
        <p:spPr>
          <a:xfrm>
            <a:off x="5303520" y="3383280"/>
            <a:ext cx="6611112"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94960" y="3438144"/>
            <a:ext cx="6492240" cy="502920"/>
          </a:xfrm>
          <a:prstGeom prst="rect">
            <a:avLst/>
          </a:prstGeom>
          <a:noFill/>
        </p:spPr>
        <p:txBody>
          <a:bodyPr wrap="square">
            <a:spAutoFit/>
          </a:bodyPr>
          <a:lstStyle/>
          <a:p>
            <a:pPr algn="l"/>
            <a:r>
              <a:rPr sz="1200" b="0" i="0">
                <a:solidFill>
                  <a:srgbClr val="333333"/>
                </a:solidFill>
                <a:latin typeface="Calibri"/>
              </a:rPr>
              <a:t>Li-ion equivalent, 3.7–7.4V, prototype scale (&lt;1 Ah)</a:t>
            </a:r>
          </a:p>
        </p:txBody>
      </p:sp>
      <p:sp>
        <p:nvSpPr>
          <p:cNvPr id="32" name="Rectangle 31"/>
          <p:cNvSpPr/>
          <p:nvPr/>
        </p:nvSpPr>
        <p:spPr>
          <a:xfrm>
            <a:off x="274320" y="4023360"/>
            <a:ext cx="2560320" cy="603504"/>
          </a:xfrm>
          <a:prstGeom prst="rect">
            <a:avLst/>
          </a:prstGeom>
          <a:solidFill>
            <a:srgbClr val="88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4078224"/>
            <a:ext cx="2377440" cy="502920"/>
          </a:xfrm>
          <a:prstGeom prst="rect">
            <a:avLst/>
          </a:prstGeom>
          <a:noFill/>
        </p:spPr>
        <p:txBody>
          <a:bodyPr wrap="square">
            <a:spAutoFit/>
          </a:bodyPr>
          <a:lstStyle/>
          <a:p>
            <a:pPr algn="l"/>
            <a:r>
              <a:rPr sz="1300" b="1" i="0">
                <a:solidFill>
                  <a:srgbClr val="FFFFFF"/>
                </a:solidFill>
                <a:latin typeface="Calibri"/>
              </a:rPr>
              <a:t>Voltage Sensor</a:t>
            </a:r>
          </a:p>
        </p:txBody>
      </p:sp>
      <p:sp>
        <p:nvSpPr>
          <p:cNvPr id="34" name="Rectangle 33"/>
          <p:cNvSpPr/>
          <p:nvPr/>
        </p:nvSpPr>
        <p:spPr>
          <a:xfrm>
            <a:off x="2926080" y="402336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017520" y="4078224"/>
            <a:ext cx="2103120" cy="502920"/>
          </a:xfrm>
          <a:prstGeom prst="rect">
            <a:avLst/>
          </a:prstGeom>
          <a:noFill/>
        </p:spPr>
        <p:txBody>
          <a:bodyPr wrap="square">
            <a:spAutoFit/>
          </a:bodyPr>
          <a:lstStyle/>
          <a:p>
            <a:pPr algn="l"/>
            <a:r>
              <a:rPr sz="1300" b="0" i="0">
                <a:solidFill>
                  <a:srgbClr val="003366"/>
                </a:solidFill>
                <a:latin typeface="Calibri"/>
              </a:rPr>
              <a:t>V Measurement</a:t>
            </a:r>
          </a:p>
        </p:txBody>
      </p:sp>
      <p:sp>
        <p:nvSpPr>
          <p:cNvPr id="36" name="Rectangle 35"/>
          <p:cNvSpPr/>
          <p:nvPr/>
        </p:nvSpPr>
        <p:spPr>
          <a:xfrm>
            <a:off x="5303520" y="4023360"/>
            <a:ext cx="6611112" cy="603504"/>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0" y="4078224"/>
            <a:ext cx="6492240" cy="502920"/>
          </a:xfrm>
          <a:prstGeom prst="rect">
            <a:avLst/>
          </a:prstGeom>
          <a:noFill/>
        </p:spPr>
        <p:txBody>
          <a:bodyPr wrap="square">
            <a:spAutoFit/>
          </a:bodyPr>
          <a:lstStyle/>
          <a:p>
            <a:pPr algn="l"/>
            <a:r>
              <a:rPr sz="1200" b="0" i="0">
                <a:solidFill>
                  <a:srgbClr val="333333"/>
                </a:solidFill>
                <a:latin typeface="Calibri"/>
              </a:rPr>
              <a:t>Resistor divider, ADC-compatible (0–3.3V), calibrated</a:t>
            </a:r>
          </a:p>
        </p:txBody>
      </p:sp>
      <p:sp>
        <p:nvSpPr>
          <p:cNvPr id="38" name="Rectangle 37"/>
          <p:cNvSpPr/>
          <p:nvPr/>
        </p:nvSpPr>
        <p:spPr>
          <a:xfrm>
            <a:off x="274320" y="4663440"/>
            <a:ext cx="2560320" cy="603504"/>
          </a:xfrm>
          <a:prstGeom prst="rect">
            <a:avLst/>
          </a:prstGeom>
          <a:solidFill>
            <a:srgbClr val="88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4718304"/>
            <a:ext cx="2377440" cy="502920"/>
          </a:xfrm>
          <a:prstGeom prst="rect">
            <a:avLst/>
          </a:prstGeom>
          <a:noFill/>
        </p:spPr>
        <p:txBody>
          <a:bodyPr wrap="square">
            <a:spAutoFit/>
          </a:bodyPr>
          <a:lstStyle/>
          <a:p>
            <a:pPr algn="l"/>
            <a:r>
              <a:rPr sz="1300" b="1" i="0">
                <a:solidFill>
                  <a:srgbClr val="FFFFFF"/>
                </a:solidFill>
                <a:latin typeface="Calibri"/>
              </a:rPr>
              <a:t>Current Sensor</a:t>
            </a:r>
          </a:p>
        </p:txBody>
      </p:sp>
      <p:sp>
        <p:nvSpPr>
          <p:cNvPr id="40" name="Rectangle 39"/>
          <p:cNvSpPr/>
          <p:nvPr/>
        </p:nvSpPr>
        <p:spPr>
          <a:xfrm>
            <a:off x="2926080" y="466344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017520" y="4718304"/>
            <a:ext cx="2103120" cy="502920"/>
          </a:xfrm>
          <a:prstGeom prst="rect">
            <a:avLst/>
          </a:prstGeom>
          <a:noFill/>
        </p:spPr>
        <p:txBody>
          <a:bodyPr wrap="square">
            <a:spAutoFit/>
          </a:bodyPr>
          <a:lstStyle/>
          <a:p>
            <a:pPr algn="l"/>
            <a:r>
              <a:rPr sz="1300" b="0" i="0">
                <a:solidFill>
                  <a:srgbClr val="003366"/>
                </a:solidFill>
                <a:latin typeface="Calibri"/>
              </a:rPr>
              <a:t>I Measurement</a:t>
            </a:r>
          </a:p>
        </p:txBody>
      </p:sp>
      <p:sp>
        <p:nvSpPr>
          <p:cNvPr id="42" name="Rectangle 41"/>
          <p:cNvSpPr/>
          <p:nvPr/>
        </p:nvSpPr>
        <p:spPr>
          <a:xfrm>
            <a:off x="5303520" y="4663440"/>
            <a:ext cx="6611112"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394960" y="4718304"/>
            <a:ext cx="6492240" cy="502920"/>
          </a:xfrm>
          <a:prstGeom prst="rect">
            <a:avLst/>
          </a:prstGeom>
          <a:noFill/>
        </p:spPr>
        <p:txBody>
          <a:bodyPr wrap="square">
            <a:spAutoFit/>
          </a:bodyPr>
          <a:lstStyle/>
          <a:p>
            <a:pPr algn="l"/>
            <a:r>
              <a:rPr sz="1200" b="0" i="0">
                <a:solidFill>
                  <a:srgbClr val="333333"/>
                </a:solidFill>
                <a:latin typeface="Calibri"/>
              </a:rPr>
              <a:t>ACS712 Hall-effect or INA219 I2C, 0–5A, 185 mV/A</a:t>
            </a:r>
          </a:p>
        </p:txBody>
      </p:sp>
      <p:sp>
        <p:nvSpPr>
          <p:cNvPr id="44" name="Rectangle 43"/>
          <p:cNvSpPr/>
          <p:nvPr/>
        </p:nvSpPr>
        <p:spPr>
          <a:xfrm>
            <a:off x="274320" y="5303520"/>
            <a:ext cx="2560320" cy="603504"/>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60" y="5358384"/>
            <a:ext cx="2377440" cy="502920"/>
          </a:xfrm>
          <a:prstGeom prst="rect">
            <a:avLst/>
          </a:prstGeom>
          <a:noFill/>
        </p:spPr>
        <p:txBody>
          <a:bodyPr wrap="square">
            <a:spAutoFit/>
          </a:bodyPr>
          <a:lstStyle/>
          <a:p>
            <a:pPr algn="l"/>
            <a:r>
              <a:rPr sz="1300" b="1" i="0">
                <a:solidFill>
                  <a:srgbClr val="FFFFFF"/>
                </a:solidFill>
                <a:latin typeface="Calibri"/>
              </a:rPr>
              <a:t>ESP8266 NodeMCU</a:t>
            </a:r>
          </a:p>
        </p:txBody>
      </p:sp>
      <p:sp>
        <p:nvSpPr>
          <p:cNvPr id="46" name="Rectangle 45"/>
          <p:cNvSpPr/>
          <p:nvPr/>
        </p:nvSpPr>
        <p:spPr>
          <a:xfrm>
            <a:off x="2926080" y="530352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17520" y="5358384"/>
            <a:ext cx="2103120" cy="502920"/>
          </a:xfrm>
          <a:prstGeom prst="rect">
            <a:avLst/>
          </a:prstGeom>
          <a:noFill/>
        </p:spPr>
        <p:txBody>
          <a:bodyPr wrap="square">
            <a:spAutoFit/>
          </a:bodyPr>
          <a:lstStyle/>
          <a:p>
            <a:pPr algn="l"/>
            <a:r>
              <a:rPr sz="1300" b="0" i="0">
                <a:solidFill>
                  <a:srgbClr val="003366"/>
                </a:solidFill>
                <a:latin typeface="Calibri"/>
              </a:rPr>
              <a:t>WiFi IoT Gateway</a:t>
            </a:r>
          </a:p>
        </p:txBody>
      </p:sp>
      <p:sp>
        <p:nvSpPr>
          <p:cNvPr id="48" name="Rectangle 47"/>
          <p:cNvSpPr/>
          <p:nvPr/>
        </p:nvSpPr>
        <p:spPr>
          <a:xfrm>
            <a:off x="5303520" y="5303520"/>
            <a:ext cx="6611112" cy="603504"/>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394960" y="5358384"/>
            <a:ext cx="6492240" cy="502920"/>
          </a:xfrm>
          <a:prstGeom prst="rect">
            <a:avLst/>
          </a:prstGeom>
          <a:noFill/>
        </p:spPr>
        <p:txBody>
          <a:bodyPr wrap="square">
            <a:spAutoFit/>
          </a:bodyPr>
          <a:lstStyle/>
          <a:p>
            <a:pPr algn="l"/>
            <a:r>
              <a:rPr sz="1200" b="0" i="0">
                <a:solidFill>
                  <a:srgbClr val="333333"/>
                </a:solidFill>
                <a:latin typeface="Calibri"/>
              </a:rPr>
              <a:t>IEEE 802.11 b/g/n, Arduino framework, SPIFFS, HTTP/MQTT</a:t>
            </a:r>
          </a:p>
        </p:txBody>
      </p:sp>
      <p:sp>
        <p:nvSpPr>
          <p:cNvPr id="50" name="Rectangle 49"/>
          <p:cNvSpPr/>
          <p:nvPr/>
        </p:nvSpPr>
        <p:spPr>
          <a:xfrm>
            <a:off x="274320" y="5943600"/>
            <a:ext cx="2560320" cy="603504"/>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65760" y="5998464"/>
            <a:ext cx="2377440" cy="502920"/>
          </a:xfrm>
          <a:prstGeom prst="rect">
            <a:avLst/>
          </a:prstGeom>
          <a:noFill/>
        </p:spPr>
        <p:txBody>
          <a:bodyPr wrap="square">
            <a:spAutoFit/>
          </a:bodyPr>
          <a:lstStyle/>
          <a:p>
            <a:pPr algn="l"/>
            <a:r>
              <a:rPr sz="1300" b="1" i="0">
                <a:solidFill>
                  <a:srgbClr val="FFFFFF"/>
                </a:solidFill>
                <a:latin typeface="Calibri"/>
              </a:rPr>
              <a:t>DC Power Supply</a:t>
            </a:r>
          </a:p>
        </p:txBody>
      </p:sp>
      <p:sp>
        <p:nvSpPr>
          <p:cNvPr id="52" name="Rectangle 51"/>
          <p:cNvSpPr/>
          <p:nvPr/>
        </p:nvSpPr>
        <p:spPr>
          <a:xfrm>
            <a:off x="2926080" y="5943600"/>
            <a:ext cx="2286000" cy="603504"/>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017520" y="5998464"/>
            <a:ext cx="2103120" cy="502920"/>
          </a:xfrm>
          <a:prstGeom prst="rect">
            <a:avLst/>
          </a:prstGeom>
          <a:noFill/>
        </p:spPr>
        <p:txBody>
          <a:bodyPr wrap="square">
            <a:spAutoFit/>
          </a:bodyPr>
          <a:lstStyle/>
          <a:p>
            <a:pPr algn="l"/>
            <a:r>
              <a:rPr sz="1300" b="0" i="0">
                <a:solidFill>
                  <a:srgbClr val="003366"/>
                </a:solidFill>
                <a:latin typeface="Calibri"/>
              </a:rPr>
              <a:t>Input Source</a:t>
            </a:r>
          </a:p>
        </p:txBody>
      </p:sp>
      <p:sp>
        <p:nvSpPr>
          <p:cNvPr id="54" name="Rectangle 53"/>
          <p:cNvSpPr/>
          <p:nvPr/>
        </p:nvSpPr>
        <p:spPr>
          <a:xfrm>
            <a:off x="5303520" y="5943600"/>
            <a:ext cx="6611112"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394960" y="5998464"/>
            <a:ext cx="6492240" cy="502920"/>
          </a:xfrm>
          <a:prstGeom prst="rect">
            <a:avLst/>
          </a:prstGeom>
          <a:noFill/>
        </p:spPr>
        <p:txBody>
          <a:bodyPr wrap="square">
            <a:spAutoFit/>
          </a:bodyPr>
          <a:lstStyle/>
          <a:p>
            <a:pPr algn="l"/>
            <a:r>
              <a:rPr sz="1200" b="0" i="0">
                <a:solidFill>
                  <a:srgbClr val="333333"/>
                </a:solidFill>
                <a:latin typeface="Calibri"/>
              </a:rPr>
              <a:t>Regulated 5–12V DC, adjustable (simulates solar variability)</a:t>
            </a:r>
          </a:p>
        </p:txBody>
      </p:sp>
      <p:sp>
        <p:nvSpPr>
          <p:cNvPr id="56" name="Rectangle 55"/>
          <p:cNvSpPr/>
          <p:nvPr/>
        </p:nvSpPr>
        <p:spPr>
          <a:xfrm>
            <a:off x="274320" y="1417320"/>
            <a:ext cx="11640312" cy="4572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Design Considerations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Safety, Modularity &amp; Monitoring Architecture</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17320"/>
            <a:ext cx="73152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554480"/>
            <a:ext cx="731520" cy="640080"/>
          </a:xfrm>
          <a:prstGeom prst="rect">
            <a:avLst/>
          </a:prstGeom>
          <a:noFill/>
        </p:spPr>
        <p:txBody>
          <a:bodyPr wrap="square">
            <a:spAutoFit/>
          </a:bodyPr>
          <a:lstStyle/>
          <a:p>
            <a:pPr algn="ctr"/>
            <a:r>
              <a:rPr sz="2800" b="0" i="0">
                <a:solidFill>
                  <a:srgbClr val="FFFFFF"/>
                </a:solidFill>
                <a:latin typeface="Calibri"/>
              </a:rPr>
              <a:t>🔒</a:t>
            </a:r>
          </a:p>
        </p:txBody>
      </p:sp>
      <p:sp>
        <p:nvSpPr>
          <p:cNvPr id="10" name="Rectangle 9"/>
          <p:cNvSpPr/>
          <p:nvPr/>
        </p:nvSpPr>
        <p:spPr>
          <a:xfrm>
            <a:off x="1097280" y="1417320"/>
            <a:ext cx="108173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1463040"/>
            <a:ext cx="10515600" cy="347472"/>
          </a:xfrm>
          <a:prstGeom prst="rect">
            <a:avLst/>
          </a:prstGeom>
          <a:noFill/>
        </p:spPr>
        <p:txBody>
          <a:bodyPr wrap="square">
            <a:spAutoFit/>
          </a:bodyPr>
          <a:lstStyle/>
          <a:p>
            <a:pPr algn="l"/>
            <a:r>
              <a:rPr sz="1600" b="1" i="0">
                <a:solidFill>
                  <a:srgbClr val="003366"/>
                </a:solidFill>
                <a:latin typeface="Calibri"/>
              </a:rPr>
              <a:t>Low-Power Prototype Safety</a:t>
            </a:r>
          </a:p>
        </p:txBody>
      </p:sp>
      <p:sp>
        <p:nvSpPr>
          <p:cNvPr id="12" name="TextBox 11"/>
          <p:cNvSpPr txBox="1"/>
          <p:nvPr/>
        </p:nvSpPr>
        <p:spPr>
          <a:xfrm>
            <a:off x="1234440" y="1837944"/>
            <a:ext cx="10515600" cy="438912"/>
          </a:xfrm>
          <a:prstGeom prst="rect">
            <a:avLst/>
          </a:prstGeom>
          <a:noFill/>
        </p:spPr>
        <p:txBody>
          <a:bodyPr wrap="square">
            <a:spAutoFit/>
          </a:bodyPr>
          <a:lstStyle/>
          <a:p>
            <a:pPr algn="l"/>
            <a:r>
              <a:rPr sz="1300" b="0" i="0">
                <a:solidFill>
                  <a:srgbClr val="333333"/>
                </a:solidFill>
                <a:latin typeface="Calibri"/>
              </a:rPr>
              <a:t>5–12V DC operation; no mains voltage. All components rated within safe limits. Hardware over-current protection via fuse.</a:t>
            </a:r>
          </a:p>
        </p:txBody>
      </p:sp>
      <p:sp>
        <p:nvSpPr>
          <p:cNvPr id="13" name="Rectangle 12"/>
          <p:cNvSpPr/>
          <p:nvPr/>
        </p:nvSpPr>
        <p:spPr>
          <a:xfrm>
            <a:off x="274320" y="2395728"/>
            <a:ext cx="73152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532888"/>
            <a:ext cx="731520" cy="640080"/>
          </a:xfrm>
          <a:prstGeom prst="rect">
            <a:avLst/>
          </a:prstGeom>
          <a:noFill/>
        </p:spPr>
        <p:txBody>
          <a:bodyPr wrap="square">
            <a:spAutoFit/>
          </a:bodyPr>
          <a:lstStyle/>
          <a:p>
            <a:pPr algn="ctr"/>
            <a:r>
              <a:rPr sz="2800" b="0" i="0">
                <a:solidFill>
                  <a:srgbClr val="FFFFFF"/>
                </a:solidFill>
                <a:latin typeface="Calibri"/>
              </a:rPr>
              <a:t>🧩</a:t>
            </a:r>
          </a:p>
        </p:txBody>
      </p:sp>
      <p:sp>
        <p:nvSpPr>
          <p:cNvPr id="15" name="Rectangle 14"/>
          <p:cNvSpPr/>
          <p:nvPr/>
        </p:nvSpPr>
        <p:spPr>
          <a:xfrm>
            <a:off x="1097280" y="2395728"/>
            <a:ext cx="108173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441448"/>
            <a:ext cx="10515600" cy="347472"/>
          </a:xfrm>
          <a:prstGeom prst="rect">
            <a:avLst/>
          </a:prstGeom>
          <a:noFill/>
        </p:spPr>
        <p:txBody>
          <a:bodyPr wrap="square">
            <a:spAutoFit/>
          </a:bodyPr>
          <a:lstStyle/>
          <a:p>
            <a:pPr algn="l"/>
            <a:r>
              <a:rPr sz="1600" b="1" i="0">
                <a:solidFill>
                  <a:srgbClr val="003366"/>
                </a:solidFill>
                <a:latin typeface="Calibri"/>
              </a:rPr>
              <a:t>Modular Architecture</a:t>
            </a:r>
          </a:p>
        </p:txBody>
      </p:sp>
      <p:sp>
        <p:nvSpPr>
          <p:cNvPr id="17" name="TextBox 16"/>
          <p:cNvSpPr txBox="1"/>
          <p:nvPr/>
        </p:nvSpPr>
        <p:spPr>
          <a:xfrm>
            <a:off x="1234440" y="2816352"/>
            <a:ext cx="10515600" cy="438912"/>
          </a:xfrm>
          <a:prstGeom prst="rect">
            <a:avLst/>
          </a:prstGeom>
          <a:noFill/>
        </p:spPr>
        <p:txBody>
          <a:bodyPr wrap="square">
            <a:spAutoFit/>
          </a:bodyPr>
          <a:lstStyle/>
          <a:p>
            <a:pPr algn="l"/>
            <a:r>
              <a:rPr sz="1300" b="0" i="0">
                <a:solidFill>
                  <a:srgbClr val="333333"/>
                </a:solidFill>
                <a:latin typeface="Calibri"/>
              </a:rPr>
              <a:t>Six independent modules: Sensor, PWM Control, Supercap Monitor, Power Calc, Communication, IoT Gateway. Each tested independently.</a:t>
            </a:r>
          </a:p>
        </p:txBody>
      </p:sp>
      <p:sp>
        <p:nvSpPr>
          <p:cNvPr id="18" name="Rectangle 17"/>
          <p:cNvSpPr/>
          <p:nvPr/>
        </p:nvSpPr>
        <p:spPr>
          <a:xfrm>
            <a:off x="274320" y="3374136"/>
            <a:ext cx="73152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3511296"/>
            <a:ext cx="731520" cy="640080"/>
          </a:xfrm>
          <a:prstGeom prst="rect">
            <a:avLst/>
          </a:prstGeom>
          <a:noFill/>
        </p:spPr>
        <p:txBody>
          <a:bodyPr wrap="square">
            <a:spAutoFit/>
          </a:bodyPr>
          <a:lstStyle/>
          <a:p>
            <a:pPr algn="ctr"/>
            <a:r>
              <a:rPr sz="2800" b="0" i="0">
                <a:solidFill>
                  <a:srgbClr val="FFFFFF"/>
                </a:solidFill>
                <a:latin typeface="Calibri"/>
              </a:rPr>
              <a:t>📊</a:t>
            </a:r>
          </a:p>
        </p:txBody>
      </p:sp>
      <p:sp>
        <p:nvSpPr>
          <p:cNvPr id="20" name="Rectangle 19"/>
          <p:cNvSpPr/>
          <p:nvPr/>
        </p:nvSpPr>
        <p:spPr>
          <a:xfrm>
            <a:off x="1097280" y="3374136"/>
            <a:ext cx="108173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3419856"/>
            <a:ext cx="10515600" cy="347472"/>
          </a:xfrm>
          <a:prstGeom prst="rect">
            <a:avLst/>
          </a:prstGeom>
          <a:noFill/>
        </p:spPr>
        <p:txBody>
          <a:bodyPr wrap="square">
            <a:spAutoFit/>
          </a:bodyPr>
          <a:lstStyle/>
          <a:p>
            <a:pPr algn="l"/>
            <a:r>
              <a:rPr sz="1600" b="1" i="0">
                <a:solidFill>
                  <a:srgbClr val="003366"/>
                </a:solidFill>
                <a:latin typeface="Calibri"/>
              </a:rPr>
              <a:t>Real-Time Continuous Monitoring</a:t>
            </a:r>
          </a:p>
        </p:txBody>
      </p:sp>
      <p:sp>
        <p:nvSpPr>
          <p:cNvPr id="22" name="TextBox 21"/>
          <p:cNvSpPr txBox="1"/>
          <p:nvPr/>
        </p:nvSpPr>
        <p:spPr>
          <a:xfrm>
            <a:off x="1234440" y="3794760"/>
            <a:ext cx="10515600" cy="438912"/>
          </a:xfrm>
          <a:prstGeom prst="rect">
            <a:avLst/>
          </a:prstGeom>
          <a:noFill/>
        </p:spPr>
        <p:txBody>
          <a:bodyPr wrap="square">
            <a:spAutoFit/>
          </a:bodyPr>
          <a:lstStyle/>
          <a:p>
            <a:pPr algn="l"/>
            <a:r>
              <a:rPr sz="1300" b="0" i="0">
                <a:solidFill>
                  <a:srgbClr val="333333"/>
                </a:solidFill>
                <a:latin typeface="Calibri"/>
              </a:rPr>
              <a:t>1 kHz ADC sampling via DMA. Continuous tracking of V, I, P, E. Timestamps accurate to 1 µs using TIM2 counter.</a:t>
            </a:r>
          </a:p>
        </p:txBody>
      </p:sp>
      <p:sp>
        <p:nvSpPr>
          <p:cNvPr id="23" name="Rectangle 22"/>
          <p:cNvSpPr/>
          <p:nvPr/>
        </p:nvSpPr>
        <p:spPr>
          <a:xfrm>
            <a:off x="274320" y="4352544"/>
            <a:ext cx="73152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4489704"/>
            <a:ext cx="731520" cy="640080"/>
          </a:xfrm>
          <a:prstGeom prst="rect">
            <a:avLst/>
          </a:prstGeom>
          <a:noFill/>
        </p:spPr>
        <p:txBody>
          <a:bodyPr wrap="square">
            <a:spAutoFit/>
          </a:bodyPr>
          <a:lstStyle/>
          <a:p>
            <a:pPr algn="ctr"/>
            <a:r>
              <a:rPr sz="2800" b="0" i="0">
                <a:solidFill>
                  <a:srgbClr val="FFFFFF"/>
                </a:solidFill>
                <a:latin typeface="Calibri"/>
              </a:rPr>
              <a:t>📡</a:t>
            </a:r>
          </a:p>
        </p:txBody>
      </p:sp>
      <p:sp>
        <p:nvSpPr>
          <p:cNvPr id="25" name="Rectangle 24"/>
          <p:cNvSpPr/>
          <p:nvPr/>
        </p:nvSpPr>
        <p:spPr>
          <a:xfrm>
            <a:off x="1097280" y="4352544"/>
            <a:ext cx="108173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398264"/>
            <a:ext cx="10515600" cy="347472"/>
          </a:xfrm>
          <a:prstGeom prst="rect">
            <a:avLst/>
          </a:prstGeom>
          <a:noFill/>
        </p:spPr>
        <p:txBody>
          <a:bodyPr wrap="square">
            <a:spAutoFit/>
          </a:bodyPr>
          <a:lstStyle/>
          <a:p>
            <a:pPr algn="l"/>
            <a:r>
              <a:rPr sz="1600" b="1" i="0">
                <a:solidFill>
                  <a:srgbClr val="003366"/>
                </a:solidFill>
                <a:latin typeface="Calibri"/>
              </a:rPr>
              <a:t>Standard Communication Interfaces</a:t>
            </a:r>
          </a:p>
        </p:txBody>
      </p:sp>
      <p:sp>
        <p:nvSpPr>
          <p:cNvPr id="27" name="TextBox 26"/>
          <p:cNvSpPr txBox="1"/>
          <p:nvPr/>
        </p:nvSpPr>
        <p:spPr>
          <a:xfrm>
            <a:off x="1234440" y="4773168"/>
            <a:ext cx="10515600" cy="438912"/>
          </a:xfrm>
          <a:prstGeom prst="rect">
            <a:avLst/>
          </a:prstGeom>
          <a:noFill/>
        </p:spPr>
        <p:txBody>
          <a:bodyPr wrap="square">
            <a:spAutoFit/>
          </a:bodyPr>
          <a:lstStyle/>
          <a:p>
            <a:pPr algn="l"/>
            <a:r>
              <a:rPr sz="1300" b="0" i="0">
                <a:solidFill>
                  <a:srgbClr val="333333"/>
                </a:solidFill>
                <a:latin typeface="Calibri"/>
              </a:rPr>
              <a:t>UART (115200 baud, 8N1) between STM32 and ESP8266. JSON data format. WiFi (IEEE 802.11 b/g/n) to cloud. WebSocket for real-time dashboard.</a:t>
            </a:r>
          </a:p>
        </p:txBody>
      </p:sp>
      <p:sp>
        <p:nvSpPr>
          <p:cNvPr id="28" name="Rectangle 27"/>
          <p:cNvSpPr/>
          <p:nvPr/>
        </p:nvSpPr>
        <p:spPr>
          <a:xfrm>
            <a:off x="274320" y="5330952"/>
            <a:ext cx="731520" cy="9144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5468112"/>
            <a:ext cx="731520" cy="640080"/>
          </a:xfrm>
          <a:prstGeom prst="rect">
            <a:avLst/>
          </a:prstGeom>
          <a:noFill/>
        </p:spPr>
        <p:txBody>
          <a:bodyPr wrap="square">
            <a:spAutoFit/>
          </a:bodyPr>
          <a:lstStyle/>
          <a:p>
            <a:pPr algn="ctr"/>
            <a:r>
              <a:rPr sz="2800" b="0" i="0">
                <a:solidFill>
                  <a:srgbClr val="FFFFFF"/>
                </a:solidFill>
                <a:latin typeface="Calibri"/>
              </a:rPr>
              <a:t>🔇</a:t>
            </a:r>
          </a:p>
        </p:txBody>
      </p:sp>
      <p:sp>
        <p:nvSpPr>
          <p:cNvPr id="30" name="Rectangle 29"/>
          <p:cNvSpPr/>
          <p:nvPr/>
        </p:nvSpPr>
        <p:spPr>
          <a:xfrm>
            <a:off x="1097280" y="5330952"/>
            <a:ext cx="108173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4440" y="5376672"/>
            <a:ext cx="10515600" cy="347472"/>
          </a:xfrm>
          <a:prstGeom prst="rect">
            <a:avLst/>
          </a:prstGeom>
          <a:noFill/>
        </p:spPr>
        <p:txBody>
          <a:bodyPr wrap="square">
            <a:spAutoFit/>
          </a:bodyPr>
          <a:lstStyle/>
          <a:p>
            <a:pPr algn="l"/>
            <a:r>
              <a:rPr sz="1600" b="1" i="0">
                <a:solidFill>
                  <a:srgbClr val="003366"/>
                </a:solidFill>
                <a:latin typeface="Calibri"/>
              </a:rPr>
              <a:t>Noise Minimization</a:t>
            </a:r>
          </a:p>
        </p:txBody>
      </p:sp>
      <p:sp>
        <p:nvSpPr>
          <p:cNvPr id="32" name="TextBox 31"/>
          <p:cNvSpPr txBox="1"/>
          <p:nvPr/>
        </p:nvSpPr>
        <p:spPr>
          <a:xfrm>
            <a:off x="1234440" y="5751576"/>
            <a:ext cx="10515600" cy="438912"/>
          </a:xfrm>
          <a:prstGeom prst="rect">
            <a:avLst/>
          </a:prstGeom>
          <a:noFill/>
        </p:spPr>
        <p:txBody>
          <a:bodyPr wrap="square">
            <a:spAutoFit/>
          </a:bodyPr>
          <a:lstStyle/>
          <a:p>
            <a:pPr algn="l"/>
            <a:r>
              <a:rPr sz="1300" b="0" i="0">
                <a:solidFill>
                  <a:srgbClr val="333333"/>
                </a:solidFill>
                <a:latin typeface="Calibri"/>
              </a:rPr>
              <a:t>RC low-pass filter on ADC inputs (f_c = 16 kHz). Moving average (N=16) filter in firmware. Star grounding topology. Decoupling capacitors at all 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Design Considerations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Computation &amp; Control Methodology</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66928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566928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79" y="1508760"/>
            <a:ext cx="5394960" cy="320040"/>
          </a:xfrm>
          <a:prstGeom prst="rect">
            <a:avLst/>
          </a:prstGeom>
          <a:noFill/>
        </p:spPr>
        <p:txBody>
          <a:bodyPr wrap="square">
            <a:spAutoFit/>
          </a:bodyPr>
          <a:lstStyle/>
          <a:p>
            <a:pPr algn="l"/>
            <a:r>
              <a:rPr sz="1500" b="1" i="0">
                <a:solidFill>
                  <a:srgbClr val="FFFFFF"/>
                </a:solidFill>
                <a:latin typeface="Calibri"/>
              </a:rPr>
              <a:t>Instantaneous Power</a:t>
            </a:r>
          </a:p>
        </p:txBody>
      </p:sp>
      <p:sp>
        <p:nvSpPr>
          <p:cNvPr id="11" name="Rectangle 10"/>
          <p:cNvSpPr/>
          <p:nvPr/>
        </p:nvSpPr>
        <p:spPr>
          <a:xfrm>
            <a:off x="411479" y="1965960"/>
            <a:ext cx="539496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011680"/>
            <a:ext cx="5303520" cy="548640"/>
          </a:xfrm>
          <a:prstGeom prst="rect">
            <a:avLst/>
          </a:prstGeom>
          <a:noFill/>
        </p:spPr>
        <p:txBody>
          <a:bodyPr wrap="square">
            <a:spAutoFit/>
          </a:bodyPr>
          <a:lstStyle/>
          <a:p>
            <a:pPr algn="ctr"/>
            <a:r>
              <a:rPr sz="1800" b="1" i="0">
                <a:solidFill>
                  <a:srgbClr val="003366"/>
                </a:solidFill>
                <a:latin typeface="Courier New"/>
              </a:rPr>
              <a:t>P(t) = V(t) × I(t)</a:t>
            </a:r>
          </a:p>
        </p:txBody>
      </p:sp>
      <p:sp>
        <p:nvSpPr>
          <p:cNvPr id="13" name="TextBox 12"/>
          <p:cNvSpPr txBox="1"/>
          <p:nvPr/>
        </p:nvSpPr>
        <p:spPr>
          <a:xfrm>
            <a:off x="411479" y="2697480"/>
            <a:ext cx="5394960" cy="411480"/>
          </a:xfrm>
          <a:prstGeom prst="rect">
            <a:avLst/>
          </a:prstGeom>
          <a:noFill/>
        </p:spPr>
        <p:txBody>
          <a:bodyPr wrap="square">
            <a:spAutoFit/>
          </a:bodyPr>
          <a:lstStyle/>
          <a:p>
            <a:pPr algn="l"/>
            <a:r>
              <a:rPr sz="1300" b="0" i="1">
                <a:solidFill>
                  <a:srgbClr val="333333"/>
                </a:solidFill>
                <a:latin typeface="Calibri"/>
              </a:rPr>
              <a:t>Power in Watts at each sample</a:t>
            </a:r>
          </a:p>
        </p:txBody>
      </p:sp>
      <p:sp>
        <p:nvSpPr>
          <p:cNvPr id="14" name="Rectangle 13"/>
          <p:cNvSpPr/>
          <p:nvPr/>
        </p:nvSpPr>
        <p:spPr>
          <a:xfrm>
            <a:off x="6217920" y="1463040"/>
            <a:ext cx="566928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463040"/>
            <a:ext cx="566928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508760"/>
            <a:ext cx="5394960" cy="320040"/>
          </a:xfrm>
          <a:prstGeom prst="rect">
            <a:avLst/>
          </a:prstGeom>
          <a:noFill/>
        </p:spPr>
        <p:txBody>
          <a:bodyPr wrap="square">
            <a:spAutoFit/>
          </a:bodyPr>
          <a:lstStyle/>
          <a:p>
            <a:pPr algn="l"/>
            <a:r>
              <a:rPr sz="1500" b="1" i="0">
                <a:solidFill>
                  <a:srgbClr val="FFFFFF"/>
                </a:solidFill>
                <a:latin typeface="Calibri"/>
              </a:rPr>
              <a:t>Energy Integration</a:t>
            </a:r>
          </a:p>
        </p:txBody>
      </p:sp>
      <p:sp>
        <p:nvSpPr>
          <p:cNvPr id="17" name="Rectangle 16"/>
          <p:cNvSpPr/>
          <p:nvPr/>
        </p:nvSpPr>
        <p:spPr>
          <a:xfrm>
            <a:off x="6355080" y="1965960"/>
            <a:ext cx="539496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011680"/>
            <a:ext cx="5303520" cy="548640"/>
          </a:xfrm>
          <a:prstGeom prst="rect">
            <a:avLst/>
          </a:prstGeom>
          <a:noFill/>
        </p:spPr>
        <p:txBody>
          <a:bodyPr wrap="square">
            <a:spAutoFit/>
          </a:bodyPr>
          <a:lstStyle/>
          <a:p>
            <a:pPr algn="ctr"/>
            <a:r>
              <a:rPr sz="1800" b="1" i="0">
                <a:solidFill>
                  <a:srgbClr val="003366"/>
                </a:solidFill>
                <a:latin typeface="Courier New"/>
              </a:rPr>
              <a:t>E[n] = E[n-1] + P[n] × Δt</a:t>
            </a:r>
          </a:p>
        </p:txBody>
      </p:sp>
      <p:sp>
        <p:nvSpPr>
          <p:cNvPr id="19" name="TextBox 18"/>
          <p:cNvSpPr txBox="1"/>
          <p:nvPr/>
        </p:nvSpPr>
        <p:spPr>
          <a:xfrm>
            <a:off x="6355080" y="2697480"/>
            <a:ext cx="5394960" cy="411480"/>
          </a:xfrm>
          <a:prstGeom prst="rect">
            <a:avLst/>
          </a:prstGeom>
          <a:noFill/>
        </p:spPr>
        <p:txBody>
          <a:bodyPr wrap="square">
            <a:spAutoFit/>
          </a:bodyPr>
          <a:lstStyle/>
          <a:p>
            <a:pPr algn="l"/>
            <a:r>
              <a:rPr sz="1300" b="0" i="1">
                <a:solidFill>
                  <a:srgbClr val="333333"/>
                </a:solidFill>
                <a:latin typeface="Calibri"/>
              </a:rPr>
              <a:t>Cumulative energy (Joules → /3600 = Wh)</a:t>
            </a:r>
          </a:p>
        </p:txBody>
      </p:sp>
      <p:sp>
        <p:nvSpPr>
          <p:cNvPr id="20" name="Rectangle 19"/>
          <p:cNvSpPr/>
          <p:nvPr/>
        </p:nvSpPr>
        <p:spPr>
          <a:xfrm>
            <a:off x="274320" y="3474720"/>
            <a:ext cx="566928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3474720"/>
            <a:ext cx="566928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79" y="3520440"/>
            <a:ext cx="5394960" cy="320040"/>
          </a:xfrm>
          <a:prstGeom prst="rect">
            <a:avLst/>
          </a:prstGeom>
          <a:noFill/>
        </p:spPr>
        <p:txBody>
          <a:bodyPr wrap="square">
            <a:spAutoFit/>
          </a:bodyPr>
          <a:lstStyle/>
          <a:p>
            <a:pPr algn="l"/>
            <a:r>
              <a:rPr sz="1500" b="1" i="0">
                <a:solidFill>
                  <a:srgbClr val="FFFFFF"/>
                </a:solidFill>
                <a:latin typeface="Calibri"/>
              </a:rPr>
              <a:t>Supercap SoC</a:t>
            </a:r>
          </a:p>
        </p:txBody>
      </p:sp>
      <p:sp>
        <p:nvSpPr>
          <p:cNvPr id="23" name="Rectangle 22"/>
          <p:cNvSpPr/>
          <p:nvPr/>
        </p:nvSpPr>
        <p:spPr>
          <a:xfrm>
            <a:off x="411479" y="3977640"/>
            <a:ext cx="539496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023360"/>
            <a:ext cx="5303520" cy="548640"/>
          </a:xfrm>
          <a:prstGeom prst="rect">
            <a:avLst/>
          </a:prstGeom>
          <a:noFill/>
        </p:spPr>
        <p:txBody>
          <a:bodyPr wrap="square">
            <a:spAutoFit/>
          </a:bodyPr>
          <a:lstStyle/>
          <a:p>
            <a:pPr algn="ctr"/>
            <a:r>
              <a:rPr sz="1800" b="1" i="0">
                <a:solidFill>
                  <a:srgbClr val="003366"/>
                </a:solidFill>
                <a:latin typeface="Courier New"/>
              </a:rPr>
              <a:t>SoC = (V² − V²min)/(V²max − V²min) × 100%</a:t>
            </a:r>
          </a:p>
        </p:txBody>
      </p:sp>
      <p:sp>
        <p:nvSpPr>
          <p:cNvPr id="25" name="TextBox 24"/>
          <p:cNvSpPr txBox="1"/>
          <p:nvPr/>
        </p:nvSpPr>
        <p:spPr>
          <a:xfrm>
            <a:off x="411479" y="4709160"/>
            <a:ext cx="5394960" cy="411480"/>
          </a:xfrm>
          <a:prstGeom prst="rect">
            <a:avLst/>
          </a:prstGeom>
          <a:noFill/>
        </p:spPr>
        <p:txBody>
          <a:bodyPr wrap="square">
            <a:spAutoFit/>
          </a:bodyPr>
          <a:lstStyle/>
          <a:p>
            <a:pPr algn="l"/>
            <a:r>
              <a:rPr sz="1300" b="0" i="1">
                <a:solidFill>
                  <a:srgbClr val="333333"/>
                </a:solidFill>
                <a:latin typeface="Calibri"/>
              </a:rPr>
              <a:t>Energy-proportional SoC (%)</a:t>
            </a:r>
          </a:p>
        </p:txBody>
      </p:sp>
      <p:sp>
        <p:nvSpPr>
          <p:cNvPr id="26" name="Rectangle 25"/>
          <p:cNvSpPr/>
          <p:nvPr/>
        </p:nvSpPr>
        <p:spPr>
          <a:xfrm>
            <a:off x="6217920" y="3474720"/>
            <a:ext cx="5669280" cy="17373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3474720"/>
            <a:ext cx="566928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520440"/>
            <a:ext cx="5394960" cy="320040"/>
          </a:xfrm>
          <a:prstGeom prst="rect">
            <a:avLst/>
          </a:prstGeom>
          <a:noFill/>
        </p:spPr>
        <p:txBody>
          <a:bodyPr wrap="square">
            <a:spAutoFit/>
          </a:bodyPr>
          <a:lstStyle/>
          <a:p>
            <a:pPr algn="l"/>
            <a:r>
              <a:rPr sz="1500" b="1" i="0">
                <a:solidFill>
                  <a:srgbClr val="FFFFFF"/>
                </a:solidFill>
                <a:latin typeface="Calibri"/>
              </a:rPr>
              <a:t>Efficiency</a:t>
            </a:r>
          </a:p>
        </p:txBody>
      </p:sp>
      <p:sp>
        <p:nvSpPr>
          <p:cNvPr id="29" name="Rectangle 28"/>
          <p:cNvSpPr/>
          <p:nvPr/>
        </p:nvSpPr>
        <p:spPr>
          <a:xfrm>
            <a:off x="6355080" y="3977640"/>
            <a:ext cx="539496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023360"/>
            <a:ext cx="5303520" cy="548640"/>
          </a:xfrm>
          <a:prstGeom prst="rect">
            <a:avLst/>
          </a:prstGeom>
          <a:noFill/>
        </p:spPr>
        <p:txBody>
          <a:bodyPr wrap="square">
            <a:spAutoFit/>
          </a:bodyPr>
          <a:lstStyle/>
          <a:p>
            <a:pPr algn="ctr"/>
            <a:r>
              <a:rPr sz="1800" b="1" i="0">
                <a:solidFill>
                  <a:srgbClr val="003366"/>
                </a:solidFill>
                <a:latin typeface="Courier New"/>
              </a:rPr>
              <a:t>η = (P_out / P_in) × 100%</a:t>
            </a:r>
          </a:p>
        </p:txBody>
      </p:sp>
      <p:sp>
        <p:nvSpPr>
          <p:cNvPr id="31" name="TextBox 30"/>
          <p:cNvSpPr txBox="1"/>
          <p:nvPr/>
        </p:nvSpPr>
        <p:spPr>
          <a:xfrm>
            <a:off x="6355080" y="4709160"/>
            <a:ext cx="5394960" cy="411480"/>
          </a:xfrm>
          <a:prstGeom prst="rect">
            <a:avLst/>
          </a:prstGeom>
          <a:noFill/>
        </p:spPr>
        <p:txBody>
          <a:bodyPr wrap="square">
            <a:spAutoFit/>
          </a:bodyPr>
          <a:lstStyle/>
          <a:p>
            <a:pPr algn="l"/>
            <a:r>
              <a:rPr sz="1300" b="0" i="1">
                <a:solidFill>
                  <a:srgbClr val="333333"/>
                </a:solidFill>
                <a:latin typeface="Calibri"/>
              </a:rPr>
              <a:t>System charging efficiency</a:t>
            </a:r>
          </a:p>
        </p:txBody>
      </p:sp>
      <p:sp>
        <p:nvSpPr>
          <p:cNvPr id="32" name="Rectangle 31"/>
          <p:cNvSpPr/>
          <p:nvPr/>
        </p:nvSpPr>
        <p:spPr>
          <a:xfrm>
            <a:off x="274320" y="5532120"/>
            <a:ext cx="11640312" cy="7772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5577840"/>
            <a:ext cx="11430000" cy="685800"/>
          </a:xfrm>
          <a:prstGeom prst="rect">
            <a:avLst/>
          </a:prstGeom>
          <a:noFill/>
        </p:spPr>
        <p:txBody>
          <a:bodyPr wrap="square">
            <a:spAutoFit/>
          </a:bodyPr>
          <a:lstStyle/>
          <a:p>
            <a:pPr algn="ctr"/>
            <a:r>
              <a:rPr sz="1400" b="0" i="0">
                <a:solidFill>
                  <a:srgbClr val="003366"/>
                </a:solidFill>
                <a:latin typeface="Calibri"/>
              </a:rPr>
              <a:t>⏱️  Control Loop Target: &lt; 10 ms/cycle  |  🎛️  PI Controller: Δduty = Kp×error + Ki×∫error dt  |  🛡️  Protection: Multi-level OVP/OCP with watchdog timer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Research Methodology</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Development Phases &amp; Approach</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17320"/>
            <a:ext cx="137160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63040"/>
            <a:ext cx="1280160" cy="777240"/>
          </a:xfrm>
          <a:prstGeom prst="rect">
            <a:avLst/>
          </a:prstGeom>
          <a:noFill/>
        </p:spPr>
        <p:txBody>
          <a:bodyPr wrap="square">
            <a:spAutoFit/>
          </a:bodyPr>
          <a:lstStyle/>
          <a:p>
            <a:pPr algn="ctr"/>
            <a:r>
              <a:rPr sz="1300" b="1" i="0">
                <a:solidFill>
                  <a:srgbClr val="FFFFFF"/>
                </a:solidFill>
                <a:latin typeface="Calibri"/>
              </a:rPr>
              <a:t>Phase 1</a:t>
            </a:r>
          </a:p>
        </p:txBody>
      </p:sp>
      <p:sp>
        <p:nvSpPr>
          <p:cNvPr id="10" name="Rectangle 9"/>
          <p:cNvSpPr/>
          <p:nvPr/>
        </p:nvSpPr>
        <p:spPr>
          <a:xfrm>
            <a:off x="1737360" y="1417320"/>
            <a:ext cx="256032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1508760"/>
            <a:ext cx="2377440" cy="685800"/>
          </a:xfrm>
          <a:prstGeom prst="rect">
            <a:avLst/>
          </a:prstGeom>
          <a:noFill/>
        </p:spPr>
        <p:txBody>
          <a:bodyPr wrap="square">
            <a:spAutoFit/>
          </a:bodyPr>
          <a:lstStyle/>
          <a:p>
            <a:pPr algn="l"/>
            <a:r>
              <a:rPr sz="1300" b="1" i="0">
                <a:solidFill>
                  <a:srgbClr val="003366"/>
                </a:solidFill>
                <a:latin typeface="Calibri"/>
              </a:rPr>
              <a:t>Hardware Selection &amp; Integration</a:t>
            </a:r>
          </a:p>
        </p:txBody>
      </p:sp>
      <p:sp>
        <p:nvSpPr>
          <p:cNvPr id="12" name="Rectangle 11"/>
          <p:cNvSpPr/>
          <p:nvPr/>
        </p:nvSpPr>
        <p:spPr>
          <a:xfrm>
            <a:off x="4389120" y="1417320"/>
            <a:ext cx="6400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490472"/>
            <a:ext cx="6217920" cy="731520"/>
          </a:xfrm>
          <a:prstGeom prst="rect">
            <a:avLst/>
          </a:prstGeom>
          <a:noFill/>
        </p:spPr>
        <p:txBody>
          <a:bodyPr wrap="square">
            <a:spAutoFit/>
          </a:bodyPr>
          <a:lstStyle/>
          <a:p>
            <a:pPr algn="l"/>
            <a:r>
              <a:rPr sz="1200" b="0" i="0">
                <a:solidFill>
                  <a:srgbClr val="333333"/>
                </a:solidFill>
                <a:latin typeface="Calibri"/>
              </a:rPr>
              <a:t>Component selection (STM32, ESP8266, sensors, DC-DC), BOM creation, feasibility analysis, breadboard prototyping</a:t>
            </a:r>
          </a:p>
        </p:txBody>
      </p:sp>
      <p:sp>
        <p:nvSpPr>
          <p:cNvPr id="14" name="Rectangle 13"/>
          <p:cNvSpPr/>
          <p:nvPr/>
        </p:nvSpPr>
        <p:spPr>
          <a:xfrm>
            <a:off x="10881360" y="1417320"/>
            <a:ext cx="1033271" cy="86868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08792" y="1554480"/>
            <a:ext cx="978408" cy="594360"/>
          </a:xfrm>
          <a:prstGeom prst="rect">
            <a:avLst/>
          </a:prstGeom>
          <a:noFill/>
        </p:spPr>
        <p:txBody>
          <a:bodyPr wrap="square">
            <a:spAutoFit/>
          </a:bodyPr>
          <a:lstStyle/>
          <a:p>
            <a:pPr algn="ctr"/>
            <a:r>
              <a:rPr sz="1200" b="1" i="0">
                <a:solidFill>
                  <a:srgbClr val="FFFFFF"/>
                </a:solidFill>
                <a:latin typeface="Calibri"/>
              </a:rPr>
              <a:t>✅  Completed</a:t>
            </a:r>
          </a:p>
        </p:txBody>
      </p:sp>
      <p:sp>
        <p:nvSpPr>
          <p:cNvPr id="16" name="Rectangle 15"/>
          <p:cNvSpPr/>
          <p:nvPr/>
        </p:nvSpPr>
        <p:spPr>
          <a:xfrm>
            <a:off x="274320" y="2350008"/>
            <a:ext cx="137160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2395728"/>
            <a:ext cx="1280160" cy="777240"/>
          </a:xfrm>
          <a:prstGeom prst="rect">
            <a:avLst/>
          </a:prstGeom>
          <a:noFill/>
        </p:spPr>
        <p:txBody>
          <a:bodyPr wrap="square">
            <a:spAutoFit/>
          </a:bodyPr>
          <a:lstStyle/>
          <a:p>
            <a:pPr algn="ctr"/>
            <a:r>
              <a:rPr sz="1300" b="1" i="0">
                <a:solidFill>
                  <a:srgbClr val="FFFFFF"/>
                </a:solidFill>
                <a:latin typeface="Calibri"/>
              </a:rPr>
              <a:t>Phase 2</a:t>
            </a:r>
          </a:p>
        </p:txBody>
      </p:sp>
      <p:sp>
        <p:nvSpPr>
          <p:cNvPr id="18" name="Rectangle 17"/>
          <p:cNvSpPr/>
          <p:nvPr/>
        </p:nvSpPr>
        <p:spPr>
          <a:xfrm>
            <a:off x="1737360" y="2350008"/>
            <a:ext cx="256032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8800" y="2441448"/>
            <a:ext cx="2377440" cy="685800"/>
          </a:xfrm>
          <a:prstGeom prst="rect">
            <a:avLst/>
          </a:prstGeom>
          <a:noFill/>
        </p:spPr>
        <p:txBody>
          <a:bodyPr wrap="square">
            <a:spAutoFit/>
          </a:bodyPr>
          <a:lstStyle/>
          <a:p>
            <a:pPr algn="l"/>
            <a:r>
              <a:rPr sz="1300" b="1" i="0">
                <a:solidFill>
                  <a:srgbClr val="003366"/>
                </a:solidFill>
                <a:latin typeface="Calibri"/>
              </a:rPr>
              <a:t>STM32 Firmware Development</a:t>
            </a:r>
          </a:p>
        </p:txBody>
      </p:sp>
      <p:sp>
        <p:nvSpPr>
          <p:cNvPr id="20" name="Rectangle 19"/>
          <p:cNvSpPr/>
          <p:nvPr/>
        </p:nvSpPr>
        <p:spPr>
          <a:xfrm>
            <a:off x="4389120" y="2350008"/>
            <a:ext cx="6400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0560" y="2423160"/>
            <a:ext cx="6217920" cy="731520"/>
          </a:xfrm>
          <a:prstGeom prst="rect">
            <a:avLst/>
          </a:prstGeom>
          <a:noFill/>
        </p:spPr>
        <p:txBody>
          <a:bodyPr wrap="square">
            <a:spAutoFit/>
          </a:bodyPr>
          <a:lstStyle/>
          <a:p>
            <a:pPr algn="l"/>
            <a:r>
              <a:rPr sz="1200" b="0" i="0">
                <a:solidFill>
                  <a:srgbClr val="333333"/>
                </a:solidFill>
                <a:latin typeface="Calibri"/>
              </a:rPr>
              <a:t>ADC configuration (DMA), PWM setup (TIM1), sensor driver, power calculation, PI control algorithm, UART TX</a:t>
            </a:r>
          </a:p>
        </p:txBody>
      </p:sp>
      <p:sp>
        <p:nvSpPr>
          <p:cNvPr id="22" name="Rectangle 21"/>
          <p:cNvSpPr/>
          <p:nvPr/>
        </p:nvSpPr>
        <p:spPr>
          <a:xfrm>
            <a:off x="10881360" y="2350008"/>
            <a:ext cx="1033271" cy="8686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08792" y="2487168"/>
            <a:ext cx="978408" cy="594360"/>
          </a:xfrm>
          <a:prstGeom prst="rect">
            <a:avLst/>
          </a:prstGeom>
          <a:noFill/>
        </p:spPr>
        <p:txBody>
          <a:bodyPr wrap="square">
            <a:spAutoFit/>
          </a:bodyPr>
          <a:lstStyle/>
          <a:p>
            <a:pPr algn="ctr"/>
            <a:r>
              <a:rPr sz="1200" b="1" i="0">
                <a:solidFill>
                  <a:srgbClr val="FFFFFF"/>
                </a:solidFill>
                <a:latin typeface="Calibri"/>
              </a:rPr>
              <a:t>🔄  In Progress</a:t>
            </a:r>
          </a:p>
        </p:txBody>
      </p:sp>
      <p:sp>
        <p:nvSpPr>
          <p:cNvPr id="24" name="Rectangle 23"/>
          <p:cNvSpPr/>
          <p:nvPr/>
        </p:nvSpPr>
        <p:spPr>
          <a:xfrm>
            <a:off x="274320" y="3282696"/>
            <a:ext cx="137160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3328416"/>
            <a:ext cx="1280160" cy="777240"/>
          </a:xfrm>
          <a:prstGeom prst="rect">
            <a:avLst/>
          </a:prstGeom>
          <a:noFill/>
        </p:spPr>
        <p:txBody>
          <a:bodyPr wrap="square">
            <a:spAutoFit/>
          </a:bodyPr>
          <a:lstStyle/>
          <a:p>
            <a:pPr algn="ctr"/>
            <a:r>
              <a:rPr sz="1300" b="1" i="0">
                <a:solidFill>
                  <a:srgbClr val="FFFFFF"/>
                </a:solidFill>
                <a:latin typeface="Calibri"/>
              </a:rPr>
              <a:t>Phase 3</a:t>
            </a:r>
          </a:p>
        </p:txBody>
      </p:sp>
      <p:sp>
        <p:nvSpPr>
          <p:cNvPr id="26" name="Rectangle 25"/>
          <p:cNvSpPr/>
          <p:nvPr/>
        </p:nvSpPr>
        <p:spPr>
          <a:xfrm>
            <a:off x="1737360" y="3282696"/>
            <a:ext cx="256032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28800" y="3374136"/>
            <a:ext cx="2377440" cy="685800"/>
          </a:xfrm>
          <a:prstGeom prst="rect">
            <a:avLst/>
          </a:prstGeom>
          <a:noFill/>
        </p:spPr>
        <p:txBody>
          <a:bodyPr wrap="square">
            <a:spAutoFit/>
          </a:bodyPr>
          <a:lstStyle/>
          <a:p>
            <a:pPr algn="l"/>
            <a:r>
              <a:rPr sz="1300" b="1" i="0">
                <a:solidFill>
                  <a:srgbClr val="003366"/>
                </a:solidFill>
                <a:latin typeface="Calibri"/>
              </a:rPr>
              <a:t>ESP8266 IoT Gateway Implementation</a:t>
            </a:r>
          </a:p>
        </p:txBody>
      </p:sp>
      <p:sp>
        <p:nvSpPr>
          <p:cNvPr id="28" name="Rectangle 27"/>
          <p:cNvSpPr/>
          <p:nvPr/>
        </p:nvSpPr>
        <p:spPr>
          <a:xfrm>
            <a:off x="4389120" y="3282696"/>
            <a:ext cx="6400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80560" y="3355848"/>
            <a:ext cx="6217920" cy="731520"/>
          </a:xfrm>
          <a:prstGeom prst="rect">
            <a:avLst/>
          </a:prstGeom>
          <a:noFill/>
        </p:spPr>
        <p:txBody>
          <a:bodyPr wrap="square">
            <a:spAutoFit/>
          </a:bodyPr>
          <a:lstStyle/>
          <a:p>
            <a:pPr algn="l"/>
            <a:r>
              <a:rPr sz="1200" b="0" i="0">
                <a:solidFill>
                  <a:srgbClr val="333333"/>
                </a:solidFill>
                <a:latin typeface="Calibri"/>
              </a:rPr>
              <a:t>WiFi manager, JSON packet assembly, HTTP POST to cloud API, offline buffering (SPIFFS), serial reception from STM32</a:t>
            </a:r>
          </a:p>
        </p:txBody>
      </p:sp>
      <p:sp>
        <p:nvSpPr>
          <p:cNvPr id="30" name="Rectangle 29"/>
          <p:cNvSpPr/>
          <p:nvPr/>
        </p:nvSpPr>
        <p:spPr>
          <a:xfrm>
            <a:off x="10881360" y="3282696"/>
            <a:ext cx="1033271"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08792" y="3419856"/>
            <a:ext cx="978408" cy="594360"/>
          </a:xfrm>
          <a:prstGeom prst="rect">
            <a:avLst/>
          </a:prstGeom>
          <a:noFill/>
        </p:spPr>
        <p:txBody>
          <a:bodyPr wrap="square">
            <a:spAutoFit/>
          </a:bodyPr>
          <a:lstStyle/>
          <a:p>
            <a:pPr algn="ctr"/>
            <a:r>
              <a:rPr sz="1200" b="1" i="0">
                <a:solidFill>
                  <a:srgbClr val="FFFFFF"/>
                </a:solidFill>
                <a:latin typeface="Calibri"/>
              </a:rPr>
              <a:t>📅  Upcoming</a:t>
            </a:r>
          </a:p>
        </p:txBody>
      </p:sp>
      <p:sp>
        <p:nvSpPr>
          <p:cNvPr id="32" name="Rectangle 31"/>
          <p:cNvSpPr/>
          <p:nvPr/>
        </p:nvSpPr>
        <p:spPr>
          <a:xfrm>
            <a:off x="274320" y="4215384"/>
            <a:ext cx="137160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4261104"/>
            <a:ext cx="1280160" cy="777240"/>
          </a:xfrm>
          <a:prstGeom prst="rect">
            <a:avLst/>
          </a:prstGeom>
          <a:noFill/>
        </p:spPr>
        <p:txBody>
          <a:bodyPr wrap="square">
            <a:spAutoFit/>
          </a:bodyPr>
          <a:lstStyle/>
          <a:p>
            <a:pPr algn="ctr"/>
            <a:r>
              <a:rPr sz="1300" b="1" i="0">
                <a:solidFill>
                  <a:srgbClr val="FFFFFF"/>
                </a:solidFill>
                <a:latin typeface="Calibri"/>
              </a:rPr>
              <a:t>Phase 4</a:t>
            </a:r>
          </a:p>
        </p:txBody>
      </p:sp>
      <p:sp>
        <p:nvSpPr>
          <p:cNvPr id="34" name="Rectangle 33"/>
          <p:cNvSpPr/>
          <p:nvPr/>
        </p:nvSpPr>
        <p:spPr>
          <a:xfrm>
            <a:off x="1737360" y="4215384"/>
            <a:ext cx="256032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0" y="4306824"/>
            <a:ext cx="2377440" cy="685800"/>
          </a:xfrm>
          <a:prstGeom prst="rect">
            <a:avLst/>
          </a:prstGeom>
          <a:noFill/>
        </p:spPr>
        <p:txBody>
          <a:bodyPr wrap="square">
            <a:spAutoFit/>
          </a:bodyPr>
          <a:lstStyle/>
          <a:p>
            <a:pPr algn="l"/>
            <a:r>
              <a:rPr sz="1300" b="1" i="0">
                <a:solidFill>
                  <a:srgbClr val="003366"/>
                </a:solidFill>
                <a:latin typeface="Calibri"/>
              </a:rPr>
              <a:t>Cloud Dashboard Creation</a:t>
            </a:r>
          </a:p>
        </p:txBody>
      </p:sp>
      <p:sp>
        <p:nvSpPr>
          <p:cNvPr id="36" name="Rectangle 35"/>
          <p:cNvSpPr/>
          <p:nvPr/>
        </p:nvSpPr>
        <p:spPr>
          <a:xfrm>
            <a:off x="4389120" y="4215384"/>
            <a:ext cx="6400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4288536"/>
            <a:ext cx="6217920" cy="731520"/>
          </a:xfrm>
          <a:prstGeom prst="rect">
            <a:avLst/>
          </a:prstGeom>
          <a:noFill/>
        </p:spPr>
        <p:txBody>
          <a:bodyPr wrap="square">
            <a:spAutoFit/>
          </a:bodyPr>
          <a:lstStyle/>
          <a:p>
            <a:pPr algn="l"/>
            <a:r>
              <a:rPr sz="1200" b="0" i="0">
                <a:solidFill>
                  <a:srgbClr val="333333"/>
                </a:solidFill>
                <a:latin typeface="Calibri"/>
              </a:rPr>
              <a:t>Backend REST API (Node.js/Flask), SQLite database, React frontend with real-time charts (Chart.js), WebSocket feed</a:t>
            </a:r>
          </a:p>
        </p:txBody>
      </p:sp>
      <p:sp>
        <p:nvSpPr>
          <p:cNvPr id="38" name="Rectangle 37"/>
          <p:cNvSpPr/>
          <p:nvPr/>
        </p:nvSpPr>
        <p:spPr>
          <a:xfrm>
            <a:off x="10881360" y="4215384"/>
            <a:ext cx="1033271"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08792" y="4352544"/>
            <a:ext cx="978408" cy="594360"/>
          </a:xfrm>
          <a:prstGeom prst="rect">
            <a:avLst/>
          </a:prstGeom>
          <a:noFill/>
        </p:spPr>
        <p:txBody>
          <a:bodyPr wrap="square">
            <a:spAutoFit/>
          </a:bodyPr>
          <a:lstStyle/>
          <a:p>
            <a:pPr algn="ctr"/>
            <a:r>
              <a:rPr sz="1200" b="1" i="0">
                <a:solidFill>
                  <a:srgbClr val="FFFFFF"/>
                </a:solidFill>
                <a:latin typeface="Calibri"/>
              </a:rPr>
              <a:t>📅  Upcoming</a:t>
            </a:r>
          </a:p>
        </p:txBody>
      </p:sp>
      <p:sp>
        <p:nvSpPr>
          <p:cNvPr id="40" name="Rectangle 39"/>
          <p:cNvSpPr/>
          <p:nvPr/>
        </p:nvSpPr>
        <p:spPr>
          <a:xfrm>
            <a:off x="274320" y="5148072"/>
            <a:ext cx="1371600" cy="8686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5193792"/>
            <a:ext cx="1280160" cy="777240"/>
          </a:xfrm>
          <a:prstGeom prst="rect">
            <a:avLst/>
          </a:prstGeom>
          <a:noFill/>
        </p:spPr>
        <p:txBody>
          <a:bodyPr wrap="square">
            <a:spAutoFit/>
          </a:bodyPr>
          <a:lstStyle/>
          <a:p>
            <a:pPr algn="ctr"/>
            <a:r>
              <a:rPr sz="1300" b="1" i="0">
                <a:solidFill>
                  <a:srgbClr val="FFFFFF"/>
                </a:solidFill>
                <a:latin typeface="Calibri"/>
              </a:rPr>
              <a:t>Phase 5</a:t>
            </a:r>
          </a:p>
        </p:txBody>
      </p:sp>
      <p:sp>
        <p:nvSpPr>
          <p:cNvPr id="42" name="Rectangle 41"/>
          <p:cNvSpPr/>
          <p:nvPr/>
        </p:nvSpPr>
        <p:spPr>
          <a:xfrm>
            <a:off x="1737360" y="5148072"/>
            <a:ext cx="2560320" cy="868680"/>
          </a:xfrm>
          <a:prstGeom prst="rect">
            <a:avLst/>
          </a:prstGeom>
          <a:solidFill>
            <a:srgbClr val="CC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828800" y="5239512"/>
            <a:ext cx="2377440" cy="685800"/>
          </a:xfrm>
          <a:prstGeom prst="rect">
            <a:avLst/>
          </a:prstGeom>
          <a:noFill/>
        </p:spPr>
        <p:txBody>
          <a:bodyPr wrap="square">
            <a:spAutoFit/>
          </a:bodyPr>
          <a:lstStyle/>
          <a:p>
            <a:pPr algn="l"/>
            <a:r>
              <a:rPr sz="1300" b="1" i="0">
                <a:solidFill>
                  <a:srgbClr val="003366"/>
                </a:solidFill>
                <a:latin typeface="Calibri"/>
              </a:rPr>
              <a:t>System Integration &amp; Testing</a:t>
            </a:r>
          </a:p>
        </p:txBody>
      </p:sp>
      <p:sp>
        <p:nvSpPr>
          <p:cNvPr id="44" name="Rectangle 43"/>
          <p:cNvSpPr/>
          <p:nvPr/>
        </p:nvSpPr>
        <p:spPr>
          <a:xfrm>
            <a:off x="4389120" y="5148072"/>
            <a:ext cx="6400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80560" y="5221224"/>
            <a:ext cx="6217920" cy="731520"/>
          </a:xfrm>
          <a:prstGeom prst="rect">
            <a:avLst/>
          </a:prstGeom>
          <a:noFill/>
        </p:spPr>
        <p:txBody>
          <a:bodyPr wrap="square">
            <a:spAutoFit/>
          </a:bodyPr>
          <a:lstStyle/>
          <a:p>
            <a:pPr algn="l"/>
            <a:r>
              <a:rPr sz="1200" b="0" i="0">
                <a:solidFill>
                  <a:srgbClr val="333333"/>
                </a:solidFill>
                <a:latin typeface="Calibri"/>
              </a:rPr>
              <a:t>Hardware assembly, firmware integration, end-to-end test, buffered vs. non-buffered comparison experiment, results analysis</a:t>
            </a:r>
          </a:p>
        </p:txBody>
      </p:sp>
      <p:sp>
        <p:nvSpPr>
          <p:cNvPr id="46" name="Rectangle 45"/>
          <p:cNvSpPr/>
          <p:nvPr/>
        </p:nvSpPr>
        <p:spPr>
          <a:xfrm>
            <a:off x="10881360" y="5148072"/>
            <a:ext cx="1033271"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908792" y="5285232"/>
            <a:ext cx="978408" cy="594360"/>
          </a:xfrm>
          <a:prstGeom prst="rect">
            <a:avLst/>
          </a:prstGeom>
          <a:noFill/>
        </p:spPr>
        <p:txBody>
          <a:bodyPr wrap="square">
            <a:spAutoFit/>
          </a:bodyPr>
          <a:lstStyle/>
          <a:p>
            <a:pPr algn="ctr"/>
            <a:r>
              <a:rPr sz="1200" b="1" i="0">
                <a:solidFill>
                  <a:srgbClr val="FFFFFF"/>
                </a:solidFill>
                <a:latin typeface="Calibri"/>
              </a:rPr>
              <a:t>📅  Upcoming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Research Methodology</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Modular Implementation &amp; Testing Strategy</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508760"/>
            <a:ext cx="3383280" cy="320040"/>
          </a:xfrm>
          <a:prstGeom prst="rect">
            <a:avLst/>
          </a:prstGeom>
          <a:noFill/>
        </p:spPr>
        <p:txBody>
          <a:bodyPr wrap="square">
            <a:spAutoFit/>
          </a:bodyPr>
          <a:lstStyle/>
          <a:p>
            <a:pPr algn="l"/>
            <a:r>
              <a:rPr sz="1400" b="1" i="0">
                <a:solidFill>
                  <a:srgbClr val="FFFFFF"/>
                </a:solidFill>
                <a:latin typeface="Calibri"/>
              </a:rPr>
              <a:t>Sensor Drivers</a:t>
            </a:r>
          </a:p>
        </p:txBody>
      </p:sp>
      <p:sp>
        <p:nvSpPr>
          <p:cNvPr id="11" name="TextBox 10"/>
          <p:cNvSpPr txBox="1"/>
          <p:nvPr/>
        </p:nvSpPr>
        <p:spPr>
          <a:xfrm>
            <a:off x="365760" y="1938528"/>
            <a:ext cx="3383280" cy="1536192"/>
          </a:xfrm>
          <a:prstGeom prst="rect">
            <a:avLst/>
          </a:prstGeom>
          <a:noFill/>
        </p:spPr>
        <p:txBody>
          <a:bodyPr wrap="square">
            <a:spAutoFit/>
          </a:bodyPr>
          <a:lstStyle/>
          <a:p>
            <a:pPr algn="l"/>
            <a:r>
              <a:rPr sz="1200" b="0" i="0">
                <a:solidFill>
                  <a:srgbClr val="333333"/>
                </a:solidFill>
                <a:latin typeface="Calibri"/>
              </a:rPr>
              <a:t>  •  ADC acquisition (12-bit, DMA)
  •  Moving average filter (N=16)
  •  Voltage/current calibration
  •  Temperature compensation</a:t>
            </a:r>
          </a:p>
        </p:txBody>
      </p:sp>
      <p:sp>
        <p:nvSpPr>
          <p:cNvPr id="12" name="Rectangle 11"/>
          <p:cNvSpPr/>
          <p:nvPr/>
        </p:nvSpPr>
        <p:spPr>
          <a:xfrm>
            <a:off x="274320" y="3749039"/>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749039"/>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94759"/>
            <a:ext cx="3383280" cy="320040"/>
          </a:xfrm>
          <a:prstGeom prst="rect">
            <a:avLst/>
          </a:prstGeom>
          <a:noFill/>
        </p:spPr>
        <p:txBody>
          <a:bodyPr wrap="square">
            <a:spAutoFit/>
          </a:bodyPr>
          <a:lstStyle/>
          <a:p>
            <a:pPr algn="l"/>
            <a:r>
              <a:rPr sz="1400" b="1" i="0">
                <a:solidFill>
                  <a:srgbClr val="FFFFFF"/>
                </a:solidFill>
                <a:latin typeface="Calibri"/>
              </a:rPr>
              <a:t>Control Algorithms</a:t>
            </a:r>
          </a:p>
        </p:txBody>
      </p:sp>
      <p:sp>
        <p:nvSpPr>
          <p:cNvPr id="15" name="TextBox 14"/>
          <p:cNvSpPr txBox="1"/>
          <p:nvPr/>
        </p:nvSpPr>
        <p:spPr>
          <a:xfrm>
            <a:off x="365760" y="4224527"/>
            <a:ext cx="3383280" cy="1536192"/>
          </a:xfrm>
          <a:prstGeom prst="rect">
            <a:avLst/>
          </a:prstGeom>
          <a:noFill/>
        </p:spPr>
        <p:txBody>
          <a:bodyPr wrap="square">
            <a:spAutoFit/>
          </a:bodyPr>
          <a:lstStyle/>
          <a:p>
            <a:pPr algn="l"/>
            <a:r>
              <a:rPr sz="1200" b="0" i="0">
                <a:solidFill>
                  <a:srgbClr val="333333"/>
                </a:solidFill>
                <a:latin typeface="Calibri"/>
              </a:rPr>
              <a:t>  •  PI controller for PWM regulation
  •  Duty cycle ramp limiting
  •  Anti-windup mechanism
  •  Emergency stop logic</a:t>
            </a:r>
          </a:p>
        </p:txBody>
      </p:sp>
      <p:sp>
        <p:nvSpPr>
          <p:cNvPr id="16" name="Rectangle 15"/>
          <p:cNvSpPr/>
          <p:nvPr/>
        </p:nvSpPr>
        <p:spPr>
          <a:xfrm>
            <a:off x="4114800" y="1463040"/>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0" y="1463040"/>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6240" y="1508760"/>
            <a:ext cx="3383280" cy="320040"/>
          </a:xfrm>
          <a:prstGeom prst="rect">
            <a:avLst/>
          </a:prstGeom>
          <a:noFill/>
        </p:spPr>
        <p:txBody>
          <a:bodyPr wrap="square">
            <a:spAutoFit/>
          </a:bodyPr>
          <a:lstStyle/>
          <a:p>
            <a:pPr algn="l"/>
            <a:r>
              <a:rPr sz="1400" b="1" i="0">
                <a:solidFill>
                  <a:srgbClr val="FFFFFF"/>
                </a:solidFill>
                <a:latin typeface="Calibri"/>
              </a:rPr>
              <a:t>Protection Logic</a:t>
            </a:r>
          </a:p>
        </p:txBody>
      </p:sp>
      <p:sp>
        <p:nvSpPr>
          <p:cNvPr id="19" name="TextBox 18"/>
          <p:cNvSpPr txBox="1"/>
          <p:nvPr/>
        </p:nvSpPr>
        <p:spPr>
          <a:xfrm>
            <a:off x="4206240" y="1938528"/>
            <a:ext cx="3383280" cy="1536192"/>
          </a:xfrm>
          <a:prstGeom prst="rect">
            <a:avLst/>
          </a:prstGeom>
          <a:noFill/>
        </p:spPr>
        <p:txBody>
          <a:bodyPr wrap="square">
            <a:spAutoFit/>
          </a:bodyPr>
          <a:lstStyle/>
          <a:p>
            <a:pPr algn="l"/>
            <a:r>
              <a:rPr sz="1200" b="0" i="0">
                <a:solidFill>
                  <a:srgbClr val="333333"/>
                </a:solidFill>
                <a:latin typeface="Calibri"/>
              </a:rPr>
              <a:t>  •  OVP/OCP threshold monitoring
  •  Multi-level: Warn → Shutdown → Fault
  •  IWDG watchdog timer reset
  •  Protection flag logging</a:t>
            </a:r>
          </a:p>
        </p:txBody>
      </p:sp>
      <p:sp>
        <p:nvSpPr>
          <p:cNvPr id="20" name="Rectangle 19"/>
          <p:cNvSpPr/>
          <p:nvPr/>
        </p:nvSpPr>
        <p:spPr>
          <a:xfrm>
            <a:off x="4114800" y="3749039"/>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3749039"/>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3794759"/>
            <a:ext cx="3383280" cy="320040"/>
          </a:xfrm>
          <a:prstGeom prst="rect">
            <a:avLst/>
          </a:prstGeom>
          <a:noFill/>
        </p:spPr>
        <p:txBody>
          <a:bodyPr wrap="square">
            <a:spAutoFit/>
          </a:bodyPr>
          <a:lstStyle/>
          <a:p>
            <a:pPr algn="l"/>
            <a:r>
              <a:rPr sz="1400" b="1" i="0">
                <a:solidFill>
                  <a:srgbClr val="FFFFFF"/>
                </a:solidFill>
                <a:latin typeface="Calibri"/>
              </a:rPr>
              <a:t>Communication</a:t>
            </a:r>
          </a:p>
        </p:txBody>
      </p:sp>
      <p:sp>
        <p:nvSpPr>
          <p:cNvPr id="23" name="TextBox 22"/>
          <p:cNvSpPr txBox="1"/>
          <p:nvPr/>
        </p:nvSpPr>
        <p:spPr>
          <a:xfrm>
            <a:off x="4206240" y="4224527"/>
            <a:ext cx="3383280" cy="1536192"/>
          </a:xfrm>
          <a:prstGeom prst="rect">
            <a:avLst/>
          </a:prstGeom>
          <a:noFill/>
        </p:spPr>
        <p:txBody>
          <a:bodyPr wrap="square">
            <a:spAutoFit/>
          </a:bodyPr>
          <a:lstStyle/>
          <a:p>
            <a:pPr algn="l"/>
            <a:r>
              <a:rPr sz="1200" b="0" i="0">
                <a:solidFill>
                  <a:srgbClr val="333333"/>
                </a:solidFill>
                <a:latin typeface="Calibri"/>
              </a:rPr>
              <a:t>  •  UART framing (JSON, 115200 baud)
  •  WiFi manager (auto-reconnect)
  •  HTTP REST / MQTT upload
  •  SPIFFS offline buffer</a:t>
            </a:r>
          </a:p>
        </p:txBody>
      </p:sp>
      <p:sp>
        <p:nvSpPr>
          <p:cNvPr id="24" name="Rectangle 23"/>
          <p:cNvSpPr/>
          <p:nvPr/>
        </p:nvSpPr>
        <p:spPr>
          <a:xfrm>
            <a:off x="7955279" y="1463040"/>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955279" y="1463040"/>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508760"/>
            <a:ext cx="3383280" cy="320040"/>
          </a:xfrm>
          <a:prstGeom prst="rect">
            <a:avLst/>
          </a:prstGeom>
          <a:noFill/>
        </p:spPr>
        <p:txBody>
          <a:bodyPr wrap="square">
            <a:spAutoFit/>
          </a:bodyPr>
          <a:lstStyle/>
          <a:p>
            <a:pPr algn="l"/>
            <a:r>
              <a:rPr sz="1400" b="1" i="0">
                <a:solidFill>
                  <a:srgbClr val="FFFFFF"/>
                </a:solidFill>
                <a:latin typeface="Calibri"/>
              </a:rPr>
              <a:t>Data Logging</a:t>
            </a:r>
          </a:p>
        </p:txBody>
      </p:sp>
      <p:sp>
        <p:nvSpPr>
          <p:cNvPr id="27" name="TextBox 26"/>
          <p:cNvSpPr txBox="1"/>
          <p:nvPr/>
        </p:nvSpPr>
        <p:spPr>
          <a:xfrm>
            <a:off x="8046719" y="1938528"/>
            <a:ext cx="3383280" cy="1536192"/>
          </a:xfrm>
          <a:prstGeom prst="rect">
            <a:avLst/>
          </a:prstGeom>
          <a:noFill/>
        </p:spPr>
        <p:txBody>
          <a:bodyPr wrap="square">
            <a:spAutoFit/>
          </a:bodyPr>
          <a:lstStyle/>
          <a:p>
            <a:pPr algn="l"/>
            <a:r>
              <a:rPr sz="1200" b="0" i="0">
                <a:solidFill>
                  <a:srgbClr val="333333"/>
                </a:solidFill>
                <a:latin typeface="Calibri"/>
              </a:rPr>
              <a:t>  •  Timestamps (µs precision)
  •  Cloud database ingestion
  •  Session management
  •  CSV export for analysis</a:t>
            </a:r>
          </a:p>
        </p:txBody>
      </p:sp>
      <p:sp>
        <p:nvSpPr>
          <p:cNvPr id="28" name="Rectangle 27"/>
          <p:cNvSpPr/>
          <p:nvPr/>
        </p:nvSpPr>
        <p:spPr>
          <a:xfrm>
            <a:off x="7955279" y="3749039"/>
            <a:ext cx="3566160" cy="2103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955279" y="3749039"/>
            <a:ext cx="356616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19" y="3794759"/>
            <a:ext cx="3383280" cy="320040"/>
          </a:xfrm>
          <a:prstGeom prst="rect">
            <a:avLst/>
          </a:prstGeom>
          <a:noFill/>
        </p:spPr>
        <p:txBody>
          <a:bodyPr wrap="square">
            <a:spAutoFit/>
          </a:bodyPr>
          <a:lstStyle/>
          <a:p>
            <a:pPr algn="l"/>
            <a:r>
              <a:rPr sz="1400" b="1" i="0">
                <a:solidFill>
                  <a:srgbClr val="FFFFFF"/>
                </a:solidFill>
                <a:latin typeface="Calibri"/>
              </a:rPr>
              <a:t>Testing Strategy</a:t>
            </a:r>
          </a:p>
        </p:txBody>
      </p:sp>
      <p:sp>
        <p:nvSpPr>
          <p:cNvPr id="31" name="TextBox 30"/>
          <p:cNvSpPr txBox="1"/>
          <p:nvPr/>
        </p:nvSpPr>
        <p:spPr>
          <a:xfrm>
            <a:off x="8046719" y="4224527"/>
            <a:ext cx="3383280" cy="1536192"/>
          </a:xfrm>
          <a:prstGeom prst="rect">
            <a:avLst/>
          </a:prstGeom>
          <a:noFill/>
        </p:spPr>
        <p:txBody>
          <a:bodyPr wrap="square">
            <a:spAutoFit/>
          </a:bodyPr>
          <a:lstStyle/>
          <a:p>
            <a:pPr algn="l"/>
            <a:r>
              <a:rPr sz="1200" b="0" i="0">
                <a:solidFill>
                  <a:srgbClr val="333333"/>
                </a:solidFill>
                <a:latin typeface="Calibri"/>
              </a:rPr>
              <a:t>  •  Unit test per firmware module
  •  Hardware-in-loop tests
  •  Simulated scenario injection
  •  Buffered vs. non-buffered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Data Collection</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Measurement Plan &amp; Logging Strategy</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11640312"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508760"/>
            <a:ext cx="2011680" cy="320040"/>
          </a:xfrm>
          <a:prstGeom prst="rect">
            <a:avLst/>
          </a:prstGeom>
          <a:noFill/>
        </p:spPr>
        <p:txBody>
          <a:bodyPr wrap="square">
            <a:spAutoFit/>
          </a:bodyPr>
          <a:lstStyle/>
          <a:p>
            <a:pPr algn="ctr"/>
            <a:r>
              <a:rPr sz="1400" b="1" i="0">
                <a:solidFill>
                  <a:srgbClr val="FFFFFF"/>
                </a:solidFill>
                <a:latin typeface="Calibri"/>
              </a:rPr>
              <a:t>Parameter</a:t>
            </a:r>
          </a:p>
        </p:txBody>
      </p:sp>
      <p:sp>
        <p:nvSpPr>
          <p:cNvPr id="10" name="TextBox 9"/>
          <p:cNvSpPr txBox="1"/>
          <p:nvPr/>
        </p:nvSpPr>
        <p:spPr>
          <a:xfrm>
            <a:off x="2423160" y="1508760"/>
            <a:ext cx="2011680" cy="320040"/>
          </a:xfrm>
          <a:prstGeom prst="rect">
            <a:avLst/>
          </a:prstGeom>
          <a:noFill/>
        </p:spPr>
        <p:txBody>
          <a:bodyPr wrap="square">
            <a:spAutoFit/>
          </a:bodyPr>
          <a:lstStyle/>
          <a:p>
            <a:pPr algn="ctr"/>
            <a:r>
              <a:rPr sz="1400" b="1" i="0">
                <a:solidFill>
                  <a:srgbClr val="FFFFFF"/>
                </a:solidFill>
                <a:latin typeface="Calibri"/>
              </a:rPr>
              <a:t>Unit</a:t>
            </a:r>
          </a:p>
        </p:txBody>
      </p:sp>
      <p:sp>
        <p:nvSpPr>
          <p:cNvPr id="11" name="TextBox 10"/>
          <p:cNvSpPr txBox="1"/>
          <p:nvPr/>
        </p:nvSpPr>
        <p:spPr>
          <a:xfrm>
            <a:off x="4526280" y="1508760"/>
            <a:ext cx="2011680" cy="320040"/>
          </a:xfrm>
          <a:prstGeom prst="rect">
            <a:avLst/>
          </a:prstGeom>
          <a:noFill/>
        </p:spPr>
        <p:txBody>
          <a:bodyPr wrap="square">
            <a:spAutoFit/>
          </a:bodyPr>
          <a:lstStyle/>
          <a:p>
            <a:pPr algn="ctr"/>
            <a:r>
              <a:rPr sz="1400" b="1" i="0">
                <a:solidFill>
                  <a:srgbClr val="FFFFFF"/>
                </a:solidFill>
                <a:latin typeface="Calibri"/>
              </a:rPr>
              <a:t>Sensor</a:t>
            </a:r>
          </a:p>
        </p:txBody>
      </p:sp>
      <p:sp>
        <p:nvSpPr>
          <p:cNvPr id="12" name="TextBox 11"/>
          <p:cNvSpPr txBox="1"/>
          <p:nvPr/>
        </p:nvSpPr>
        <p:spPr>
          <a:xfrm>
            <a:off x="6629400" y="1508760"/>
            <a:ext cx="2011680" cy="320040"/>
          </a:xfrm>
          <a:prstGeom prst="rect">
            <a:avLst/>
          </a:prstGeom>
          <a:noFill/>
        </p:spPr>
        <p:txBody>
          <a:bodyPr wrap="square">
            <a:spAutoFit/>
          </a:bodyPr>
          <a:lstStyle/>
          <a:p>
            <a:pPr algn="ctr"/>
            <a:r>
              <a:rPr sz="1400" b="1" i="0">
                <a:solidFill>
                  <a:srgbClr val="FFFFFF"/>
                </a:solidFill>
                <a:latin typeface="Calibri"/>
              </a:rPr>
              <a:t>Sample Rate</a:t>
            </a:r>
          </a:p>
        </p:txBody>
      </p:sp>
      <p:sp>
        <p:nvSpPr>
          <p:cNvPr id="13" name="TextBox 12"/>
          <p:cNvSpPr txBox="1"/>
          <p:nvPr/>
        </p:nvSpPr>
        <p:spPr>
          <a:xfrm>
            <a:off x="8732520" y="1508760"/>
            <a:ext cx="3017520" cy="320040"/>
          </a:xfrm>
          <a:prstGeom prst="rect">
            <a:avLst/>
          </a:prstGeom>
          <a:noFill/>
        </p:spPr>
        <p:txBody>
          <a:bodyPr wrap="square">
            <a:spAutoFit/>
          </a:bodyPr>
          <a:lstStyle/>
          <a:p>
            <a:pPr algn="ctr"/>
            <a:r>
              <a:rPr sz="1400" b="1" i="0">
                <a:solidFill>
                  <a:srgbClr val="FFFFFF"/>
                </a:solidFill>
                <a:latin typeface="Calibri"/>
              </a:rPr>
              <a:t>Purpose</a:t>
            </a:r>
          </a:p>
        </p:txBody>
      </p:sp>
      <p:sp>
        <p:nvSpPr>
          <p:cNvPr id="14" name="Rectangle 13"/>
          <p:cNvSpPr/>
          <p:nvPr/>
        </p:nvSpPr>
        <p:spPr>
          <a:xfrm>
            <a:off x="274320" y="1920240"/>
            <a:ext cx="11640312"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1975104"/>
            <a:ext cx="2011680" cy="329184"/>
          </a:xfrm>
          <a:prstGeom prst="rect">
            <a:avLst/>
          </a:prstGeom>
          <a:noFill/>
        </p:spPr>
        <p:txBody>
          <a:bodyPr wrap="square">
            <a:spAutoFit/>
          </a:bodyPr>
          <a:lstStyle/>
          <a:p>
            <a:pPr algn="l"/>
            <a:r>
              <a:rPr sz="1200" b="0" i="0">
                <a:solidFill>
                  <a:srgbClr val="333333"/>
                </a:solidFill>
                <a:latin typeface="Calibri"/>
              </a:rPr>
              <a:t>Voltage Input (V_in)</a:t>
            </a:r>
          </a:p>
        </p:txBody>
      </p:sp>
      <p:sp>
        <p:nvSpPr>
          <p:cNvPr id="16" name="TextBox 15"/>
          <p:cNvSpPr txBox="1"/>
          <p:nvPr/>
        </p:nvSpPr>
        <p:spPr>
          <a:xfrm>
            <a:off x="2423160" y="1975104"/>
            <a:ext cx="2011680" cy="329184"/>
          </a:xfrm>
          <a:prstGeom prst="rect">
            <a:avLst/>
          </a:prstGeom>
          <a:noFill/>
        </p:spPr>
        <p:txBody>
          <a:bodyPr wrap="square">
            <a:spAutoFit/>
          </a:bodyPr>
          <a:lstStyle/>
          <a:p>
            <a:pPr algn="l"/>
            <a:r>
              <a:rPr sz="1200" b="0" i="0">
                <a:solidFill>
                  <a:srgbClr val="333333"/>
                </a:solidFill>
                <a:latin typeface="Calibri"/>
              </a:rPr>
              <a:t>V</a:t>
            </a:r>
          </a:p>
        </p:txBody>
      </p:sp>
      <p:sp>
        <p:nvSpPr>
          <p:cNvPr id="17" name="TextBox 16"/>
          <p:cNvSpPr txBox="1"/>
          <p:nvPr/>
        </p:nvSpPr>
        <p:spPr>
          <a:xfrm>
            <a:off x="4526280" y="1975104"/>
            <a:ext cx="2011680" cy="329184"/>
          </a:xfrm>
          <a:prstGeom prst="rect">
            <a:avLst/>
          </a:prstGeom>
          <a:noFill/>
        </p:spPr>
        <p:txBody>
          <a:bodyPr wrap="square">
            <a:spAutoFit/>
          </a:bodyPr>
          <a:lstStyle/>
          <a:p>
            <a:pPr algn="l"/>
            <a:r>
              <a:rPr sz="1200" b="0" i="0">
                <a:solidFill>
                  <a:srgbClr val="333333"/>
                </a:solidFill>
                <a:latin typeface="Calibri"/>
              </a:rPr>
              <a:t>Resistor Divider + ADC</a:t>
            </a:r>
          </a:p>
        </p:txBody>
      </p:sp>
      <p:sp>
        <p:nvSpPr>
          <p:cNvPr id="18" name="TextBox 17"/>
          <p:cNvSpPr txBox="1"/>
          <p:nvPr/>
        </p:nvSpPr>
        <p:spPr>
          <a:xfrm>
            <a:off x="6629400" y="1975104"/>
            <a:ext cx="2011680" cy="329184"/>
          </a:xfrm>
          <a:prstGeom prst="rect">
            <a:avLst/>
          </a:prstGeom>
          <a:noFill/>
        </p:spPr>
        <p:txBody>
          <a:bodyPr wrap="square">
            <a:spAutoFit/>
          </a:bodyPr>
          <a:lstStyle/>
          <a:p>
            <a:pPr algn="l"/>
            <a:r>
              <a:rPr sz="1200" b="0" i="0">
                <a:solidFill>
                  <a:srgbClr val="333333"/>
                </a:solidFill>
                <a:latin typeface="Calibri"/>
              </a:rPr>
              <a:t>1 kHz</a:t>
            </a:r>
          </a:p>
        </p:txBody>
      </p:sp>
      <p:sp>
        <p:nvSpPr>
          <p:cNvPr id="19" name="TextBox 18"/>
          <p:cNvSpPr txBox="1"/>
          <p:nvPr/>
        </p:nvSpPr>
        <p:spPr>
          <a:xfrm>
            <a:off x="8732520" y="1975104"/>
            <a:ext cx="3017520" cy="329184"/>
          </a:xfrm>
          <a:prstGeom prst="rect">
            <a:avLst/>
          </a:prstGeom>
          <a:noFill/>
        </p:spPr>
        <p:txBody>
          <a:bodyPr wrap="square">
            <a:spAutoFit/>
          </a:bodyPr>
          <a:lstStyle/>
          <a:p>
            <a:pPr algn="l"/>
            <a:r>
              <a:rPr sz="1200" b="0" i="0">
                <a:solidFill>
                  <a:srgbClr val="333333"/>
                </a:solidFill>
                <a:latin typeface="Calibri"/>
              </a:rPr>
              <a:t>Monitor input stability</a:t>
            </a:r>
          </a:p>
        </p:txBody>
      </p:sp>
      <p:sp>
        <p:nvSpPr>
          <p:cNvPr id="20" name="Rectangle 19"/>
          <p:cNvSpPr/>
          <p:nvPr/>
        </p:nvSpPr>
        <p:spPr>
          <a:xfrm>
            <a:off x="274320" y="2377440"/>
            <a:ext cx="11640312"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2432304"/>
            <a:ext cx="2011680" cy="329184"/>
          </a:xfrm>
          <a:prstGeom prst="rect">
            <a:avLst/>
          </a:prstGeom>
          <a:noFill/>
        </p:spPr>
        <p:txBody>
          <a:bodyPr wrap="square">
            <a:spAutoFit/>
          </a:bodyPr>
          <a:lstStyle/>
          <a:p>
            <a:pPr algn="l"/>
            <a:r>
              <a:rPr sz="1200" b="0" i="0">
                <a:solidFill>
                  <a:srgbClr val="333333"/>
                </a:solidFill>
                <a:latin typeface="Calibri"/>
              </a:rPr>
              <a:t>Voltage Supercap (V_sc)</a:t>
            </a:r>
          </a:p>
        </p:txBody>
      </p:sp>
      <p:sp>
        <p:nvSpPr>
          <p:cNvPr id="22" name="TextBox 21"/>
          <p:cNvSpPr txBox="1"/>
          <p:nvPr/>
        </p:nvSpPr>
        <p:spPr>
          <a:xfrm>
            <a:off x="2423160" y="2432304"/>
            <a:ext cx="2011680" cy="329184"/>
          </a:xfrm>
          <a:prstGeom prst="rect">
            <a:avLst/>
          </a:prstGeom>
          <a:noFill/>
        </p:spPr>
        <p:txBody>
          <a:bodyPr wrap="square">
            <a:spAutoFit/>
          </a:bodyPr>
          <a:lstStyle/>
          <a:p>
            <a:pPr algn="l"/>
            <a:r>
              <a:rPr sz="1200" b="0" i="0">
                <a:solidFill>
                  <a:srgbClr val="333333"/>
                </a:solidFill>
                <a:latin typeface="Calibri"/>
              </a:rPr>
              <a:t>V</a:t>
            </a:r>
          </a:p>
        </p:txBody>
      </p:sp>
      <p:sp>
        <p:nvSpPr>
          <p:cNvPr id="23" name="TextBox 22"/>
          <p:cNvSpPr txBox="1"/>
          <p:nvPr/>
        </p:nvSpPr>
        <p:spPr>
          <a:xfrm>
            <a:off x="4526280" y="2432304"/>
            <a:ext cx="2011680" cy="329184"/>
          </a:xfrm>
          <a:prstGeom prst="rect">
            <a:avLst/>
          </a:prstGeom>
          <a:noFill/>
        </p:spPr>
        <p:txBody>
          <a:bodyPr wrap="square">
            <a:spAutoFit/>
          </a:bodyPr>
          <a:lstStyle/>
          <a:p>
            <a:pPr algn="l"/>
            <a:r>
              <a:rPr sz="1200" b="0" i="0">
                <a:solidFill>
                  <a:srgbClr val="333333"/>
                </a:solidFill>
                <a:latin typeface="Calibri"/>
              </a:rPr>
              <a:t>Resistor Divider + ADC</a:t>
            </a:r>
          </a:p>
        </p:txBody>
      </p:sp>
      <p:sp>
        <p:nvSpPr>
          <p:cNvPr id="24" name="TextBox 23"/>
          <p:cNvSpPr txBox="1"/>
          <p:nvPr/>
        </p:nvSpPr>
        <p:spPr>
          <a:xfrm>
            <a:off x="6629400" y="2432304"/>
            <a:ext cx="2011680" cy="329184"/>
          </a:xfrm>
          <a:prstGeom prst="rect">
            <a:avLst/>
          </a:prstGeom>
          <a:noFill/>
        </p:spPr>
        <p:txBody>
          <a:bodyPr wrap="square">
            <a:spAutoFit/>
          </a:bodyPr>
          <a:lstStyle/>
          <a:p>
            <a:pPr algn="l"/>
            <a:r>
              <a:rPr sz="1200" b="0" i="0">
                <a:solidFill>
                  <a:srgbClr val="333333"/>
                </a:solidFill>
                <a:latin typeface="Calibri"/>
              </a:rPr>
              <a:t>1 kHz</a:t>
            </a:r>
          </a:p>
        </p:txBody>
      </p:sp>
      <p:sp>
        <p:nvSpPr>
          <p:cNvPr id="25" name="TextBox 24"/>
          <p:cNvSpPr txBox="1"/>
          <p:nvPr/>
        </p:nvSpPr>
        <p:spPr>
          <a:xfrm>
            <a:off x="8732520" y="2432304"/>
            <a:ext cx="3017520" cy="329184"/>
          </a:xfrm>
          <a:prstGeom prst="rect">
            <a:avLst/>
          </a:prstGeom>
          <a:noFill/>
        </p:spPr>
        <p:txBody>
          <a:bodyPr wrap="square">
            <a:spAutoFit/>
          </a:bodyPr>
          <a:lstStyle/>
          <a:p>
            <a:pPr algn="l"/>
            <a:r>
              <a:rPr sz="1200" b="0" i="0">
                <a:solidFill>
                  <a:srgbClr val="333333"/>
                </a:solidFill>
                <a:latin typeface="Calibri"/>
              </a:rPr>
              <a:t>Buffer state &amp; SoC</a:t>
            </a:r>
          </a:p>
        </p:txBody>
      </p:sp>
      <p:sp>
        <p:nvSpPr>
          <p:cNvPr id="26" name="Rectangle 25"/>
          <p:cNvSpPr/>
          <p:nvPr/>
        </p:nvSpPr>
        <p:spPr>
          <a:xfrm>
            <a:off x="274320" y="2834640"/>
            <a:ext cx="11640312"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2889504"/>
            <a:ext cx="2011680" cy="329184"/>
          </a:xfrm>
          <a:prstGeom prst="rect">
            <a:avLst/>
          </a:prstGeom>
          <a:noFill/>
        </p:spPr>
        <p:txBody>
          <a:bodyPr wrap="square">
            <a:spAutoFit/>
          </a:bodyPr>
          <a:lstStyle/>
          <a:p>
            <a:pPr algn="l"/>
            <a:r>
              <a:rPr sz="1200" b="0" i="0">
                <a:solidFill>
                  <a:srgbClr val="333333"/>
                </a:solidFill>
                <a:latin typeface="Calibri"/>
              </a:rPr>
              <a:t>Voltage Battery (V_bat)</a:t>
            </a:r>
          </a:p>
        </p:txBody>
      </p:sp>
      <p:sp>
        <p:nvSpPr>
          <p:cNvPr id="28" name="TextBox 27"/>
          <p:cNvSpPr txBox="1"/>
          <p:nvPr/>
        </p:nvSpPr>
        <p:spPr>
          <a:xfrm>
            <a:off x="2423160" y="2889504"/>
            <a:ext cx="2011680" cy="329184"/>
          </a:xfrm>
          <a:prstGeom prst="rect">
            <a:avLst/>
          </a:prstGeom>
          <a:noFill/>
        </p:spPr>
        <p:txBody>
          <a:bodyPr wrap="square">
            <a:spAutoFit/>
          </a:bodyPr>
          <a:lstStyle/>
          <a:p>
            <a:pPr algn="l"/>
            <a:r>
              <a:rPr sz="1200" b="0" i="0">
                <a:solidFill>
                  <a:srgbClr val="333333"/>
                </a:solidFill>
                <a:latin typeface="Calibri"/>
              </a:rPr>
              <a:t>V</a:t>
            </a:r>
          </a:p>
        </p:txBody>
      </p:sp>
      <p:sp>
        <p:nvSpPr>
          <p:cNvPr id="29" name="TextBox 28"/>
          <p:cNvSpPr txBox="1"/>
          <p:nvPr/>
        </p:nvSpPr>
        <p:spPr>
          <a:xfrm>
            <a:off x="4526280" y="2889504"/>
            <a:ext cx="2011680" cy="329184"/>
          </a:xfrm>
          <a:prstGeom prst="rect">
            <a:avLst/>
          </a:prstGeom>
          <a:noFill/>
        </p:spPr>
        <p:txBody>
          <a:bodyPr wrap="square">
            <a:spAutoFit/>
          </a:bodyPr>
          <a:lstStyle/>
          <a:p>
            <a:pPr algn="l"/>
            <a:r>
              <a:rPr sz="1200" b="0" i="0">
                <a:solidFill>
                  <a:srgbClr val="333333"/>
                </a:solidFill>
                <a:latin typeface="Calibri"/>
              </a:rPr>
              <a:t>Resistor Divider + ADC</a:t>
            </a:r>
          </a:p>
        </p:txBody>
      </p:sp>
      <p:sp>
        <p:nvSpPr>
          <p:cNvPr id="30" name="TextBox 29"/>
          <p:cNvSpPr txBox="1"/>
          <p:nvPr/>
        </p:nvSpPr>
        <p:spPr>
          <a:xfrm>
            <a:off x="6629400" y="2889504"/>
            <a:ext cx="2011680" cy="329184"/>
          </a:xfrm>
          <a:prstGeom prst="rect">
            <a:avLst/>
          </a:prstGeom>
          <a:noFill/>
        </p:spPr>
        <p:txBody>
          <a:bodyPr wrap="square">
            <a:spAutoFit/>
          </a:bodyPr>
          <a:lstStyle/>
          <a:p>
            <a:pPr algn="l"/>
            <a:r>
              <a:rPr sz="1200" b="0" i="0">
                <a:solidFill>
                  <a:srgbClr val="333333"/>
                </a:solidFill>
                <a:latin typeface="Calibri"/>
              </a:rPr>
              <a:t>100 Hz</a:t>
            </a:r>
          </a:p>
        </p:txBody>
      </p:sp>
      <p:sp>
        <p:nvSpPr>
          <p:cNvPr id="31" name="TextBox 30"/>
          <p:cNvSpPr txBox="1"/>
          <p:nvPr/>
        </p:nvSpPr>
        <p:spPr>
          <a:xfrm>
            <a:off x="8732520" y="2889504"/>
            <a:ext cx="3017520" cy="329184"/>
          </a:xfrm>
          <a:prstGeom prst="rect">
            <a:avLst/>
          </a:prstGeom>
          <a:noFill/>
        </p:spPr>
        <p:txBody>
          <a:bodyPr wrap="square">
            <a:spAutoFit/>
          </a:bodyPr>
          <a:lstStyle/>
          <a:p>
            <a:pPr algn="l"/>
            <a:r>
              <a:rPr sz="1200" b="0" i="0">
                <a:solidFill>
                  <a:srgbClr val="333333"/>
                </a:solidFill>
                <a:latin typeface="Calibri"/>
              </a:rPr>
              <a:t>Charging progress</a:t>
            </a:r>
          </a:p>
        </p:txBody>
      </p:sp>
      <p:sp>
        <p:nvSpPr>
          <p:cNvPr id="32" name="Rectangle 31"/>
          <p:cNvSpPr/>
          <p:nvPr/>
        </p:nvSpPr>
        <p:spPr>
          <a:xfrm>
            <a:off x="274320" y="3291840"/>
            <a:ext cx="11640312"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3346704"/>
            <a:ext cx="2011680" cy="329184"/>
          </a:xfrm>
          <a:prstGeom prst="rect">
            <a:avLst/>
          </a:prstGeom>
          <a:noFill/>
        </p:spPr>
        <p:txBody>
          <a:bodyPr wrap="square">
            <a:spAutoFit/>
          </a:bodyPr>
          <a:lstStyle/>
          <a:p>
            <a:pPr algn="l"/>
            <a:r>
              <a:rPr sz="1200" b="0" i="0">
                <a:solidFill>
                  <a:srgbClr val="333333"/>
                </a:solidFill>
                <a:latin typeface="Calibri"/>
              </a:rPr>
              <a:t>Current Input (I_in)</a:t>
            </a:r>
          </a:p>
        </p:txBody>
      </p:sp>
      <p:sp>
        <p:nvSpPr>
          <p:cNvPr id="34" name="TextBox 33"/>
          <p:cNvSpPr txBox="1"/>
          <p:nvPr/>
        </p:nvSpPr>
        <p:spPr>
          <a:xfrm>
            <a:off x="2423160" y="3346704"/>
            <a:ext cx="2011680" cy="329184"/>
          </a:xfrm>
          <a:prstGeom prst="rect">
            <a:avLst/>
          </a:prstGeom>
          <a:noFill/>
        </p:spPr>
        <p:txBody>
          <a:bodyPr wrap="square">
            <a:spAutoFit/>
          </a:bodyPr>
          <a:lstStyle/>
          <a:p>
            <a:pPr algn="l"/>
            <a:r>
              <a:rPr sz="1200" b="0" i="0">
                <a:solidFill>
                  <a:srgbClr val="333333"/>
                </a:solidFill>
                <a:latin typeface="Calibri"/>
              </a:rPr>
              <a:t>A</a:t>
            </a:r>
          </a:p>
        </p:txBody>
      </p:sp>
      <p:sp>
        <p:nvSpPr>
          <p:cNvPr id="35" name="TextBox 34"/>
          <p:cNvSpPr txBox="1"/>
          <p:nvPr/>
        </p:nvSpPr>
        <p:spPr>
          <a:xfrm>
            <a:off x="4526280" y="3346704"/>
            <a:ext cx="2011680" cy="329184"/>
          </a:xfrm>
          <a:prstGeom prst="rect">
            <a:avLst/>
          </a:prstGeom>
          <a:noFill/>
        </p:spPr>
        <p:txBody>
          <a:bodyPr wrap="square">
            <a:spAutoFit/>
          </a:bodyPr>
          <a:lstStyle/>
          <a:p>
            <a:pPr algn="l"/>
            <a:r>
              <a:rPr sz="1200" b="0" i="0">
                <a:solidFill>
                  <a:srgbClr val="333333"/>
                </a:solidFill>
                <a:latin typeface="Calibri"/>
              </a:rPr>
              <a:t>ACS712 + ADC</a:t>
            </a:r>
          </a:p>
        </p:txBody>
      </p:sp>
      <p:sp>
        <p:nvSpPr>
          <p:cNvPr id="36" name="TextBox 35"/>
          <p:cNvSpPr txBox="1"/>
          <p:nvPr/>
        </p:nvSpPr>
        <p:spPr>
          <a:xfrm>
            <a:off x="6629400" y="3346704"/>
            <a:ext cx="2011680" cy="329184"/>
          </a:xfrm>
          <a:prstGeom prst="rect">
            <a:avLst/>
          </a:prstGeom>
          <a:noFill/>
        </p:spPr>
        <p:txBody>
          <a:bodyPr wrap="square">
            <a:spAutoFit/>
          </a:bodyPr>
          <a:lstStyle/>
          <a:p>
            <a:pPr algn="l"/>
            <a:r>
              <a:rPr sz="1200" b="0" i="0">
                <a:solidFill>
                  <a:srgbClr val="333333"/>
                </a:solidFill>
                <a:latin typeface="Calibri"/>
              </a:rPr>
              <a:t>1 kHz</a:t>
            </a:r>
          </a:p>
        </p:txBody>
      </p:sp>
      <p:sp>
        <p:nvSpPr>
          <p:cNvPr id="37" name="TextBox 36"/>
          <p:cNvSpPr txBox="1"/>
          <p:nvPr/>
        </p:nvSpPr>
        <p:spPr>
          <a:xfrm>
            <a:off x="8732520" y="3346704"/>
            <a:ext cx="3017520" cy="329184"/>
          </a:xfrm>
          <a:prstGeom prst="rect">
            <a:avLst/>
          </a:prstGeom>
          <a:noFill/>
        </p:spPr>
        <p:txBody>
          <a:bodyPr wrap="square">
            <a:spAutoFit/>
          </a:bodyPr>
          <a:lstStyle/>
          <a:p>
            <a:pPr algn="l"/>
            <a:r>
              <a:rPr sz="1200" b="0" i="0">
                <a:solidFill>
                  <a:srgbClr val="333333"/>
                </a:solidFill>
                <a:latin typeface="Calibri"/>
              </a:rPr>
              <a:t>Input power calculation</a:t>
            </a:r>
          </a:p>
        </p:txBody>
      </p:sp>
      <p:sp>
        <p:nvSpPr>
          <p:cNvPr id="38" name="Rectangle 37"/>
          <p:cNvSpPr/>
          <p:nvPr/>
        </p:nvSpPr>
        <p:spPr>
          <a:xfrm>
            <a:off x="274320" y="3749039"/>
            <a:ext cx="11640312"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3803903"/>
            <a:ext cx="2011680" cy="329184"/>
          </a:xfrm>
          <a:prstGeom prst="rect">
            <a:avLst/>
          </a:prstGeom>
          <a:noFill/>
        </p:spPr>
        <p:txBody>
          <a:bodyPr wrap="square">
            <a:spAutoFit/>
          </a:bodyPr>
          <a:lstStyle/>
          <a:p>
            <a:pPr algn="l"/>
            <a:r>
              <a:rPr sz="1200" b="0" i="0">
                <a:solidFill>
                  <a:srgbClr val="333333"/>
                </a:solidFill>
                <a:latin typeface="Calibri"/>
              </a:rPr>
              <a:t>Current Output (I_out)</a:t>
            </a:r>
          </a:p>
        </p:txBody>
      </p:sp>
      <p:sp>
        <p:nvSpPr>
          <p:cNvPr id="40" name="TextBox 39"/>
          <p:cNvSpPr txBox="1"/>
          <p:nvPr/>
        </p:nvSpPr>
        <p:spPr>
          <a:xfrm>
            <a:off x="2423160" y="3803903"/>
            <a:ext cx="2011680" cy="329184"/>
          </a:xfrm>
          <a:prstGeom prst="rect">
            <a:avLst/>
          </a:prstGeom>
          <a:noFill/>
        </p:spPr>
        <p:txBody>
          <a:bodyPr wrap="square">
            <a:spAutoFit/>
          </a:bodyPr>
          <a:lstStyle/>
          <a:p>
            <a:pPr algn="l"/>
            <a:r>
              <a:rPr sz="1200" b="0" i="0">
                <a:solidFill>
                  <a:srgbClr val="333333"/>
                </a:solidFill>
                <a:latin typeface="Calibri"/>
              </a:rPr>
              <a:t>A</a:t>
            </a:r>
          </a:p>
        </p:txBody>
      </p:sp>
      <p:sp>
        <p:nvSpPr>
          <p:cNvPr id="41" name="TextBox 40"/>
          <p:cNvSpPr txBox="1"/>
          <p:nvPr/>
        </p:nvSpPr>
        <p:spPr>
          <a:xfrm>
            <a:off x="4526280" y="3803903"/>
            <a:ext cx="2011680" cy="329184"/>
          </a:xfrm>
          <a:prstGeom prst="rect">
            <a:avLst/>
          </a:prstGeom>
          <a:noFill/>
        </p:spPr>
        <p:txBody>
          <a:bodyPr wrap="square">
            <a:spAutoFit/>
          </a:bodyPr>
          <a:lstStyle/>
          <a:p>
            <a:pPr algn="l"/>
            <a:r>
              <a:rPr sz="1200" b="0" i="0">
                <a:solidFill>
                  <a:srgbClr val="333333"/>
                </a:solidFill>
                <a:latin typeface="Calibri"/>
              </a:rPr>
              <a:t>ACS712 + ADC</a:t>
            </a:r>
          </a:p>
        </p:txBody>
      </p:sp>
      <p:sp>
        <p:nvSpPr>
          <p:cNvPr id="42" name="TextBox 41"/>
          <p:cNvSpPr txBox="1"/>
          <p:nvPr/>
        </p:nvSpPr>
        <p:spPr>
          <a:xfrm>
            <a:off x="6629400" y="3803903"/>
            <a:ext cx="2011680" cy="329184"/>
          </a:xfrm>
          <a:prstGeom prst="rect">
            <a:avLst/>
          </a:prstGeom>
          <a:noFill/>
        </p:spPr>
        <p:txBody>
          <a:bodyPr wrap="square">
            <a:spAutoFit/>
          </a:bodyPr>
          <a:lstStyle/>
          <a:p>
            <a:pPr algn="l"/>
            <a:r>
              <a:rPr sz="1200" b="0" i="0">
                <a:solidFill>
                  <a:srgbClr val="333333"/>
                </a:solidFill>
                <a:latin typeface="Calibri"/>
              </a:rPr>
              <a:t>1 kHz</a:t>
            </a:r>
          </a:p>
        </p:txBody>
      </p:sp>
      <p:sp>
        <p:nvSpPr>
          <p:cNvPr id="43" name="TextBox 42"/>
          <p:cNvSpPr txBox="1"/>
          <p:nvPr/>
        </p:nvSpPr>
        <p:spPr>
          <a:xfrm>
            <a:off x="8732520" y="3803903"/>
            <a:ext cx="3017520" cy="329184"/>
          </a:xfrm>
          <a:prstGeom prst="rect">
            <a:avLst/>
          </a:prstGeom>
          <a:noFill/>
        </p:spPr>
        <p:txBody>
          <a:bodyPr wrap="square">
            <a:spAutoFit/>
          </a:bodyPr>
          <a:lstStyle/>
          <a:p>
            <a:pPr algn="l"/>
            <a:r>
              <a:rPr sz="1200" b="0" i="0">
                <a:solidFill>
                  <a:srgbClr val="333333"/>
                </a:solidFill>
                <a:latin typeface="Calibri"/>
              </a:rPr>
              <a:t>Output power, efficiency</a:t>
            </a:r>
          </a:p>
        </p:txBody>
      </p:sp>
      <p:sp>
        <p:nvSpPr>
          <p:cNvPr id="44" name="Rectangle 43"/>
          <p:cNvSpPr/>
          <p:nvPr/>
        </p:nvSpPr>
        <p:spPr>
          <a:xfrm>
            <a:off x="274320" y="4206240"/>
            <a:ext cx="11640312"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 y="4261103"/>
            <a:ext cx="2011680" cy="329184"/>
          </a:xfrm>
          <a:prstGeom prst="rect">
            <a:avLst/>
          </a:prstGeom>
          <a:noFill/>
        </p:spPr>
        <p:txBody>
          <a:bodyPr wrap="square">
            <a:spAutoFit/>
          </a:bodyPr>
          <a:lstStyle/>
          <a:p>
            <a:pPr algn="l"/>
            <a:r>
              <a:rPr sz="1200" b="0" i="0">
                <a:solidFill>
                  <a:srgbClr val="333333"/>
                </a:solidFill>
                <a:latin typeface="Calibri"/>
              </a:rPr>
              <a:t>Power (P = V×I)</a:t>
            </a:r>
          </a:p>
        </p:txBody>
      </p:sp>
      <p:sp>
        <p:nvSpPr>
          <p:cNvPr id="46" name="TextBox 45"/>
          <p:cNvSpPr txBox="1"/>
          <p:nvPr/>
        </p:nvSpPr>
        <p:spPr>
          <a:xfrm>
            <a:off x="2423160" y="4261103"/>
            <a:ext cx="2011680" cy="329184"/>
          </a:xfrm>
          <a:prstGeom prst="rect">
            <a:avLst/>
          </a:prstGeom>
          <a:noFill/>
        </p:spPr>
        <p:txBody>
          <a:bodyPr wrap="square">
            <a:spAutoFit/>
          </a:bodyPr>
          <a:lstStyle/>
          <a:p>
            <a:pPr algn="l"/>
            <a:r>
              <a:rPr sz="1200" b="0" i="0">
                <a:solidFill>
                  <a:srgbClr val="333333"/>
                </a:solidFill>
                <a:latin typeface="Calibri"/>
              </a:rPr>
              <a:t>W</a:t>
            </a:r>
          </a:p>
        </p:txBody>
      </p:sp>
      <p:sp>
        <p:nvSpPr>
          <p:cNvPr id="47" name="TextBox 46"/>
          <p:cNvSpPr txBox="1"/>
          <p:nvPr/>
        </p:nvSpPr>
        <p:spPr>
          <a:xfrm>
            <a:off x="4526280" y="4261103"/>
            <a:ext cx="2011680" cy="329184"/>
          </a:xfrm>
          <a:prstGeom prst="rect">
            <a:avLst/>
          </a:prstGeom>
          <a:noFill/>
        </p:spPr>
        <p:txBody>
          <a:bodyPr wrap="square">
            <a:spAutoFit/>
          </a:bodyPr>
          <a:lstStyle/>
          <a:p>
            <a:pPr algn="l"/>
            <a:r>
              <a:rPr sz="1200" b="0" i="0">
                <a:solidFill>
                  <a:srgbClr val="333333"/>
                </a:solidFill>
                <a:latin typeface="Calibri"/>
              </a:rPr>
              <a:t>Computed (STM32)</a:t>
            </a:r>
          </a:p>
        </p:txBody>
      </p:sp>
      <p:sp>
        <p:nvSpPr>
          <p:cNvPr id="48" name="TextBox 47"/>
          <p:cNvSpPr txBox="1"/>
          <p:nvPr/>
        </p:nvSpPr>
        <p:spPr>
          <a:xfrm>
            <a:off x="6629400" y="4261103"/>
            <a:ext cx="2011680" cy="329184"/>
          </a:xfrm>
          <a:prstGeom prst="rect">
            <a:avLst/>
          </a:prstGeom>
          <a:noFill/>
        </p:spPr>
        <p:txBody>
          <a:bodyPr wrap="square">
            <a:spAutoFit/>
          </a:bodyPr>
          <a:lstStyle/>
          <a:p>
            <a:pPr algn="l"/>
            <a:r>
              <a:rPr sz="1200" b="0" i="0">
                <a:solidFill>
                  <a:srgbClr val="333333"/>
                </a:solidFill>
                <a:latin typeface="Calibri"/>
              </a:rPr>
              <a:t>1 kHz</a:t>
            </a:r>
          </a:p>
        </p:txBody>
      </p:sp>
      <p:sp>
        <p:nvSpPr>
          <p:cNvPr id="49" name="TextBox 48"/>
          <p:cNvSpPr txBox="1"/>
          <p:nvPr/>
        </p:nvSpPr>
        <p:spPr>
          <a:xfrm>
            <a:off x="8732520" y="4261103"/>
            <a:ext cx="3017520" cy="329184"/>
          </a:xfrm>
          <a:prstGeom prst="rect">
            <a:avLst/>
          </a:prstGeom>
          <a:noFill/>
        </p:spPr>
        <p:txBody>
          <a:bodyPr wrap="square">
            <a:spAutoFit/>
          </a:bodyPr>
          <a:lstStyle/>
          <a:p>
            <a:pPr algn="l"/>
            <a:r>
              <a:rPr sz="1200" b="0" i="0">
                <a:solidFill>
                  <a:srgbClr val="333333"/>
                </a:solidFill>
                <a:latin typeface="Calibri"/>
              </a:rPr>
              <a:t>Instantaneous power</a:t>
            </a:r>
          </a:p>
        </p:txBody>
      </p:sp>
      <p:sp>
        <p:nvSpPr>
          <p:cNvPr id="50" name="Rectangle 49"/>
          <p:cNvSpPr/>
          <p:nvPr/>
        </p:nvSpPr>
        <p:spPr>
          <a:xfrm>
            <a:off x="274320" y="4663440"/>
            <a:ext cx="11640312" cy="4389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0040" y="4718303"/>
            <a:ext cx="2011680" cy="329184"/>
          </a:xfrm>
          <a:prstGeom prst="rect">
            <a:avLst/>
          </a:prstGeom>
          <a:noFill/>
        </p:spPr>
        <p:txBody>
          <a:bodyPr wrap="square">
            <a:spAutoFit/>
          </a:bodyPr>
          <a:lstStyle/>
          <a:p>
            <a:pPr algn="l"/>
            <a:r>
              <a:rPr sz="1200" b="0" i="0">
                <a:solidFill>
                  <a:srgbClr val="333333"/>
                </a:solidFill>
                <a:latin typeface="Calibri"/>
              </a:rPr>
              <a:t>Energy (E = ∫P dt)</a:t>
            </a:r>
          </a:p>
        </p:txBody>
      </p:sp>
      <p:sp>
        <p:nvSpPr>
          <p:cNvPr id="52" name="TextBox 51"/>
          <p:cNvSpPr txBox="1"/>
          <p:nvPr/>
        </p:nvSpPr>
        <p:spPr>
          <a:xfrm>
            <a:off x="2423160" y="4718303"/>
            <a:ext cx="2011680" cy="329184"/>
          </a:xfrm>
          <a:prstGeom prst="rect">
            <a:avLst/>
          </a:prstGeom>
          <a:noFill/>
        </p:spPr>
        <p:txBody>
          <a:bodyPr wrap="square">
            <a:spAutoFit/>
          </a:bodyPr>
          <a:lstStyle/>
          <a:p>
            <a:pPr algn="l"/>
            <a:r>
              <a:rPr sz="1200" b="0" i="0">
                <a:solidFill>
                  <a:srgbClr val="333333"/>
                </a:solidFill>
                <a:latin typeface="Calibri"/>
              </a:rPr>
              <a:t>Wh</a:t>
            </a:r>
          </a:p>
        </p:txBody>
      </p:sp>
      <p:sp>
        <p:nvSpPr>
          <p:cNvPr id="53" name="TextBox 52"/>
          <p:cNvSpPr txBox="1"/>
          <p:nvPr/>
        </p:nvSpPr>
        <p:spPr>
          <a:xfrm>
            <a:off x="4526280" y="4718303"/>
            <a:ext cx="2011680" cy="329184"/>
          </a:xfrm>
          <a:prstGeom prst="rect">
            <a:avLst/>
          </a:prstGeom>
          <a:noFill/>
        </p:spPr>
        <p:txBody>
          <a:bodyPr wrap="square">
            <a:spAutoFit/>
          </a:bodyPr>
          <a:lstStyle/>
          <a:p>
            <a:pPr algn="l"/>
            <a:r>
              <a:rPr sz="1200" b="0" i="0">
                <a:solidFill>
                  <a:srgbClr val="333333"/>
                </a:solidFill>
                <a:latin typeface="Calibri"/>
              </a:rPr>
              <a:t>Computed (STM32)</a:t>
            </a:r>
          </a:p>
        </p:txBody>
      </p:sp>
      <p:sp>
        <p:nvSpPr>
          <p:cNvPr id="54" name="TextBox 53"/>
          <p:cNvSpPr txBox="1"/>
          <p:nvPr/>
        </p:nvSpPr>
        <p:spPr>
          <a:xfrm>
            <a:off x="6629400" y="4718303"/>
            <a:ext cx="2011680" cy="329184"/>
          </a:xfrm>
          <a:prstGeom prst="rect">
            <a:avLst/>
          </a:prstGeom>
          <a:noFill/>
        </p:spPr>
        <p:txBody>
          <a:bodyPr wrap="square">
            <a:spAutoFit/>
          </a:bodyPr>
          <a:lstStyle/>
          <a:p>
            <a:pPr algn="l"/>
            <a:r>
              <a:rPr sz="1200" b="0" i="0">
                <a:solidFill>
                  <a:srgbClr val="333333"/>
                </a:solidFill>
                <a:latin typeface="Calibri"/>
              </a:rPr>
              <a:t>1 Hz (logged)</a:t>
            </a:r>
          </a:p>
        </p:txBody>
      </p:sp>
      <p:sp>
        <p:nvSpPr>
          <p:cNvPr id="55" name="TextBox 54"/>
          <p:cNvSpPr txBox="1"/>
          <p:nvPr/>
        </p:nvSpPr>
        <p:spPr>
          <a:xfrm>
            <a:off x="8732520" y="4718303"/>
            <a:ext cx="3017520" cy="329184"/>
          </a:xfrm>
          <a:prstGeom prst="rect">
            <a:avLst/>
          </a:prstGeom>
          <a:noFill/>
        </p:spPr>
        <p:txBody>
          <a:bodyPr wrap="square">
            <a:spAutoFit/>
          </a:bodyPr>
          <a:lstStyle/>
          <a:p>
            <a:pPr algn="l"/>
            <a:r>
              <a:rPr sz="1200" b="0" i="0">
                <a:solidFill>
                  <a:srgbClr val="333333"/>
                </a:solidFill>
                <a:latin typeface="Calibri"/>
              </a:rPr>
              <a:t>Total energy transferred</a:t>
            </a:r>
          </a:p>
        </p:txBody>
      </p:sp>
      <p:sp>
        <p:nvSpPr>
          <p:cNvPr id="56" name="Rectangle 55"/>
          <p:cNvSpPr/>
          <p:nvPr/>
        </p:nvSpPr>
        <p:spPr>
          <a:xfrm>
            <a:off x="274320" y="5120640"/>
            <a:ext cx="11640312"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0040" y="5175503"/>
            <a:ext cx="2011680" cy="329184"/>
          </a:xfrm>
          <a:prstGeom prst="rect">
            <a:avLst/>
          </a:prstGeom>
          <a:noFill/>
        </p:spPr>
        <p:txBody>
          <a:bodyPr wrap="square">
            <a:spAutoFit/>
          </a:bodyPr>
          <a:lstStyle/>
          <a:p>
            <a:pPr algn="l"/>
            <a:r>
              <a:rPr sz="1200" b="0" i="0">
                <a:solidFill>
                  <a:srgbClr val="333333"/>
                </a:solidFill>
                <a:latin typeface="Calibri"/>
              </a:rPr>
              <a:t>PWM Duty Cycle</a:t>
            </a:r>
          </a:p>
        </p:txBody>
      </p:sp>
      <p:sp>
        <p:nvSpPr>
          <p:cNvPr id="58" name="TextBox 57"/>
          <p:cNvSpPr txBox="1"/>
          <p:nvPr/>
        </p:nvSpPr>
        <p:spPr>
          <a:xfrm>
            <a:off x="2423160" y="5175503"/>
            <a:ext cx="2011680" cy="329184"/>
          </a:xfrm>
          <a:prstGeom prst="rect">
            <a:avLst/>
          </a:prstGeom>
          <a:noFill/>
        </p:spPr>
        <p:txBody>
          <a:bodyPr wrap="square">
            <a:spAutoFit/>
          </a:bodyPr>
          <a:lstStyle/>
          <a:p>
            <a:pPr algn="l"/>
            <a:r>
              <a:rPr sz="1200" b="0" i="0">
                <a:solidFill>
                  <a:srgbClr val="333333"/>
                </a:solidFill>
                <a:latin typeface="Calibri"/>
              </a:rPr>
              <a:t>%</a:t>
            </a:r>
          </a:p>
        </p:txBody>
      </p:sp>
      <p:sp>
        <p:nvSpPr>
          <p:cNvPr id="59" name="TextBox 58"/>
          <p:cNvSpPr txBox="1"/>
          <p:nvPr/>
        </p:nvSpPr>
        <p:spPr>
          <a:xfrm>
            <a:off x="4526280" y="5175503"/>
            <a:ext cx="2011680" cy="329184"/>
          </a:xfrm>
          <a:prstGeom prst="rect">
            <a:avLst/>
          </a:prstGeom>
          <a:noFill/>
        </p:spPr>
        <p:txBody>
          <a:bodyPr wrap="square">
            <a:spAutoFit/>
          </a:bodyPr>
          <a:lstStyle/>
          <a:p>
            <a:pPr algn="l"/>
            <a:r>
              <a:rPr sz="1200" b="0" i="0">
                <a:solidFill>
                  <a:srgbClr val="333333"/>
                </a:solidFill>
                <a:latin typeface="Calibri"/>
              </a:rPr>
              <a:t>STM32 TIM1 register</a:t>
            </a:r>
          </a:p>
        </p:txBody>
      </p:sp>
      <p:sp>
        <p:nvSpPr>
          <p:cNvPr id="60" name="TextBox 59"/>
          <p:cNvSpPr txBox="1"/>
          <p:nvPr/>
        </p:nvSpPr>
        <p:spPr>
          <a:xfrm>
            <a:off x="6629400" y="5175503"/>
            <a:ext cx="2011680" cy="329184"/>
          </a:xfrm>
          <a:prstGeom prst="rect">
            <a:avLst/>
          </a:prstGeom>
          <a:noFill/>
        </p:spPr>
        <p:txBody>
          <a:bodyPr wrap="square">
            <a:spAutoFit/>
          </a:bodyPr>
          <a:lstStyle/>
          <a:p>
            <a:pPr algn="l"/>
            <a:r>
              <a:rPr sz="1200" b="0" i="0">
                <a:solidFill>
                  <a:srgbClr val="333333"/>
                </a:solidFill>
                <a:latin typeface="Calibri"/>
              </a:rPr>
              <a:t>1 Hz (logged)</a:t>
            </a:r>
          </a:p>
        </p:txBody>
      </p:sp>
      <p:sp>
        <p:nvSpPr>
          <p:cNvPr id="61" name="TextBox 60"/>
          <p:cNvSpPr txBox="1"/>
          <p:nvPr/>
        </p:nvSpPr>
        <p:spPr>
          <a:xfrm>
            <a:off x="8732520" y="5175503"/>
            <a:ext cx="3017520" cy="329184"/>
          </a:xfrm>
          <a:prstGeom prst="rect">
            <a:avLst/>
          </a:prstGeom>
          <a:noFill/>
        </p:spPr>
        <p:txBody>
          <a:bodyPr wrap="square">
            <a:spAutoFit/>
          </a:bodyPr>
          <a:lstStyle/>
          <a:p>
            <a:pPr algn="l"/>
            <a:r>
              <a:rPr sz="1200" b="0" i="0">
                <a:solidFill>
                  <a:srgbClr val="333333"/>
                </a:solidFill>
                <a:latin typeface="Calibri"/>
              </a:rPr>
              <a:t>Control loop state</a:t>
            </a:r>
          </a:p>
        </p:txBody>
      </p:sp>
      <p:sp>
        <p:nvSpPr>
          <p:cNvPr id="62" name="Rectangle 61"/>
          <p:cNvSpPr/>
          <p:nvPr/>
        </p:nvSpPr>
        <p:spPr>
          <a:xfrm>
            <a:off x="274320" y="5669280"/>
            <a:ext cx="11640312" cy="64008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5742432"/>
            <a:ext cx="11430000" cy="502920"/>
          </a:xfrm>
          <a:prstGeom prst="rect">
            <a:avLst/>
          </a:prstGeom>
          <a:noFill/>
        </p:spPr>
        <p:txBody>
          <a:bodyPr wrap="square">
            <a:spAutoFit/>
          </a:bodyPr>
          <a:lstStyle/>
          <a:p>
            <a:pPr algn="ctr"/>
            <a:r>
              <a:rPr sz="1300" b="0" i="0">
                <a:solidFill>
                  <a:srgbClr val="003366"/>
                </a:solidFill>
                <a:latin typeface="Calibri"/>
              </a:rPr>
              <a:t>📦  Logging: SD Card (local) + Cloud (via ESP8266)  |  📅  Sessions: timestamped per experiment run  |  📊  Analysis: Buffered vs. Non-buffered comparison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Current Progress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Mid-Semester Status Report</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3657600" cy="493776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3657600" cy="4572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08760"/>
            <a:ext cx="3383280" cy="347472"/>
          </a:xfrm>
          <a:prstGeom prst="rect">
            <a:avLst/>
          </a:prstGeom>
          <a:noFill/>
        </p:spPr>
        <p:txBody>
          <a:bodyPr wrap="square">
            <a:spAutoFit/>
          </a:bodyPr>
          <a:lstStyle/>
          <a:p>
            <a:pPr algn="l"/>
            <a:r>
              <a:rPr sz="1600" b="1" i="0">
                <a:solidFill>
                  <a:srgbClr val="FFFFFF"/>
                </a:solidFill>
                <a:latin typeface="Calibri"/>
              </a:rPr>
              <a:t>✅  COMPLETED</a:t>
            </a:r>
          </a:p>
        </p:txBody>
      </p:sp>
      <p:sp>
        <p:nvSpPr>
          <p:cNvPr id="11" name="TextBox 10"/>
          <p:cNvSpPr txBox="1"/>
          <p:nvPr/>
        </p:nvSpPr>
        <p:spPr>
          <a:xfrm>
            <a:off x="411480" y="2011680"/>
            <a:ext cx="3383280" cy="4297680"/>
          </a:xfrm>
          <a:prstGeom prst="rect">
            <a:avLst/>
          </a:prstGeom>
          <a:noFill/>
        </p:spPr>
        <p:txBody>
          <a:bodyPr wrap="square">
            <a:spAutoFit/>
          </a:bodyPr>
          <a:lstStyle/>
          <a:p>
            <a:pPr algn="l"/>
            <a:r>
              <a:rPr sz="1300">
                <a:solidFill>
                  <a:srgbClr val="333333"/>
                </a:solidFill>
                <a:latin typeface="Calibri"/>
              </a:rPr>
              <a:t>• Project design and
  feasibility analysis</a:t>
            </a:r>
          </a:p>
          <a:p>
            <a:pPr algn="l"/>
            <a:r>
              <a:rPr sz="1300">
                <a:solidFill>
                  <a:srgbClr val="333333"/>
                </a:solidFill>
                <a:latin typeface="Calibri"/>
              </a:rPr>
              <a:t>• Literature review (5 papers)
  and gap identification</a:t>
            </a:r>
          </a:p>
          <a:p>
            <a:pPr algn="l"/>
            <a:r>
              <a:rPr sz="1300">
                <a:solidFill>
                  <a:srgbClr val="333333"/>
                </a:solidFill>
                <a:latin typeface="Calibri"/>
              </a:rPr>
              <a:t>• System architecture
  finalization</a:t>
            </a:r>
          </a:p>
          <a:p>
            <a:pPr algn="l"/>
            <a:r>
              <a:rPr sz="1300">
                <a:solidFill>
                  <a:srgbClr val="333333"/>
                </a:solidFill>
                <a:latin typeface="Calibri"/>
              </a:rPr>
              <a:t>• Component selection
  and BOM creation</a:t>
            </a:r>
          </a:p>
          <a:p>
            <a:pPr algn="l"/>
            <a:r>
              <a:rPr sz="1300">
                <a:solidFill>
                  <a:srgbClr val="333333"/>
                </a:solidFill>
                <a:latin typeface="Calibri"/>
              </a:rPr>
              <a:t>• Computation methodology
  definition</a:t>
            </a:r>
          </a:p>
          <a:p>
            <a:pPr algn="l"/>
            <a:r>
              <a:rPr sz="1300">
                <a:solidFill>
                  <a:srgbClr val="333333"/>
                </a:solidFill>
                <a:latin typeface="Calibri"/>
              </a:rPr>
              <a:t>• All documentation
  created</a:t>
            </a:r>
          </a:p>
          <a:p>
            <a:pPr algn="l"/>
            <a:r>
              <a:rPr sz="1300">
                <a:solidFill>
                  <a:srgbClr val="333333"/>
                </a:solidFill>
                <a:latin typeface="Calibri"/>
              </a:rPr>
              <a:t>• GitHub repository
  structure set up</a:t>
            </a:r>
          </a:p>
        </p:txBody>
      </p:sp>
      <p:sp>
        <p:nvSpPr>
          <p:cNvPr id="12" name="Rectangle 11"/>
          <p:cNvSpPr/>
          <p:nvPr/>
        </p:nvSpPr>
        <p:spPr>
          <a:xfrm>
            <a:off x="4114800" y="1463040"/>
            <a:ext cx="3657600" cy="4937760"/>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463040"/>
            <a:ext cx="3657600" cy="4572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508760"/>
            <a:ext cx="3383280" cy="347472"/>
          </a:xfrm>
          <a:prstGeom prst="rect">
            <a:avLst/>
          </a:prstGeom>
          <a:noFill/>
        </p:spPr>
        <p:txBody>
          <a:bodyPr wrap="square">
            <a:spAutoFit/>
          </a:bodyPr>
          <a:lstStyle/>
          <a:p>
            <a:pPr algn="l"/>
            <a:r>
              <a:rPr sz="1600" b="1" i="0">
                <a:solidFill>
                  <a:srgbClr val="FFFFFF"/>
                </a:solidFill>
                <a:latin typeface="Calibri"/>
              </a:rPr>
              <a:t>🔄  IN PROGRESS</a:t>
            </a:r>
          </a:p>
        </p:txBody>
      </p:sp>
      <p:sp>
        <p:nvSpPr>
          <p:cNvPr id="15" name="TextBox 14"/>
          <p:cNvSpPr txBox="1"/>
          <p:nvPr/>
        </p:nvSpPr>
        <p:spPr>
          <a:xfrm>
            <a:off x="4251960" y="2011680"/>
            <a:ext cx="3383280" cy="4297680"/>
          </a:xfrm>
          <a:prstGeom prst="rect">
            <a:avLst/>
          </a:prstGeom>
          <a:noFill/>
        </p:spPr>
        <p:txBody>
          <a:bodyPr wrap="square">
            <a:spAutoFit/>
          </a:bodyPr>
          <a:lstStyle/>
          <a:p>
            <a:pPr algn="l"/>
            <a:r>
              <a:rPr sz="1300">
                <a:solidFill>
                  <a:srgbClr val="333333"/>
                </a:solidFill>
                <a:latin typeface="Calibri"/>
              </a:rPr>
              <a:t>• STM32 firmware: ADC
  module development</a:t>
            </a:r>
          </a:p>
          <a:p>
            <a:pPr algn="l"/>
            <a:r>
              <a:rPr sz="1300">
                <a:solidFill>
                  <a:srgbClr val="333333"/>
                </a:solidFill>
                <a:latin typeface="Calibri"/>
              </a:rPr>
              <a:t>• PWM control module
  (TIM1 configuration)</a:t>
            </a:r>
          </a:p>
          <a:p>
            <a:pPr algn="l"/>
            <a:r>
              <a:rPr sz="1300">
                <a:solidFill>
                  <a:srgbClr val="333333"/>
                </a:solidFill>
                <a:latin typeface="Calibri"/>
              </a:rPr>
              <a:t>• IoT communication
  protocol design</a:t>
            </a:r>
          </a:p>
          <a:p>
            <a:pPr algn="l"/>
            <a:r>
              <a:rPr sz="1300">
                <a:solidFill>
                  <a:srgbClr val="333333"/>
                </a:solidFill>
                <a:latin typeface="Calibri"/>
              </a:rPr>
              <a:t>• Dashboard mockup
  and architecture</a:t>
            </a:r>
          </a:p>
          <a:p>
            <a:pPr algn="l"/>
            <a:r>
              <a:rPr sz="1300">
                <a:solidFill>
                  <a:srgbClr val="333333"/>
                </a:solidFill>
                <a:latin typeface="Calibri"/>
              </a:rPr>
              <a:t>• Hardware component
  procurement</a:t>
            </a:r>
          </a:p>
        </p:txBody>
      </p:sp>
      <p:sp>
        <p:nvSpPr>
          <p:cNvPr id="16" name="Rectangle 15"/>
          <p:cNvSpPr/>
          <p:nvPr/>
        </p:nvSpPr>
        <p:spPr>
          <a:xfrm>
            <a:off x="7955279" y="1463040"/>
            <a:ext cx="3959352" cy="493776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1463040"/>
            <a:ext cx="3959352" cy="45720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508760"/>
            <a:ext cx="3749039" cy="347472"/>
          </a:xfrm>
          <a:prstGeom prst="rect">
            <a:avLst/>
          </a:prstGeom>
          <a:noFill/>
        </p:spPr>
        <p:txBody>
          <a:bodyPr wrap="square">
            <a:spAutoFit/>
          </a:bodyPr>
          <a:lstStyle/>
          <a:p>
            <a:pPr algn="l"/>
            <a:r>
              <a:rPr sz="1600" b="1" i="0">
                <a:solidFill>
                  <a:srgbClr val="FFFFFF"/>
                </a:solidFill>
                <a:latin typeface="Calibri"/>
              </a:rPr>
              <a:t>📅  UPCOMING</a:t>
            </a:r>
          </a:p>
        </p:txBody>
      </p:sp>
      <p:sp>
        <p:nvSpPr>
          <p:cNvPr id="19" name="TextBox 18"/>
          <p:cNvSpPr txBox="1"/>
          <p:nvPr/>
        </p:nvSpPr>
        <p:spPr>
          <a:xfrm>
            <a:off x="8092440" y="2011680"/>
            <a:ext cx="3749039" cy="4297680"/>
          </a:xfrm>
          <a:prstGeom prst="rect">
            <a:avLst/>
          </a:prstGeom>
          <a:noFill/>
        </p:spPr>
        <p:txBody>
          <a:bodyPr wrap="square">
            <a:spAutoFit/>
          </a:bodyPr>
          <a:lstStyle/>
          <a:p>
            <a:pPr algn="l"/>
            <a:r>
              <a:rPr sz="1300">
                <a:solidFill>
                  <a:srgbClr val="333333"/>
                </a:solidFill>
                <a:latin typeface="Calibri"/>
              </a:rPr>
              <a:t>• Hardware assembly
  and wiring</a:t>
            </a:r>
          </a:p>
          <a:p>
            <a:pPr algn="l"/>
            <a:r>
              <a:rPr sz="1300">
                <a:solidFill>
                  <a:srgbClr val="333333"/>
                </a:solidFill>
                <a:latin typeface="Calibri"/>
              </a:rPr>
              <a:t>• Firmware testing
  and debugging</a:t>
            </a:r>
          </a:p>
          <a:p>
            <a:pPr algn="l"/>
            <a:r>
              <a:rPr sz="1300">
                <a:solidFill>
                  <a:srgbClr val="333333"/>
                </a:solidFill>
                <a:latin typeface="Calibri"/>
              </a:rPr>
              <a:t>• ESP8266 IoT gateway
  implementation</a:t>
            </a:r>
          </a:p>
          <a:p>
            <a:pPr algn="l"/>
            <a:r>
              <a:rPr sz="1300">
                <a:solidFill>
                  <a:srgbClr val="333333"/>
                </a:solidFill>
                <a:latin typeface="Calibri"/>
              </a:rPr>
              <a:t>• Cloud backend API
  development</a:t>
            </a:r>
          </a:p>
          <a:p>
            <a:pPr algn="l"/>
            <a:r>
              <a:rPr sz="1300">
                <a:solidFill>
                  <a:srgbClr val="333333"/>
                </a:solidFill>
                <a:latin typeface="Calibri"/>
              </a:rPr>
              <a:t>• Dashboard deployment
  (React + Chart.js)</a:t>
            </a:r>
          </a:p>
          <a:p>
            <a:pPr algn="l"/>
            <a:r>
              <a:rPr sz="1300">
                <a:solidFill>
                  <a:srgbClr val="333333"/>
                </a:solidFill>
                <a:latin typeface="Calibri"/>
              </a:rPr>
              <a:t>• Experimental data
  collection</a:t>
            </a:r>
          </a:p>
          <a:p>
            <a:pPr algn="l"/>
            <a:r>
              <a:rPr sz="1300">
                <a:solidFill>
                  <a:srgbClr val="333333"/>
                </a:solidFill>
                <a:latin typeface="Calibri"/>
              </a:rPr>
              <a:t>• Performance analysis
  and report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Data Collection</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Simulation &amp; Demo Approach (Without Hardware)</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73152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1554480"/>
            <a:ext cx="731520" cy="685800"/>
          </a:xfrm>
          <a:prstGeom prst="rect">
            <a:avLst/>
          </a:prstGeom>
          <a:noFill/>
        </p:spPr>
        <p:txBody>
          <a:bodyPr wrap="square">
            <a:spAutoFit/>
          </a:bodyPr>
          <a:lstStyle/>
          <a:p>
            <a:pPr algn="ctr"/>
            <a:r>
              <a:rPr sz="2600" b="0" i="0">
                <a:solidFill>
                  <a:srgbClr val="FFFFFF"/>
                </a:solidFill>
                <a:latin typeface="Calibri"/>
              </a:rPr>
              <a:t>🐍</a:t>
            </a:r>
          </a:p>
        </p:txBody>
      </p:sp>
      <p:sp>
        <p:nvSpPr>
          <p:cNvPr id="10" name="Rectangle 9"/>
          <p:cNvSpPr/>
          <p:nvPr/>
        </p:nvSpPr>
        <p:spPr>
          <a:xfrm>
            <a:off x="1097280" y="1463040"/>
            <a:ext cx="10817352"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1508760"/>
            <a:ext cx="10515600" cy="320040"/>
          </a:xfrm>
          <a:prstGeom prst="rect">
            <a:avLst/>
          </a:prstGeom>
          <a:noFill/>
        </p:spPr>
        <p:txBody>
          <a:bodyPr wrap="square">
            <a:spAutoFit/>
          </a:bodyPr>
          <a:lstStyle/>
          <a:p>
            <a:pPr algn="l"/>
            <a:r>
              <a:rPr sz="1600" b="1" i="0">
                <a:solidFill>
                  <a:srgbClr val="005599"/>
                </a:solidFill>
                <a:latin typeface="Calibri"/>
              </a:rPr>
              <a:t>Python STM32 Simulator</a:t>
            </a:r>
          </a:p>
        </p:txBody>
      </p:sp>
      <p:sp>
        <p:nvSpPr>
          <p:cNvPr id="12" name="TextBox 11"/>
          <p:cNvSpPr txBox="1"/>
          <p:nvPr/>
        </p:nvSpPr>
        <p:spPr>
          <a:xfrm>
            <a:off x="1234440" y="1865376"/>
            <a:ext cx="10515600" cy="420624"/>
          </a:xfrm>
          <a:prstGeom prst="rect">
            <a:avLst/>
          </a:prstGeom>
          <a:noFill/>
        </p:spPr>
        <p:txBody>
          <a:bodyPr wrap="square">
            <a:spAutoFit/>
          </a:bodyPr>
          <a:lstStyle/>
          <a:p>
            <a:pPr algn="l"/>
            <a:r>
              <a:rPr sz="1300" b="0" i="0">
                <a:solidFill>
                  <a:srgbClr val="333333"/>
                </a:solidFill>
                <a:latin typeface="Calibri"/>
              </a:rPr>
              <a:t>Generates realistic V, I waveforms with noise, simulates PI control loop, produces JSON output identical to real STM32 UART output</a:t>
            </a:r>
          </a:p>
        </p:txBody>
      </p:sp>
      <p:sp>
        <p:nvSpPr>
          <p:cNvPr id="13" name="Rectangle 12"/>
          <p:cNvSpPr/>
          <p:nvPr/>
        </p:nvSpPr>
        <p:spPr>
          <a:xfrm>
            <a:off x="274320" y="2423160"/>
            <a:ext cx="73152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2514600"/>
            <a:ext cx="731520" cy="685800"/>
          </a:xfrm>
          <a:prstGeom prst="rect">
            <a:avLst/>
          </a:prstGeom>
          <a:noFill/>
        </p:spPr>
        <p:txBody>
          <a:bodyPr wrap="square">
            <a:spAutoFit/>
          </a:bodyPr>
          <a:lstStyle/>
          <a:p>
            <a:pPr algn="ctr"/>
            <a:r>
              <a:rPr sz="2600" b="0" i="0">
                <a:solidFill>
                  <a:srgbClr val="FFFFFF"/>
                </a:solidFill>
                <a:latin typeface="Calibri"/>
              </a:rPr>
              <a:t>📈</a:t>
            </a:r>
          </a:p>
        </p:txBody>
      </p:sp>
      <p:sp>
        <p:nvSpPr>
          <p:cNvPr id="15" name="Rectangle 14"/>
          <p:cNvSpPr/>
          <p:nvPr/>
        </p:nvSpPr>
        <p:spPr>
          <a:xfrm>
            <a:off x="1097280" y="2423160"/>
            <a:ext cx="10817352"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2468880"/>
            <a:ext cx="10515600" cy="320040"/>
          </a:xfrm>
          <a:prstGeom prst="rect">
            <a:avLst/>
          </a:prstGeom>
          <a:noFill/>
        </p:spPr>
        <p:txBody>
          <a:bodyPr wrap="square">
            <a:spAutoFit/>
          </a:bodyPr>
          <a:lstStyle/>
          <a:p>
            <a:pPr algn="l"/>
            <a:r>
              <a:rPr sz="1600" b="1" i="0">
                <a:solidFill>
                  <a:srgbClr val="005599"/>
                </a:solidFill>
                <a:latin typeface="Calibri"/>
              </a:rPr>
              <a:t>Realistic Charging Curves</a:t>
            </a:r>
          </a:p>
        </p:txBody>
      </p:sp>
      <p:sp>
        <p:nvSpPr>
          <p:cNvPr id="17" name="TextBox 16"/>
          <p:cNvSpPr txBox="1"/>
          <p:nvPr/>
        </p:nvSpPr>
        <p:spPr>
          <a:xfrm>
            <a:off x="1234440" y="2825496"/>
            <a:ext cx="10515600" cy="420624"/>
          </a:xfrm>
          <a:prstGeom prst="rect">
            <a:avLst/>
          </a:prstGeom>
          <a:noFill/>
        </p:spPr>
        <p:txBody>
          <a:bodyPr wrap="square">
            <a:spAutoFit/>
          </a:bodyPr>
          <a:lstStyle/>
          <a:p>
            <a:pPr algn="l"/>
            <a:r>
              <a:rPr sz="1300" b="0" i="0">
                <a:solidFill>
                  <a:srgbClr val="333333"/>
                </a:solidFill>
                <a:latin typeface="Calibri"/>
              </a:rPr>
              <a:t>Battery voltage rises from 3.7V to 4.2V (Li-ion CC/CV profile). Input voltage varies ±20% to simulate solar intermittency</a:t>
            </a:r>
          </a:p>
        </p:txBody>
      </p:sp>
      <p:sp>
        <p:nvSpPr>
          <p:cNvPr id="18" name="Rectangle 17"/>
          <p:cNvSpPr/>
          <p:nvPr/>
        </p:nvSpPr>
        <p:spPr>
          <a:xfrm>
            <a:off x="274320" y="3383280"/>
            <a:ext cx="73152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3474720"/>
            <a:ext cx="731520" cy="685800"/>
          </a:xfrm>
          <a:prstGeom prst="rect">
            <a:avLst/>
          </a:prstGeom>
          <a:noFill/>
        </p:spPr>
        <p:txBody>
          <a:bodyPr wrap="square">
            <a:spAutoFit/>
          </a:bodyPr>
          <a:lstStyle/>
          <a:p>
            <a:pPr algn="ctr"/>
            <a:r>
              <a:rPr sz="2600" b="0" i="0">
                <a:solidFill>
                  <a:srgbClr val="FFFFFF"/>
                </a:solidFill>
                <a:latin typeface="Calibri"/>
              </a:rPr>
              <a:t>🌐</a:t>
            </a:r>
          </a:p>
        </p:txBody>
      </p:sp>
      <p:sp>
        <p:nvSpPr>
          <p:cNvPr id="20" name="Rectangle 19"/>
          <p:cNvSpPr/>
          <p:nvPr/>
        </p:nvSpPr>
        <p:spPr>
          <a:xfrm>
            <a:off x="1097280" y="3383280"/>
            <a:ext cx="10817352"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3429000"/>
            <a:ext cx="10515600" cy="320040"/>
          </a:xfrm>
          <a:prstGeom prst="rect">
            <a:avLst/>
          </a:prstGeom>
          <a:noFill/>
        </p:spPr>
        <p:txBody>
          <a:bodyPr wrap="square">
            <a:spAutoFit/>
          </a:bodyPr>
          <a:lstStyle/>
          <a:p>
            <a:pPr algn="l"/>
            <a:r>
              <a:rPr sz="1600" b="1" i="0">
                <a:solidFill>
                  <a:srgbClr val="005599"/>
                </a:solidFill>
                <a:latin typeface="Calibri"/>
              </a:rPr>
              <a:t>Dashboard Prototype</a:t>
            </a:r>
          </a:p>
        </p:txBody>
      </p:sp>
      <p:sp>
        <p:nvSpPr>
          <p:cNvPr id="22" name="TextBox 21"/>
          <p:cNvSpPr txBox="1"/>
          <p:nvPr/>
        </p:nvSpPr>
        <p:spPr>
          <a:xfrm>
            <a:off x="1234440" y="3785616"/>
            <a:ext cx="10515600" cy="420624"/>
          </a:xfrm>
          <a:prstGeom prst="rect">
            <a:avLst/>
          </a:prstGeom>
          <a:noFill/>
        </p:spPr>
        <p:txBody>
          <a:bodyPr wrap="square">
            <a:spAutoFit/>
          </a:bodyPr>
          <a:lstStyle/>
          <a:p>
            <a:pPr algn="l"/>
            <a:r>
              <a:rPr sz="1300" b="0" i="0">
                <a:solidFill>
                  <a:srgbClr val="333333"/>
                </a:solidFill>
                <a:latin typeface="Calibri"/>
              </a:rPr>
              <a:t>Fully functional React dashboard consuming simulated data stream. All charts, gauges, and metrics work with simulated data</a:t>
            </a:r>
          </a:p>
        </p:txBody>
      </p:sp>
      <p:sp>
        <p:nvSpPr>
          <p:cNvPr id="23" name="Rectangle 22"/>
          <p:cNvSpPr/>
          <p:nvPr/>
        </p:nvSpPr>
        <p:spPr>
          <a:xfrm>
            <a:off x="274320" y="4343400"/>
            <a:ext cx="73152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4434840"/>
            <a:ext cx="731520" cy="685800"/>
          </a:xfrm>
          <a:prstGeom prst="rect">
            <a:avLst/>
          </a:prstGeom>
          <a:noFill/>
        </p:spPr>
        <p:txBody>
          <a:bodyPr wrap="square">
            <a:spAutoFit/>
          </a:bodyPr>
          <a:lstStyle/>
          <a:p>
            <a:pPr algn="ctr"/>
            <a:r>
              <a:rPr sz="2600" b="0" i="0">
                <a:solidFill>
                  <a:srgbClr val="FFFFFF"/>
                </a:solidFill>
                <a:latin typeface="Calibri"/>
              </a:rPr>
              <a:t>🧪</a:t>
            </a:r>
          </a:p>
        </p:txBody>
      </p:sp>
      <p:sp>
        <p:nvSpPr>
          <p:cNvPr id="25" name="Rectangle 24"/>
          <p:cNvSpPr/>
          <p:nvPr/>
        </p:nvSpPr>
        <p:spPr>
          <a:xfrm>
            <a:off x="1097280" y="4343400"/>
            <a:ext cx="10817352"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389120"/>
            <a:ext cx="10515600" cy="320040"/>
          </a:xfrm>
          <a:prstGeom prst="rect">
            <a:avLst/>
          </a:prstGeom>
          <a:noFill/>
        </p:spPr>
        <p:txBody>
          <a:bodyPr wrap="square">
            <a:spAutoFit/>
          </a:bodyPr>
          <a:lstStyle/>
          <a:p>
            <a:pPr algn="l"/>
            <a:r>
              <a:rPr sz="1600" b="1" i="0">
                <a:solidFill>
                  <a:srgbClr val="005599"/>
                </a:solidFill>
                <a:latin typeface="Calibri"/>
              </a:rPr>
              <a:t>Test Scenarios</a:t>
            </a:r>
          </a:p>
        </p:txBody>
      </p:sp>
      <p:sp>
        <p:nvSpPr>
          <p:cNvPr id="27" name="TextBox 26"/>
          <p:cNvSpPr txBox="1"/>
          <p:nvPr/>
        </p:nvSpPr>
        <p:spPr>
          <a:xfrm>
            <a:off x="1234440" y="4745736"/>
            <a:ext cx="10515600" cy="420624"/>
          </a:xfrm>
          <a:prstGeom prst="rect">
            <a:avLst/>
          </a:prstGeom>
          <a:noFill/>
        </p:spPr>
        <p:txBody>
          <a:bodyPr wrap="square">
            <a:spAutoFit/>
          </a:bodyPr>
          <a:lstStyle/>
          <a:p>
            <a:pPr algn="l"/>
            <a:r>
              <a:rPr sz="1300" b="0" i="0">
                <a:solidFill>
                  <a:srgbClr val="333333"/>
                </a:solidFill>
                <a:latin typeface="Calibri"/>
              </a:rPr>
              <a:t>Scenario 1: Normal charging (stable input). Scenario 2: Input voltage fluctuations. Scenario 3: Protection triggers (overvoltage event). Scenario 4: Supercapacitor buffer contribution</a:t>
            </a:r>
          </a:p>
        </p:txBody>
      </p:sp>
      <p:sp>
        <p:nvSpPr>
          <p:cNvPr id="28" name="Rectangle 27"/>
          <p:cNvSpPr/>
          <p:nvPr/>
        </p:nvSpPr>
        <p:spPr>
          <a:xfrm>
            <a:off x="274320" y="5303520"/>
            <a:ext cx="731520" cy="8686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5394959"/>
            <a:ext cx="731520" cy="685800"/>
          </a:xfrm>
          <a:prstGeom prst="rect">
            <a:avLst/>
          </a:prstGeom>
          <a:noFill/>
        </p:spPr>
        <p:txBody>
          <a:bodyPr wrap="square">
            <a:spAutoFit/>
          </a:bodyPr>
          <a:lstStyle/>
          <a:p>
            <a:pPr algn="ctr"/>
            <a:r>
              <a:rPr sz="2600" b="0" i="0">
                <a:solidFill>
                  <a:srgbClr val="FFFFFF"/>
                </a:solidFill>
                <a:latin typeface="Calibri"/>
              </a:rPr>
              <a:t>📊</a:t>
            </a:r>
          </a:p>
        </p:txBody>
      </p:sp>
      <p:sp>
        <p:nvSpPr>
          <p:cNvPr id="30" name="Rectangle 29"/>
          <p:cNvSpPr/>
          <p:nvPr/>
        </p:nvSpPr>
        <p:spPr>
          <a:xfrm>
            <a:off x="1097280" y="5303520"/>
            <a:ext cx="10817352"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34440" y="5349240"/>
            <a:ext cx="10515600" cy="320040"/>
          </a:xfrm>
          <a:prstGeom prst="rect">
            <a:avLst/>
          </a:prstGeom>
          <a:noFill/>
        </p:spPr>
        <p:txBody>
          <a:bodyPr wrap="square">
            <a:spAutoFit/>
          </a:bodyPr>
          <a:lstStyle/>
          <a:p>
            <a:pPr algn="l"/>
            <a:r>
              <a:rPr sz="1600" b="1" i="0">
                <a:solidFill>
                  <a:srgbClr val="005599"/>
                </a:solidFill>
                <a:latin typeface="Calibri"/>
              </a:rPr>
              <a:t>Comparative Data</a:t>
            </a:r>
          </a:p>
        </p:txBody>
      </p:sp>
      <p:sp>
        <p:nvSpPr>
          <p:cNvPr id="32" name="TextBox 31"/>
          <p:cNvSpPr txBox="1"/>
          <p:nvPr/>
        </p:nvSpPr>
        <p:spPr>
          <a:xfrm>
            <a:off x="1234440" y="5705856"/>
            <a:ext cx="10515600" cy="420624"/>
          </a:xfrm>
          <a:prstGeom prst="rect">
            <a:avLst/>
          </a:prstGeom>
          <a:noFill/>
        </p:spPr>
        <p:txBody>
          <a:bodyPr wrap="square">
            <a:spAutoFit/>
          </a:bodyPr>
          <a:lstStyle/>
          <a:p>
            <a:pPr algn="l"/>
            <a:r>
              <a:rPr sz="1300" b="0" i="0">
                <a:solidFill>
                  <a:srgbClr val="333333"/>
                </a:solidFill>
                <a:latin typeface="Calibri"/>
              </a:rPr>
              <a:t>Side-by-side simulation of buffered vs. non-buffered operation. Quantifies expected ripple reduction and efficiency gain (benchmark: 22% from Piyumal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Expected Outcomes &amp; Deliverables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Project Outputs and Impact</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164592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11" name="TextBox 10"/>
          <p:cNvSpPr txBox="1"/>
          <p:nvPr/>
        </p:nvSpPr>
        <p:spPr>
          <a:xfrm>
            <a:off x="1097280" y="1508760"/>
            <a:ext cx="4754880" cy="347472"/>
          </a:xfrm>
          <a:prstGeom prst="rect">
            <a:avLst/>
          </a:prstGeom>
          <a:noFill/>
        </p:spPr>
        <p:txBody>
          <a:bodyPr wrap="square">
            <a:spAutoFit/>
          </a:bodyPr>
          <a:lstStyle/>
          <a:p>
            <a:pPr algn="l"/>
            <a:r>
              <a:rPr sz="1500" b="1" i="0">
                <a:solidFill>
                  <a:srgbClr val="003366"/>
                </a:solidFill>
                <a:latin typeface="Calibri"/>
              </a:rPr>
              <a:t>STM32 Firmware</a:t>
            </a:r>
          </a:p>
        </p:txBody>
      </p:sp>
      <p:sp>
        <p:nvSpPr>
          <p:cNvPr id="12" name="TextBox 11"/>
          <p:cNvSpPr txBox="1"/>
          <p:nvPr/>
        </p:nvSpPr>
        <p:spPr>
          <a:xfrm>
            <a:off x="1097280" y="1892808"/>
            <a:ext cx="4754880" cy="502920"/>
          </a:xfrm>
          <a:prstGeom prst="rect">
            <a:avLst/>
          </a:prstGeom>
          <a:noFill/>
        </p:spPr>
        <p:txBody>
          <a:bodyPr wrap="square">
            <a:spAutoFit/>
          </a:bodyPr>
          <a:lstStyle/>
          <a:p>
            <a:pPr algn="l"/>
            <a:r>
              <a:rPr sz="1200" b="0" i="0">
                <a:solidFill>
                  <a:srgbClr val="333333"/>
                </a:solidFill>
                <a:latin typeface="Calibri"/>
              </a:rPr>
              <a:t>Complete embedded C firmware with ADC sensing, PI control, power calculation, and UART transmission</a:t>
            </a:r>
          </a:p>
        </p:txBody>
      </p:sp>
      <p:sp>
        <p:nvSpPr>
          <p:cNvPr id="13" name="Rectangle 12"/>
          <p:cNvSpPr/>
          <p:nvPr/>
        </p:nvSpPr>
        <p:spPr>
          <a:xfrm>
            <a:off x="274320" y="265176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74320" y="265176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283464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16" name="TextBox 15"/>
          <p:cNvSpPr txBox="1"/>
          <p:nvPr/>
        </p:nvSpPr>
        <p:spPr>
          <a:xfrm>
            <a:off x="1097280" y="2697480"/>
            <a:ext cx="4754880" cy="347472"/>
          </a:xfrm>
          <a:prstGeom prst="rect">
            <a:avLst/>
          </a:prstGeom>
          <a:noFill/>
        </p:spPr>
        <p:txBody>
          <a:bodyPr wrap="square">
            <a:spAutoFit/>
          </a:bodyPr>
          <a:lstStyle/>
          <a:p>
            <a:pPr algn="l"/>
            <a:r>
              <a:rPr sz="1500" b="1" i="0">
                <a:solidFill>
                  <a:srgbClr val="003366"/>
                </a:solidFill>
                <a:latin typeface="Calibri"/>
              </a:rPr>
              <a:t>ESP8266 IoT Gateway</a:t>
            </a:r>
          </a:p>
        </p:txBody>
      </p:sp>
      <p:sp>
        <p:nvSpPr>
          <p:cNvPr id="17" name="TextBox 16"/>
          <p:cNvSpPr txBox="1"/>
          <p:nvPr/>
        </p:nvSpPr>
        <p:spPr>
          <a:xfrm>
            <a:off x="1097280" y="3081528"/>
            <a:ext cx="4754880" cy="502920"/>
          </a:xfrm>
          <a:prstGeom prst="rect">
            <a:avLst/>
          </a:prstGeom>
          <a:noFill/>
        </p:spPr>
        <p:txBody>
          <a:bodyPr wrap="square">
            <a:spAutoFit/>
          </a:bodyPr>
          <a:lstStyle/>
          <a:p>
            <a:pPr algn="l"/>
            <a:r>
              <a:rPr sz="1200" b="0" i="0">
                <a:solidFill>
                  <a:srgbClr val="333333"/>
                </a:solidFill>
                <a:latin typeface="Calibri"/>
              </a:rPr>
              <a:t>Arduino-framework code for WiFi connectivity, JSON packaging, cloud upload, offline buffering</a:t>
            </a:r>
          </a:p>
        </p:txBody>
      </p:sp>
      <p:sp>
        <p:nvSpPr>
          <p:cNvPr id="18" name="Rectangle 17"/>
          <p:cNvSpPr/>
          <p:nvPr/>
        </p:nvSpPr>
        <p:spPr>
          <a:xfrm>
            <a:off x="274320" y="384048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84048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402336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21" name="TextBox 20"/>
          <p:cNvSpPr txBox="1"/>
          <p:nvPr/>
        </p:nvSpPr>
        <p:spPr>
          <a:xfrm>
            <a:off x="1097280" y="3886200"/>
            <a:ext cx="4754880" cy="347472"/>
          </a:xfrm>
          <a:prstGeom prst="rect">
            <a:avLst/>
          </a:prstGeom>
          <a:noFill/>
        </p:spPr>
        <p:txBody>
          <a:bodyPr wrap="square">
            <a:spAutoFit/>
          </a:bodyPr>
          <a:lstStyle/>
          <a:p>
            <a:pPr algn="l"/>
            <a:r>
              <a:rPr sz="1500" b="1" i="0">
                <a:solidFill>
                  <a:srgbClr val="003366"/>
                </a:solidFill>
                <a:latin typeface="Calibri"/>
              </a:rPr>
              <a:t>Cloud Dashboard</a:t>
            </a:r>
          </a:p>
        </p:txBody>
      </p:sp>
      <p:sp>
        <p:nvSpPr>
          <p:cNvPr id="22" name="TextBox 21"/>
          <p:cNvSpPr txBox="1"/>
          <p:nvPr/>
        </p:nvSpPr>
        <p:spPr>
          <a:xfrm>
            <a:off x="1097280" y="4270248"/>
            <a:ext cx="4754880" cy="502920"/>
          </a:xfrm>
          <a:prstGeom prst="rect">
            <a:avLst/>
          </a:prstGeom>
          <a:noFill/>
        </p:spPr>
        <p:txBody>
          <a:bodyPr wrap="square">
            <a:spAutoFit/>
          </a:bodyPr>
          <a:lstStyle/>
          <a:p>
            <a:pPr algn="l"/>
            <a:r>
              <a:rPr sz="1200" b="0" i="0">
                <a:solidFill>
                  <a:srgbClr val="333333"/>
                </a:solidFill>
                <a:latin typeface="Calibri"/>
              </a:rPr>
              <a:t>React frontend + REST backend with real-time charts, historical analysis, and session management</a:t>
            </a:r>
          </a:p>
        </p:txBody>
      </p:sp>
      <p:sp>
        <p:nvSpPr>
          <p:cNvPr id="23" name="Rectangle 22"/>
          <p:cNvSpPr/>
          <p:nvPr/>
        </p:nvSpPr>
        <p:spPr>
          <a:xfrm>
            <a:off x="274320" y="502920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4320" y="502920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521208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26" name="TextBox 25"/>
          <p:cNvSpPr txBox="1"/>
          <p:nvPr/>
        </p:nvSpPr>
        <p:spPr>
          <a:xfrm>
            <a:off x="1097280" y="5074920"/>
            <a:ext cx="4754880" cy="347472"/>
          </a:xfrm>
          <a:prstGeom prst="rect">
            <a:avLst/>
          </a:prstGeom>
          <a:noFill/>
        </p:spPr>
        <p:txBody>
          <a:bodyPr wrap="square">
            <a:spAutoFit/>
          </a:bodyPr>
          <a:lstStyle/>
          <a:p>
            <a:pPr algn="l"/>
            <a:r>
              <a:rPr sz="1500" b="1" i="0">
                <a:solidFill>
                  <a:srgbClr val="003366"/>
                </a:solidFill>
                <a:latin typeface="Calibri"/>
              </a:rPr>
              <a:t>Technical Documentation</a:t>
            </a:r>
          </a:p>
        </p:txBody>
      </p:sp>
      <p:sp>
        <p:nvSpPr>
          <p:cNvPr id="27" name="TextBox 26"/>
          <p:cNvSpPr txBox="1"/>
          <p:nvPr/>
        </p:nvSpPr>
        <p:spPr>
          <a:xfrm>
            <a:off x="1097280" y="5458968"/>
            <a:ext cx="4754880" cy="502920"/>
          </a:xfrm>
          <a:prstGeom prst="rect">
            <a:avLst/>
          </a:prstGeom>
          <a:noFill/>
        </p:spPr>
        <p:txBody>
          <a:bodyPr wrap="square">
            <a:spAutoFit/>
          </a:bodyPr>
          <a:lstStyle/>
          <a:p>
            <a:pPr algn="l"/>
            <a:r>
              <a:rPr sz="1200" b="0" i="0">
                <a:solidFill>
                  <a:srgbClr val="333333"/>
                </a:solidFill>
                <a:latin typeface="Calibri"/>
              </a:rPr>
              <a:t>Architecture guide, computation methodology, design rationale, literature review, user manual</a:t>
            </a:r>
          </a:p>
        </p:txBody>
      </p:sp>
      <p:sp>
        <p:nvSpPr>
          <p:cNvPr id="28" name="Rectangle 27"/>
          <p:cNvSpPr/>
          <p:nvPr/>
        </p:nvSpPr>
        <p:spPr>
          <a:xfrm>
            <a:off x="6126480" y="146304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146304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0" y="164592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31" name="TextBox 30"/>
          <p:cNvSpPr txBox="1"/>
          <p:nvPr/>
        </p:nvSpPr>
        <p:spPr>
          <a:xfrm>
            <a:off x="6949440" y="1508760"/>
            <a:ext cx="4754880" cy="347472"/>
          </a:xfrm>
          <a:prstGeom prst="rect">
            <a:avLst/>
          </a:prstGeom>
          <a:noFill/>
        </p:spPr>
        <p:txBody>
          <a:bodyPr wrap="square">
            <a:spAutoFit/>
          </a:bodyPr>
          <a:lstStyle/>
          <a:p>
            <a:pPr algn="l"/>
            <a:r>
              <a:rPr sz="1500" b="1" i="0">
                <a:solidFill>
                  <a:srgbClr val="003366"/>
                </a:solidFill>
                <a:latin typeface="Calibri"/>
              </a:rPr>
              <a:t>Experimental Results</a:t>
            </a:r>
          </a:p>
        </p:txBody>
      </p:sp>
      <p:sp>
        <p:nvSpPr>
          <p:cNvPr id="32" name="TextBox 31"/>
          <p:cNvSpPr txBox="1"/>
          <p:nvPr/>
        </p:nvSpPr>
        <p:spPr>
          <a:xfrm>
            <a:off x="6949440" y="1892808"/>
            <a:ext cx="4754880" cy="502920"/>
          </a:xfrm>
          <a:prstGeom prst="rect">
            <a:avLst/>
          </a:prstGeom>
          <a:noFill/>
        </p:spPr>
        <p:txBody>
          <a:bodyPr wrap="square">
            <a:spAutoFit/>
          </a:bodyPr>
          <a:lstStyle/>
          <a:p>
            <a:pPr algn="l"/>
            <a:r>
              <a:rPr sz="1200" b="0" i="0">
                <a:solidFill>
                  <a:srgbClr val="333333"/>
                </a:solidFill>
                <a:latin typeface="Calibri"/>
              </a:rPr>
              <a:t>Buffered vs. non-buffered comparison data, efficiency analysis, charging performance metrics</a:t>
            </a:r>
          </a:p>
        </p:txBody>
      </p:sp>
      <p:sp>
        <p:nvSpPr>
          <p:cNvPr id="33" name="Rectangle 32"/>
          <p:cNvSpPr/>
          <p:nvPr/>
        </p:nvSpPr>
        <p:spPr>
          <a:xfrm>
            <a:off x="6126480" y="265176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26480" y="265176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0" y="283464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36" name="TextBox 35"/>
          <p:cNvSpPr txBox="1"/>
          <p:nvPr/>
        </p:nvSpPr>
        <p:spPr>
          <a:xfrm>
            <a:off x="6949440" y="2697480"/>
            <a:ext cx="4754880" cy="347472"/>
          </a:xfrm>
          <a:prstGeom prst="rect">
            <a:avLst/>
          </a:prstGeom>
          <a:noFill/>
        </p:spPr>
        <p:txBody>
          <a:bodyPr wrap="square">
            <a:spAutoFit/>
          </a:bodyPr>
          <a:lstStyle/>
          <a:p>
            <a:pPr algn="l"/>
            <a:r>
              <a:rPr sz="1500" b="1" i="0">
                <a:solidFill>
                  <a:srgbClr val="003366"/>
                </a:solidFill>
                <a:latin typeface="Calibri"/>
              </a:rPr>
              <a:t>GitHub Repository</a:t>
            </a:r>
          </a:p>
        </p:txBody>
      </p:sp>
      <p:sp>
        <p:nvSpPr>
          <p:cNvPr id="37" name="TextBox 36"/>
          <p:cNvSpPr txBox="1"/>
          <p:nvPr/>
        </p:nvSpPr>
        <p:spPr>
          <a:xfrm>
            <a:off x="6949440" y="3081528"/>
            <a:ext cx="4754880" cy="502920"/>
          </a:xfrm>
          <a:prstGeom prst="rect">
            <a:avLst/>
          </a:prstGeom>
          <a:noFill/>
        </p:spPr>
        <p:txBody>
          <a:bodyPr wrap="square">
            <a:spAutoFit/>
          </a:bodyPr>
          <a:lstStyle/>
          <a:p>
            <a:pPr algn="l"/>
            <a:r>
              <a:rPr sz="1200" b="0" i="0">
                <a:solidFill>
                  <a:srgbClr val="333333"/>
                </a:solidFill>
                <a:latin typeface="Calibri"/>
              </a:rPr>
              <a:t>Full source code, documentation, simulation scripts — public at github.com/2024mt12104</a:t>
            </a:r>
          </a:p>
        </p:txBody>
      </p:sp>
      <p:sp>
        <p:nvSpPr>
          <p:cNvPr id="38" name="Rectangle 37"/>
          <p:cNvSpPr/>
          <p:nvPr/>
        </p:nvSpPr>
        <p:spPr>
          <a:xfrm>
            <a:off x="6126480" y="3840480"/>
            <a:ext cx="5669280" cy="10058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6480" y="3840480"/>
            <a:ext cx="731520" cy="10058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26480" y="4023360"/>
            <a:ext cx="731520" cy="640080"/>
          </a:xfrm>
          <a:prstGeom prst="rect">
            <a:avLst/>
          </a:prstGeom>
          <a:noFill/>
        </p:spPr>
        <p:txBody>
          <a:bodyPr wrap="square">
            <a:spAutoFit/>
          </a:bodyPr>
          <a:lstStyle/>
          <a:p>
            <a:pPr algn="ctr"/>
            <a:r>
              <a:rPr sz="2400" b="0" i="0">
                <a:solidFill>
                  <a:srgbClr val="FFFFFF"/>
                </a:solidFill>
                <a:latin typeface="Calibri"/>
              </a:rPr>
              <a:t>📋</a:t>
            </a:r>
          </a:p>
        </p:txBody>
      </p:sp>
      <p:sp>
        <p:nvSpPr>
          <p:cNvPr id="41" name="TextBox 40"/>
          <p:cNvSpPr txBox="1"/>
          <p:nvPr/>
        </p:nvSpPr>
        <p:spPr>
          <a:xfrm>
            <a:off x="6949440" y="3886200"/>
            <a:ext cx="4754880" cy="347472"/>
          </a:xfrm>
          <a:prstGeom prst="rect">
            <a:avLst/>
          </a:prstGeom>
          <a:noFill/>
        </p:spPr>
        <p:txBody>
          <a:bodyPr wrap="square">
            <a:spAutoFit/>
          </a:bodyPr>
          <a:lstStyle/>
          <a:p>
            <a:pPr algn="l"/>
            <a:r>
              <a:rPr sz="1500" b="1" i="0">
                <a:solidFill>
                  <a:srgbClr val="003366"/>
                </a:solidFill>
                <a:latin typeface="Calibri"/>
              </a:rPr>
              <a:t>Project Report</a:t>
            </a:r>
          </a:p>
        </p:txBody>
      </p:sp>
      <p:sp>
        <p:nvSpPr>
          <p:cNvPr id="42" name="TextBox 41"/>
          <p:cNvSpPr txBox="1"/>
          <p:nvPr/>
        </p:nvSpPr>
        <p:spPr>
          <a:xfrm>
            <a:off x="6949440" y="4270248"/>
            <a:ext cx="4754880" cy="502920"/>
          </a:xfrm>
          <a:prstGeom prst="rect">
            <a:avLst/>
          </a:prstGeom>
          <a:noFill/>
        </p:spPr>
        <p:txBody>
          <a:bodyPr wrap="square">
            <a:spAutoFit/>
          </a:bodyPr>
          <a:lstStyle/>
          <a:p>
            <a:pPr algn="l"/>
            <a:r>
              <a:rPr sz="1200" b="0" i="0">
                <a:solidFill>
                  <a:srgbClr val="333333"/>
                </a:solidFill>
                <a:latin typeface="Calibri"/>
              </a:rPr>
              <a:t>Complete academic report and presentation for final-semester evaluation (May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Timeline &amp; Milestones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Project Phases – February to May 2026</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2286000"/>
            <a:ext cx="11640312" cy="137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2148840"/>
            <a:ext cx="411480" cy="41148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371600"/>
            <a:ext cx="1920240" cy="77724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389888"/>
            <a:ext cx="1828800" cy="347472"/>
          </a:xfrm>
          <a:prstGeom prst="rect">
            <a:avLst/>
          </a:prstGeom>
          <a:noFill/>
        </p:spPr>
        <p:txBody>
          <a:bodyPr wrap="square">
            <a:spAutoFit/>
          </a:bodyPr>
          <a:lstStyle/>
          <a:p>
            <a:pPr algn="ctr"/>
            <a:r>
              <a:rPr sz="1300" b="1" i="0">
                <a:solidFill>
                  <a:srgbClr val="FFFFFF"/>
                </a:solidFill>
                <a:latin typeface="Calibri"/>
              </a:rPr>
              <a:t>Phase 1</a:t>
            </a:r>
          </a:p>
        </p:txBody>
      </p:sp>
      <p:sp>
        <p:nvSpPr>
          <p:cNvPr id="12" name="TextBox 11"/>
          <p:cNvSpPr txBox="1"/>
          <p:nvPr/>
        </p:nvSpPr>
        <p:spPr>
          <a:xfrm>
            <a:off x="320040" y="1719072"/>
            <a:ext cx="1828800" cy="365760"/>
          </a:xfrm>
          <a:prstGeom prst="rect">
            <a:avLst/>
          </a:prstGeom>
          <a:noFill/>
        </p:spPr>
        <p:txBody>
          <a:bodyPr wrap="square">
            <a:spAutoFit/>
          </a:bodyPr>
          <a:lstStyle/>
          <a:p>
            <a:pPr algn="ctr"/>
            <a:r>
              <a:rPr sz="1100" b="0" i="0">
                <a:solidFill>
                  <a:srgbClr val="FFFFFF"/>
                </a:solidFill>
                <a:latin typeface="Calibri"/>
              </a:rPr>
              <a:t>Feb 2026</a:t>
            </a:r>
          </a:p>
        </p:txBody>
      </p:sp>
      <p:sp>
        <p:nvSpPr>
          <p:cNvPr id="13" name="Rectangle 12"/>
          <p:cNvSpPr/>
          <p:nvPr/>
        </p:nvSpPr>
        <p:spPr>
          <a:xfrm>
            <a:off x="274320" y="2560320"/>
            <a:ext cx="1920240" cy="41148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2606040"/>
            <a:ext cx="1828800" cy="320040"/>
          </a:xfrm>
          <a:prstGeom prst="rect">
            <a:avLst/>
          </a:prstGeom>
          <a:noFill/>
        </p:spPr>
        <p:txBody>
          <a:bodyPr wrap="square">
            <a:spAutoFit/>
          </a:bodyPr>
          <a:lstStyle/>
          <a:p>
            <a:pPr algn="ctr"/>
            <a:r>
              <a:rPr sz="1200" b="1" i="0">
                <a:solidFill>
                  <a:srgbClr val="FFFFFF"/>
                </a:solidFill>
                <a:latin typeface="Calibri"/>
              </a:rPr>
              <a:t>✅ Done</a:t>
            </a:r>
          </a:p>
        </p:txBody>
      </p:sp>
      <p:sp>
        <p:nvSpPr>
          <p:cNvPr id="15" name="TextBox 14"/>
          <p:cNvSpPr txBox="1"/>
          <p:nvPr/>
        </p:nvSpPr>
        <p:spPr>
          <a:xfrm>
            <a:off x="274320" y="3108960"/>
            <a:ext cx="1920240" cy="594360"/>
          </a:xfrm>
          <a:prstGeom prst="rect">
            <a:avLst/>
          </a:prstGeom>
          <a:noFill/>
        </p:spPr>
        <p:txBody>
          <a:bodyPr wrap="square">
            <a:spAutoFit/>
          </a:bodyPr>
          <a:lstStyle/>
          <a:p>
            <a:pPr algn="ctr"/>
            <a:r>
              <a:rPr sz="1300" b="1" i="0">
                <a:solidFill>
                  <a:srgbClr val="00AA44"/>
                </a:solidFill>
                <a:latin typeface="Calibri"/>
              </a:rPr>
              <a:t>Design &amp;
Planning</a:t>
            </a:r>
          </a:p>
        </p:txBody>
      </p:sp>
      <p:sp>
        <p:nvSpPr>
          <p:cNvPr id="16" name="Rectangle 15"/>
          <p:cNvSpPr/>
          <p:nvPr/>
        </p:nvSpPr>
        <p:spPr>
          <a:xfrm>
            <a:off x="274320"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40480"/>
            <a:ext cx="1828800" cy="2286000"/>
          </a:xfrm>
          <a:prstGeom prst="rect">
            <a:avLst/>
          </a:prstGeom>
          <a:noFill/>
        </p:spPr>
        <p:txBody>
          <a:bodyPr wrap="square">
            <a:spAutoFit/>
          </a:bodyPr>
          <a:lstStyle/>
          <a:p>
            <a:pPr algn="l"/>
            <a:r>
              <a:rPr sz="1100" b="0" i="0">
                <a:solidFill>
                  <a:srgbClr val="333333"/>
                </a:solidFill>
                <a:latin typeface="Calibri"/>
              </a:rPr>
              <a:t>Architecture, BOM, literature review, computation methods</a:t>
            </a:r>
          </a:p>
        </p:txBody>
      </p:sp>
      <p:sp>
        <p:nvSpPr>
          <p:cNvPr id="18" name="Rectangle 17"/>
          <p:cNvSpPr/>
          <p:nvPr/>
        </p:nvSpPr>
        <p:spPr>
          <a:xfrm>
            <a:off x="2926080" y="2148840"/>
            <a:ext cx="411480"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94560" y="1371600"/>
            <a:ext cx="1920240" cy="77724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40279" y="1389888"/>
            <a:ext cx="1828800" cy="347472"/>
          </a:xfrm>
          <a:prstGeom prst="rect">
            <a:avLst/>
          </a:prstGeom>
          <a:noFill/>
        </p:spPr>
        <p:txBody>
          <a:bodyPr wrap="square">
            <a:spAutoFit/>
          </a:bodyPr>
          <a:lstStyle/>
          <a:p>
            <a:pPr algn="ctr"/>
            <a:r>
              <a:rPr sz="1300" b="1" i="0">
                <a:solidFill>
                  <a:srgbClr val="FFFFFF"/>
                </a:solidFill>
                <a:latin typeface="Calibri"/>
              </a:rPr>
              <a:t>Phase 2</a:t>
            </a:r>
          </a:p>
        </p:txBody>
      </p:sp>
      <p:sp>
        <p:nvSpPr>
          <p:cNvPr id="21" name="TextBox 20"/>
          <p:cNvSpPr txBox="1"/>
          <p:nvPr/>
        </p:nvSpPr>
        <p:spPr>
          <a:xfrm>
            <a:off x="2240279" y="1719072"/>
            <a:ext cx="1828800" cy="365760"/>
          </a:xfrm>
          <a:prstGeom prst="rect">
            <a:avLst/>
          </a:prstGeom>
          <a:noFill/>
        </p:spPr>
        <p:txBody>
          <a:bodyPr wrap="square">
            <a:spAutoFit/>
          </a:bodyPr>
          <a:lstStyle/>
          <a:p>
            <a:pPr algn="ctr"/>
            <a:r>
              <a:rPr sz="1100" b="0" i="0">
                <a:solidFill>
                  <a:srgbClr val="FFFFFF"/>
                </a:solidFill>
                <a:latin typeface="Calibri"/>
              </a:rPr>
              <a:t>Mar 2026</a:t>
            </a:r>
          </a:p>
        </p:txBody>
      </p:sp>
      <p:sp>
        <p:nvSpPr>
          <p:cNvPr id="22" name="Rectangle 21"/>
          <p:cNvSpPr/>
          <p:nvPr/>
        </p:nvSpPr>
        <p:spPr>
          <a:xfrm>
            <a:off x="2194560" y="2560320"/>
            <a:ext cx="1920240"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40279" y="2606040"/>
            <a:ext cx="1828800" cy="320040"/>
          </a:xfrm>
          <a:prstGeom prst="rect">
            <a:avLst/>
          </a:prstGeom>
          <a:noFill/>
        </p:spPr>
        <p:txBody>
          <a:bodyPr wrap="square">
            <a:spAutoFit/>
          </a:bodyPr>
          <a:lstStyle/>
          <a:p>
            <a:pPr algn="ctr"/>
            <a:r>
              <a:rPr sz="1200" b="1" i="0">
                <a:solidFill>
                  <a:srgbClr val="FFFFFF"/>
                </a:solidFill>
                <a:latin typeface="Calibri"/>
              </a:rPr>
              <a:t>🔄 Active</a:t>
            </a:r>
          </a:p>
        </p:txBody>
      </p:sp>
      <p:sp>
        <p:nvSpPr>
          <p:cNvPr id="24" name="TextBox 23"/>
          <p:cNvSpPr txBox="1"/>
          <p:nvPr/>
        </p:nvSpPr>
        <p:spPr>
          <a:xfrm>
            <a:off x="2194560" y="3108960"/>
            <a:ext cx="1920240" cy="594360"/>
          </a:xfrm>
          <a:prstGeom prst="rect">
            <a:avLst/>
          </a:prstGeom>
          <a:noFill/>
        </p:spPr>
        <p:txBody>
          <a:bodyPr wrap="square">
            <a:spAutoFit/>
          </a:bodyPr>
          <a:lstStyle/>
          <a:p>
            <a:pPr algn="ctr"/>
            <a:r>
              <a:rPr sz="1300" b="1" i="0">
                <a:solidFill>
                  <a:srgbClr val="FF9900"/>
                </a:solidFill>
                <a:latin typeface="Calibri"/>
              </a:rPr>
              <a:t>Hardware
Setup</a:t>
            </a:r>
          </a:p>
        </p:txBody>
      </p:sp>
      <p:sp>
        <p:nvSpPr>
          <p:cNvPr id="25" name="Rectangle 24"/>
          <p:cNvSpPr/>
          <p:nvPr/>
        </p:nvSpPr>
        <p:spPr>
          <a:xfrm>
            <a:off x="2194560"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79" y="3840480"/>
            <a:ext cx="1828800" cy="2286000"/>
          </a:xfrm>
          <a:prstGeom prst="rect">
            <a:avLst/>
          </a:prstGeom>
          <a:noFill/>
        </p:spPr>
        <p:txBody>
          <a:bodyPr wrap="square">
            <a:spAutoFit/>
          </a:bodyPr>
          <a:lstStyle/>
          <a:p>
            <a:pPr algn="l"/>
            <a:r>
              <a:rPr sz="1100" b="0" i="0">
                <a:solidFill>
                  <a:srgbClr val="333333"/>
                </a:solidFill>
                <a:latin typeface="Calibri"/>
              </a:rPr>
              <a:t>Component procurement, breadboard wiring, sensor calibration</a:t>
            </a:r>
          </a:p>
        </p:txBody>
      </p:sp>
      <p:sp>
        <p:nvSpPr>
          <p:cNvPr id="27" name="Rectangle 26"/>
          <p:cNvSpPr/>
          <p:nvPr/>
        </p:nvSpPr>
        <p:spPr>
          <a:xfrm>
            <a:off x="4846320" y="2148840"/>
            <a:ext cx="411480"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371600"/>
            <a:ext cx="1920240" cy="77724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60520" y="1389888"/>
            <a:ext cx="1828800" cy="347472"/>
          </a:xfrm>
          <a:prstGeom prst="rect">
            <a:avLst/>
          </a:prstGeom>
          <a:noFill/>
        </p:spPr>
        <p:txBody>
          <a:bodyPr wrap="square">
            <a:spAutoFit/>
          </a:bodyPr>
          <a:lstStyle/>
          <a:p>
            <a:pPr algn="ctr"/>
            <a:r>
              <a:rPr sz="1300" b="1" i="0">
                <a:solidFill>
                  <a:srgbClr val="FFFFFF"/>
                </a:solidFill>
                <a:latin typeface="Calibri"/>
              </a:rPr>
              <a:t>Phase 3</a:t>
            </a:r>
          </a:p>
        </p:txBody>
      </p:sp>
      <p:sp>
        <p:nvSpPr>
          <p:cNvPr id="30" name="TextBox 29"/>
          <p:cNvSpPr txBox="1"/>
          <p:nvPr/>
        </p:nvSpPr>
        <p:spPr>
          <a:xfrm>
            <a:off x="4160520" y="1719072"/>
            <a:ext cx="1828800" cy="365760"/>
          </a:xfrm>
          <a:prstGeom prst="rect">
            <a:avLst/>
          </a:prstGeom>
          <a:noFill/>
        </p:spPr>
        <p:txBody>
          <a:bodyPr wrap="square">
            <a:spAutoFit/>
          </a:bodyPr>
          <a:lstStyle/>
          <a:p>
            <a:pPr algn="ctr"/>
            <a:r>
              <a:rPr sz="1100" b="0" i="0">
                <a:solidFill>
                  <a:srgbClr val="FFFFFF"/>
                </a:solidFill>
                <a:latin typeface="Calibri"/>
              </a:rPr>
              <a:t>Mar–Apr
2026</a:t>
            </a:r>
          </a:p>
        </p:txBody>
      </p:sp>
      <p:sp>
        <p:nvSpPr>
          <p:cNvPr id="31" name="Rectangle 30"/>
          <p:cNvSpPr/>
          <p:nvPr/>
        </p:nvSpPr>
        <p:spPr>
          <a:xfrm>
            <a:off x="4114800" y="2560320"/>
            <a:ext cx="1920240" cy="41148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60520" y="2606040"/>
            <a:ext cx="1828800" cy="320040"/>
          </a:xfrm>
          <a:prstGeom prst="rect">
            <a:avLst/>
          </a:prstGeom>
          <a:noFill/>
        </p:spPr>
        <p:txBody>
          <a:bodyPr wrap="square">
            <a:spAutoFit/>
          </a:bodyPr>
          <a:lstStyle/>
          <a:p>
            <a:pPr algn="ctr"/>
            <a:r>
              <a:rPr sz="1200" b="1" i="0">
                <a:solidFill>
                  <a:srgbClr val="FFFFFF"/>
                </a:solidFill>
                <a:latin typeface="Calibri"/>
              </a:rPr>
              <a:t>🔄 Active</a:t>
            </a:r>
          </a:p>
        </p:txBody>
      </p:sp>
      <p:sp>
        <p:nvSpPr>
          <p:cNvPr id="33" name="TextBox 32"/>
          <p:cNvSpPr txBox="1"/>
          <p:nvPr/>
        </p:nvSpPr>
        <p:spPr>
          <a:xfrm>
            <a:off x="4114800" y="3108960"/>
            <a:ext cx="1920240" cy="594360"/>
          </a:xfrm>
          <a:prstGeom prst="rect">
            <a:avLst/>
          </a:prstGeom>
          <a:noFill/>
        </p:spPr>
        <p:txBody>
          <a:bodyPr wrap="square">
            <a:spAutoFit/>
          </a:bodyPr>
          <a:lstStyle/>
          <a:p>
            <a:pPr algn="ctr"/>
            <a:r>
              <a:rPr sz="1300" b="1" i="0">
                <a:solidFill>
                  <a:srgbClr val="FF9900"/>
                </a:solidFill>
                <a:latin typeface="Calibri"/>
              </a:rPr>
              <a:t>Firmware
Dev</a:t>
            </a:r>
          </a:p>
        </p:txBody>
      </p:sp>
      <p:sp>
        <p:nvSpPr>
          <p:cNvPr id="34" name="Rectangle 33"/>
          <p:cNvSpPr/>
          <p:nvPr/>
        </p:nvSpPr>
        <p:spPr>
          <a:xfrm>
            <a:off x="4114800"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60520" y="3840480"/>
            <a:ext cx="1828800" cy="2286000"/>
          </a:xfrm>
          <a:prstGeom prst="rect">
            <a:avLst/>
          </a:prstGeom>
          <a:noFill/>
        </p:spPr>
        <p:txBody>
          <a:bodyPr wrap="square">
            <a:spAutoFit/>
          </a:bodyPr>
          <a:lstStyle/>
          <a:p>
            <a:pPr algn="l"/>
            <a:r>
              <a:rPr sz="1100" b="0" i="0">
                <a:solidFill>
                  <a:srgbClr val="333333"/>
                </a:solidFill>
                <a:latin typeface="Calibri"/>
              </a:rPr>
              <a:t>ADC, PWM, PI control, UART, power calculation modules</a:t>
            </a:r>
          </a:p>
        </p:txBody>
      </p:sp>
      <p:sp>
        <p:nvSpPr>
          <p:cNvPr id="36" name="Rectangle 35"/>
          <p:cNvSpPr/>
          <p:nvPr/>
        </p:nvSpPr>
        <p:spPr>
          <a:xfrm>
            <a:off x="6766559" y="2148840"/>
            <a:ext cx="411480" cy="4114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1371600"/>
            <a:ext cx="1920240" cy="77724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80759" y="1389888"/>
            <a:ext cx="1828800" cy="347472"/>
          </a:xfrm>
          <a:prstGeom prst="rect">
            <a:avLst/>
          </a:prstGeom>
          <a:noFill/>
        </p:spPr>
        <p:txBody>
          <a:bodyPr wrap="square">
            <a:spAutoFit/>
          </a:bodyPr>
          <a:lstStyle/>
          <a:p>
            <a:pPr algn="ctr"/>
            <a:r>
              <a:rPr sz="1300" b="1" i="0">
                <a:solidFill>
                  <a:srgbClr val="FFFFFF"/>
                </a:solidFill>
                <a:latin typeface="Calibri"/>
              </a:rPr>
              <a:t>Phase 4</a:t>
            </a:r>
          </a:p>
        </p:txBody>
      </p:sp>
      <p:sp>
        <p:nvSpPr>
          <p:cNvPr id="39" name="TextBox 38"/>
          <p:cNvSpPr txBox="1"/>
          <p:nvPr/>
        </p:nvSpPr>
        <p:spPr>
          <a:xfrm>
            <a:off x="6080759" y="1719072"/>
            <a:ext cx="1828800" cy="365760"/>
          </a:xfrm>
          <a:prstGeom prst="rect">
            <a:avLst/>
          </a:prstGeom>
          <a:noFill/>
        </p:spPr>
        <p:txBody>
          <a:bodyPr wrap="square">
            <a:spAutoFit/>
          </a:bodyPr>
          <a:lstStyle/>
          <a:p>
            <a:pPr algn="ctr"/>
            <a:r>
              <a:rPr sz="1100" b="0" i="0">
                <a:solidFill>
                  <a:srgbClr val="FFFFFF"/>
                </a:solidFill>
                <a:latin typeface="Calibri"/>
              </a:rPr>
              <a:t>Apr 2026</a:t>
            </a:r>
          </a:p>
        </p:txBody>
      </p:sp>
      <p:sp>
        <p:nvSpPr>
          <p:cNvPr id="40" name="Rectangle 39"/>
          <p:cNvSpPr/>
          <p:nvPr/>
        </p:nvSpPr>
        <p:spPr>
          <a:xfrm>
            <a:off x="6035040" y="2560320"/>
            <a:ext cx="1920240" cy="4114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80759" y="2606040"/>
            <a:ext cx="1828800" cy="320040"/>
          </a:xfrm>
          <a:prstGeom prst="rect">
            <a:avLst/>
          </a:prstGeom>
          <a:noFill/>
        </p:spPr>
        <p:txBody>
          <a:bodyPr wrap="square">
            <a:spAutoFit/>
          </a:bodyPr>
          <a:lstStyle/>
          <a:p>
            <a:pPr algn="ctr"/>
            <a:r>
              <a:rPr sz="1200" b="1" i="0">
                <a:solidFill>
                  <a:srgbClr val="FFFFFF"/>
                </a:solidFill>
                <a:latin typeface="Calibri"/>
              </a:rPr>
              <a:t>📅 Next</a:t>
            </a:r>
          </a:p>
        </p:txBody>
      </p:sp>
      <p:sp>
        <p:nvSpPr>
          <p:cNvPr id="42" name="TextBox 41"/>
          <p:cNvSpPr txBox="1"/>
          <p:nvPr/>
        </p:nvSpPr>
        <p:spPr>
          <a:xfrm>
            <a:off x="6035040" y="3108960"/>
            <a:ext cx="1920240" cy="594360"/>
          </a:xfrm>
          <a:prstGeom prst="rect">
            <a:avLst/>
          </a:prstGeom>
          <a:noFill/>
        </p:spPr>
        <p:txBody>
          <a:bodyPr wrap="square">
            <a:spAutoFit/>
          </a:bodyPr>
          <a:lstStyle/>
          <a:p>
            <a:pPr algn="ctr"/>
            <a:r>
              <a:rPr sz="1300" b="1" i="0">
                <a:solidFill>
                  <a:srgbClr val="005599"/>
                </a:solidFill>
                <a:latin typeface="Calibri"/>
              </a:rPr>
              <a:t>IoT
Integration</a:t>
            </a:r>
          </a:p>
        </p:txBody>
      </p:sp>
      <p:sp>
        <p:nvSpPr>
          <p:cNvPr id="43" name="Rectangle 42"/>
          <p:cNvSpPr/>
          <p:nvPr/>
        </p:nvSpPr>
        <p:spPr>
          <a:xfrm>
            <a:off x="6035040"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80759" y="3840480"/>
            <a:ext cx="1828800" cy="2286000"/>
          </a:xfrm>
          <a:prstGeom prst="rect">
            <a:avLst/>
          </a:prstGeom>
          <a:noFill/>
        </p:spPr>
        <p:txBody>
          <a:bodyPr wrap="square">
            <a:spAutoFit/>
          </a:bodyPr>
          <a:lstStyle/>
          <a:p>
            <a:pPr algn="l"/>
            <a:r>
              <a:rPr sz="1100" b="0" i="0">
                <a:solidFill>
                  <a:srgbClr val="333333"/>
                </a:solidFill>
                <a:latin typeface="Calibri"/>
              </a:rPr>
              <a:t>ESP8266 gateway, cloud API, dashboard frontend deployment</a:t>
            </a:r>
          </a:p>
        </p:txBody>
      </p:sp>
      <p:sp>
        <p:nvSpPr>
          <p:cNvPr id="45" name="Rectangle 44"/>
          <p:cNvSpPr/>
          <p:nvPr/>
        </p:nvSpPr>
        <p:spPr>
          <a:xfrm>
            <a:off x="8686800" y="2148840"/>
            <a:ext cx="411480" cy="4114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955279" y="1371600"/>
            <a:ext cx="1920240" cy="77724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01000" y="1389888"/>
            <a:ext cx="1828800" cy="347472"/>
          </a:xfrm>
          <a:prstGeom prst="rect">
            <a:avLst/>
          </a:prstGeom>
          <a:noFill/>
        </p:spPr>
        <p:txBody>
          <a:bodyPr wrap="square">
            <a:spAutoFit/>
          </a:bodyPr>
          <a:lstStyle/>
          <a:p>
            <a:pPr algn="ctr"/>
            <a:r>
              <a:rPr sz="1300" b="1" i="0">
                <a:solidFill>
                  <a:srgbClr val="FFFFFF"/>
                </a:solidFill>
                <a:latin typeface="Calibri"/>
              </a:rPr>
              <a:t>Phase 5</a:t>
            </a:r>
          </a:p>
        </p:txBody>
      </p:sp>
      <p:sp>
        <p:nvSpPr>
          <p:cNvPr id="48" name="TextBox 47"/>
          <p:cNvSpPr txBox="1"/>
          <p:nvPr/>
        </p:nvSpPr>
        <p:spPr>
          <a:xfrm>
            <a:off x="8001000" y="1719072"/>
            <a:ext cx="1828800" cy="365760"/>
          </a:xfrm>
          <a:prstGeom prst="rect">
            <a:avLst/>
          </a:prstGeom>
          <a:noFill/>
        </p:spPr>
        <p:txBody>
          <a:bodyPr wrap="square">
            <a:spAutoFit/>
          </a:bodyPr>
          <a:lstStyle/>
          <a:p>
            <a:pPr algn="ctr"/>
            <a:r>
              <a:rPr sz="1100" b="0" i="0">
                <a:solidFill>
                  <a:srgbClr val="FFFFFF"/>
                </a:solidFill>
                <a:latin typeface="Calibri"/>
              </a:rPr>
              <a:t>Apr–May
2026</a:t>
            </a:r>
          </a:p>
        </p:txBody>
      </p:sp>
      <p:sp>
        <p:nvSpPr>
          <p:cNvPr id="49" name="Rectangle 48"/>
          <p:cNvSpPr/>
          <p:nvPr/>
        </p:nvSpPr>
        <p:spPr>
          <a:xfrm>
            <a:off x="7955279" y="2560320"/>
            <a:ext cx="1920240" cy="411480"/>
          </a:xfrm>
          <a:prstGeom prst="rect">
            <a:avLst/>
          </a:prstGeom>
          <a:solidFill>
            <a:srgbClr val="0055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01000" y="2606040"/>
            <a:ext cx="1828800" cy="320040"/>
          </a:xfrm>
          <a:prstGeom prst="rect">
            <a:avLst/>
          </a:prstGeom>
          <a:noFill/>
        </p:spPr>
        <p:txBody>
          <a:bodyPr wrap="square">
            <a:spAutoFit/>
          </a:bodyPr>
          <a:lstStyle/>
          <a:p>
            <a:pPr algn="ctr"/>
            <a:r>
              <a:rPr sz="1200" b="1" i="0">
                <a:solidFill>
                  <a:srgbClr val="FFFFFF"/>
                </a:solidFill>
                <a:latin typeface="Calibri"/>
              </a:rPr>
              <a:t>📅 Next</a:t>
            </a:r>
          </a:p>
        </p:txBody>
      </p:sp>
      <p:sp>
        <p:nvSpPr>
          <p:cNvPr id="51" name="TextBox 50"/>
          <p:cNvSpPr txBox="1"/>
          <p:nvPr/>
        </p:nvSpPr>
        <p:spPr>
          <a:xfrm>
            <a:off x="7955279" y="3108960"/>
            <a:ext cx="1920240" cy="594360"/>
          </a:xfrm>
          <a:prstGeom prst="rect">
            <a:avLst/>
          </a:prstGeom>
          <a:noFill/>
        </p:spPr>
        <p:txBody>
          <a:bodyPr wrap="square">
            <a:spAutoFit/>
          </a:bodyPr>
          <a:lstStyle/>
          <a:p>
            <a:pPr algn="ctr"/>
            <a:r>
              <a:rPr sz="1300" b="1" i="0">
                <a:solidFill>
                  <a:srgbClr val="005599"/>
                </a:solidFill>
                <a:latin typeface="Calibri"/>
              </a:rPr>
              <a:t>Testing &amp;
Validation</a:t>
            </a:r>
          </a:p>
        </p:txBody>
      </p:sp>
      <p:sp>
        <p:nvSpPr>
          <p:cNvPr id="52" name="Rectangle 51"/>
          <p:cNvSpPr/>
          <p:nvPr/>
        </p:nvSpPr>
        <p:spPr>
          <a:xfrm>
            <a:off x="7955279"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01000" y="3840480"/>
            <a:ext cx="1828800" cy="2286000"/>
          </a:xfrm>
          <a:prstGeom prst="rect">
            <a:avLst/>
          </a:prstGeom>
          <a:noFill/>
        </p:spPr>
        <p:txBody>
          <a:bodyPr wrap="square">
            <a:spAutoFit/>
          </a:bodyPr>
          <a:lstStyle/>
          <a:p>
            <a:pPr algn="l"/>
            <a:r>
              <a:rPr sz="1100" b="0" i="0">
                <a:solidFill>
                  <a:srgbClr val="333333"/>
                </a:solidFill>
                <a:latin typeface="Calibri"/>
              </a:rPr>
              <a:t>Hardware integration test, experimental data collection, comparison</a:t>
            </a:r>
          </a:p>
        </p:txBody>
      </p:sp>
      <p:sp>
        <p:nvSpPr>
          <p:cNvPr id="54" name="Rectangle 53"/>
          <p:cNvSpPr/>
          <p:nvPr/>
        </p:nvSpPr>
        <p:spPr>
          <a:xfrm>
            <a:off x="10607040" y="2148840"/>
            <a:ext cx="41148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875520" y="1371600"/>
            <a:ext cx="1920240" cy="7772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21240" y="1389888"/>
            <a:ext cx="1828800" cy="347472"/>
          </a:xfrm>
          <a:prstGeom prst="rect">
            <a:avLst/>
          </a:prstGeom>
          <a:noFill/>
        </p:spPr>
        <p:txBody>
          <a:bodyPr wrap="square">
            <a:spAutoFit/>
          </a:bodyPr>
          <a:lstStyle/>
          <a:p>
            <a:pPr algn="ctr"/>
            <a:r>
              <a:rPr sz="1300" b="1" i="0">
                <a:solidFill>
                  <a:srgbClr val="FFFFFF"/>
                </a:solidFill>
                <a:latin typeface="Calibri"/>
              </a:rPr>
              <a:t>Phase 6</a:t>
            </a:r>
          </a:p>
        </p:txBody>
      </p:sp>
      <p:sp>
        <p:nvSpPr>
          <p:cNvPr id="57" name="TextBox 56"/>
          <p:cNvSpPr txBox="1"/>
          <p:nvPr/>
        </p:nvSpPr>
        <p:spPr>
          <a:xfrm>
            <a:off x="9921240" y="1719072"/>
            <a:ext cx="1828800" cy="365760"/>
          </a:xfrm>
          <a:prstGeom prst="rect">
            <a:avLst/>
          </a:prstGeom>
          <a:noFill/>
        </p:spPr>
        <p:txBody>
          <a:bodyPr wrap="square">
            <a:spAutoFit/>
          </a:bodyPr>
          <a:lstStyle/>
          <a:p>
            <a:pPr algn="ctr"/>
            <a:r>
              <a:rPr sz="1100" b="0" i="0">
                <a:solidFill>
                  <a:srgbClr val="FFFFFF"/>
                </a:solidFill>
                <a:latin typeface="Calibri"/>
              </a:rPr>
              <a:t>May 2026</a:t>
            </a:r>
          </a:p>
        </p:txBody>
      </p:sp>
      <p:sp>
        <p:nvSpPr>
          <p:cNvPr id="58" name="Rectangle 57"/>
          <p:cNvSpPr/>
          <p:nvPr/>
        </p:nvSpPr>
        <p:spPr>
          <a:xfrm>
            <a:off x="9875520" y="2560320"/>
            <a:ext cx="192024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921240" y="2606040"/>
            <a:ext cx="1828800" cy="320040"/>
          </a:xfrm>
          <a:prstGeom prst="rect">
            <a:avLst/>
          </a:prstGeom>
          <a:noFill/>
        </p:spPr>
        <p:txBody>
          <a:bodyPr wrap="square">
            <a:spAutoFit/>
          </a:bodyPr>
          <a:lstStyle/>
          <a:p>
            <a:pPr algn="ctr"/>
            <a:r>
              <a:rPr sz="1200" b="1" i="0">
                <a:solidFill>
                  <a:srgbClr val="FFFFFF"/>
                </a:solidFill>
                <a:latin typeface="Calibri"/>
              </a:rPr>
              <a:t>📅 Final</a:t>
            </a:r>
          </a:p>
        </p:txBody>
      </p:sp>
      <p:sp>
        <p:nvSpPr>
          <p:cNvPr id="60" name="TextBox 59"/>
          <p:cNvSpPr txBox="1"/>
          <p:nvPr/>
        </p:nvSpPr>
        <p:spPr>
          <a:xfrm>
            <a:off x="9875520" y="3108960"/>
            <a:ext cx="1920240" cy="594360"/>
          </a:xfrm>
          <a:prstGeom prst="rect">
            <a:avLst/>
          </a:prstGeom>
          <a:noFill/>
        </p:spPr>
        <p:txBody>
          <a:bodyPr wrap="square">
            <a:spAutoFit/>
          </a:bodyPr>
          <a:lstStyle/>
          <a:p>
            <a:pPr algn="ctr"/>
            <a:r>
              <a:rPr sz="1300" b="1" i="0">
                <a:solidFill>
                  <a:srgbClr val="003366"/>
                </a:solidFill>
                <a:latin typeface="Calibri"/>
              </a:rPr>
              <a:t>Final Docs
&amp; Report</a:t>
            </a:r>
          </a:p>
        </p:txBody>
      </p:sp>
      <p:sp>
        <p:nvSpPr>
          <p:cNvPr id="61" name="Rectangle 60"/>
          <p:cNvSpPr/>
          <p:nvPr/>
        </p:nvSpPr>
        <p:spPr>
          <a:xfrm>
            <a:off x="9875520" y="3794760"/>
            <a:ext cx="1920240" cy="23774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921240" y="3840480"/>
            <a:ext cx="1828800" cy="2286000"/>
          </a:xfrm>
          <a:prstGeom prst="rect">
            <a:avLst/>
          </a:prstGeom>
          <a:noFill/>
        </p:spPr>
        <p:txBody>
          <a:bodyPr wrap="square">
            <a:spAutoFit/>
          </a:bodyPr>
          <a:lstStyle/>
          <a:p>
            <a:pPr algn="l"/>
            <a:r>
              <a:rPr sz="1100" b="0" i="0">
                <a:solidFill>
                  <a:srgbClr val="333333"/>
                </a:solidFill>
                <a:latin typeface="Calibri"/>
              </a:rPr>
              <a:t>Project report, final presentation, GitHub release</a:t>
            </a:r>
          </a:p>
        </p:txBody>
      </p:sp>
      <p:sp>
        <p:nvSpPr>
          <p:cNvPr id="63" name="TextBox 62"/>
          <p:cNvSpPr txBox="1"/>
          <p:nvPr/>
        </p:nvSpPr>
        <p:spPr>
          <a:xfrm>
            <a:off x="3200400" y="2468880"/>
            <a:ext cx="1371600" cy="548640"/>
          </a:xfrm>
          <a:prstGeom prst="rect">
            <a:avLst/>
          </a:prstGeom>
          <a:noFill/>
        </p:spPr>
        <p:txBody>
          <a:bodyPr wrap="square">
            <a:spAutoFit/>
          </a:bodyPr>
          <a:lstStyle/>
          <a:p>
            <a:pPr algn="ctr"/>
            <a:r>
              <a:rPr sz="1200" b="1" i="0">
                <a:solidFill>
                  <a:srgbClr val="FF9900"/>
                </a:solidFill>
                <a:latin typeface="Calibri"/>
              </a:rPr>
              <a:t>▲ NOW
(Apr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Challenges &amp; Solutions</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Problem-Solving Approach</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5029200" cy="9144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45720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1691640"/>
            <a:ext cx="457200" cy="457200"/>
          </a:xfrm>
          <a:prstGeom prst="rect">
            <a:avLst/>
          </a:prstGeom>
          <a:noFill/>
        </p:spPr>
        <p:txBody>
          <a:bodyPr wrap="square">
            <a:spAutoFit/>
          </a:bodyPr>
          <a:lstStyle/>
          <a:p>
            <a:pPr algn="ctr"/>
            <a:r>
              <a:rPr sz="2000" b="0" i="0">
                <a:solidFill>
                  <a:srgbClr val="FFFFFF"/>
                </a:solidFill>
                <a:latin typeface="Calibri"/>
              </a:rPr>
              <a:t>⚠</a:t>
            </a:r>
          </a:p>
        </p:txBody>
      </p:sp>
      <p:sp>
        <p:nvSpPr>
          <p:cNvPr id="11" name="TextBox 10"/>
          <p:cNvSpPr txBox="1"/>
          <p:nvPr/>
        </p:nvSpPr>
        <p:spPr>
          <a:xfrm>
            <a:off x="822960" y="1554480"/>
            <a:ext cx="4389120" cy="731520"/>
          </a:xfrm>
          <a:prstGeom prst="rect">
            <a:avLst/>
          </a:prstGeom>
          <a:noFill/>
        </p:spPr>
        <p:txBody>
          <a:bodyPr wrap="square">
            <a:spAutoFit/>
          </a:bodyPr>
          <a:lstStyle/>
          <a:p>
            <a:pPr algn="l"/>
            <a:r>
              <a:rPr sz="1400" b="1" i="0">
                <a:solidFill>
                  <a:srgbClr val="990000"/>
                </a:solidFill>
                <a:latin typeface="Calibri"/>
              </a:rPr>
              <a:t>Challenge: Component Availability</a:t>
            </a:r>
          </a:p>
        </p:txBody>
      </p:sp>
      <p:sp>
        <p:nvSpPr>
          <p:cNvPr id="12" name="Rectangle 11"/>
          <p:cNvSpPr/>
          <p:nvPr/>
        </p:nvSpPr>
        <p:spPr>
          <a:xfrm>
            <a:off x="5486400" y="1463040"/>
            <a:ext cx="45720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0" y="1737360"/>
            <a:ext cx="457200" cy="365760"/>
          </a:xfrm>
          <a:prstGeom prst="rect">
            <a:avLst/>
          </a:prstGeom>
          <a:noFill/>
        </p:spPr>
        <p:txBody>
          <a:bodyPr wrap="square">
            <a:spAutoFit/>
          </a:bodyPr>
          <a:lstStyle/>
          <a:p>
            <a:pPr algn="ctr"/>
            <a:r>
              <a:rPr sz="2200" b="1" i="0">
                <a:solidFill>
                  <a:srgbClr val="FFFFFF"/>
                </a:solidFill>
                <a:latin typeface="Calibri"/>
              </a:rPr>
              <a:t>→</a:t>
            </a:r>
          </a:p>
        </p:txBody>
      </p:sp>
      <p:sp>
        <p:nvSpPr>
          <p:cNvPr id="14" name="Rectangle 13"/>
          <p:cNvSpPr/>
          <p:nvPr/>
        </p:nvSpPr>
        <p:spPr>
          <a:xfrm>
            <a:off x="6035040" y="1463040"/>
            <a:ext cx="6153912" cy="914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554480"/>
            <a:ext cx="5943600" cy="731520"/>
          </a:xfrm>
          <a:prstGeom prst="rect">
            <a:avLst/>
          </a:prstGeom>
          <a:noFill/>
        </p:spPr>
        <p:txBody>
          <a:bodyPr wrap="square">
            <a:spAutoFit/>
          </a:bodyPr>
          <a:lstStyle/>
          <a:p>
            <a:pPr algn="l"/>
            <a:r>
              <a:rPr sz="1300" b="0" i="0">
                <a:solidFill>
                  <a:srgbClr val="333333"/>
                </a:solidFill>
                <a:latin typeface="Calibri"/>
              </a:rPr>
              <a:t>Solution: Standard IoT modules (STM32 Nucleo, ESP8266 NodeMCU) used — widely available at local electronics stores and online (cost ~₹3,000–6,500 total)</a:t>
            </a:r>
          </a:p>
        </p:txBody>
      </p:sp>
      <p:sp>
        <p:nvSpPr>
          <p:cNvPr id="16" name="Rectangle 15"/>
          <p:cNvSpPr/>
          <p:nvPr/>
        </p:nvSpPr>
        <p:spPr>
          <a:xfrm>
            <a:off x="274320" y="2441448"/>
            <a:ext cx="5029200" cy="9144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2441448"/>
            <a:ext cx="45720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2670048"/>
            <a:ext cx="457200" cy="457200"/>
          </a:xfrm>
          <a:prstGeom prst="rect">
            <a:avLst/>
          </a:prstGeom>
          <a:noFill/>
        </p:spPr>
        <p:txBody>
          <a:bodyPr wrap="square">
            <a:spAutoFit/>
          </a:bodyPr>
          <a:lstStyle/>
          <a:p>
            <a:pPr algn="ctr"/>
            <a:r>
              <a:rPr sz="2000" b="0" i="0">
                <a:solidFill>
                  <a:srgbClr val="FFFFFF"/>
                </a:solidFill>
                <a:latin typeface="Calibri"/>
              </a:rPr>
              <a:t>⚠</a:t>
            </a:r>
          </a:p>
        </p:txBody>
      </p:sp>
      <p:sp>
        <p:nvSpPr>
          <p:cNvPr id="19" name="TextBox 18"/>
          <p:cNvSpPr txBox="1"/>
          <p:nvPr/>
        </p:nvSpPr>
        <p:spPr>
          <a:xfrm>
            <a:off x="822960" y="2532888"/>
            <a:ext cx="4389120" cy="731520"/>
          </a:xfrm>
          <a:prstGeom prst="rect">
            <a:avLst/>
          </a:prstGeom>
          <a:noFill/>
        </p:spPr>
        <p:txBody>
          <a:bodyPr wrap="square">
            <a:spAutoFit/>
          </a:bodyPr>
          <a:lstStyle/>
          <a:p>
            <a:pPr algn="l"/>
            <a:r>
              <a:rPr sz="1400" b="1" i="0">
                <a:solidFill>
                  <a:srgbClr val="990000"/>
                </a:solidFill>
                <a:latin typeface="Calibri"/>
              </a:rPr>
              <a:t>Challenge: Power Constraints in
Low-Voltage System</a:t>
            </a:r>
          </a:p>
        </p:txBody>
      </p:sp>
      <p:sp>
        <p:nvSpPr>
          <p:cNvPr id="20" name="Rectangle 19"/>
          <p:cNvSpPr/>
          <p:nvPr/>
        </p:nvSpPr>
        <p:spPr>
          <a:xfrm>
            <a:off x="5486400" y="2441448"/>
            <a:ext cx="45720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0" y="2715768"/>
            <a:ext cx="457200" cy="365760"/>
          </a:xfrm>
          <a:prstGeom prst="rect">
            <a:avLst/>
          </a:prstGeom>
          <a:noFill/>
        </p:spPr>
        <p:txBody>
          <a:bodyPr wrap="square">
            <a:spAutoFit/>
          </a:bodyPr>
          <a:lstStyle/>
          <a:p>
            <a:pPr algn="ctr"/>
            <a:r>
              <a:rPr sz="2200" b="1" i="0">
                <a:solidFill>
                  <a:srgbClr val="FFFFFF"/>
                </a:solidFill>
                <a:latin typeface="Calibri"/>
              </a:rPr>
              <a:t>→</a:t>
            </a:r>
          </a:p>
        </p:txBody>
      </p:sp>
      <p:sp>
        <p:nvSpPr>
          <p:cNvPr id="22" name="Rectangle 21"/>
          <p:cNvSpPr/>
          <p:nvPr/>
        </p:nvSpPr>
        <p:spPr>
          <a:xfrm>
            <a:off x="6035040" y="2441448"/>
            <a:ext cx="6153912" cy="914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2532888"/>
            <a:ext cx="5943600" cy="731520"/>
          </a:xfrm>
          <a:prstGeom prst="rect">
            <a:avLst/>
          </a:prstGeom>
          <a:noFill/>
        </p:spPr>
        <p:txBody>
          <a:bodyPr wrap="square">
            <a:spAutoFit/>
          </a:bodyPr>
          <a:lstStyle/>
          <a:p>
            <a:pPr algn="l"/>
            <a:r>
              <a:rPr sz="1300" b="0" i="0">
                <a:solidFill>
                  <a:srgbClr val="333333"/>
                </a:solidFill>
                <a:latin typeface="Calibri"/>
              </a:rPr>
              <a:t>Solution: Supercapacitor buffering absorbs input transients. PI controller maintains stable output despite input variations. Multi-level protection prevents damage</a:t>
            </a:r>
          </a:p>
        </p:txBody>
      </p:sp>
      <p:sp>
        <p:nvSpPr>
          <p:cNvPr id="24" name="Rectangle 23"/>
          <p:cNvSpPr/>
          <p:nvPr/>
        </p:nvSpPr>
        <p:spPr>
          <a:xfrm>
            <a:off x="274320" y="3419856"/>
            <a:ext cx="5029200" cy="9144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419856"/>
            <a:ext cx="45720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648456"/>
            <a:ext cx="457200" cy="457200"/>
          </a:xfrm>
          <a:prstGeom prst="rect">
            <a:avLst/>
          </a:prstGeom>
          <a:noFill/>
        </p:spPr>
        <p:txBody>
          <a:bodyPr wrap="square">
            <a:spAutoFit/>
          </a:bodyPr>
          <a:lstStyle/>
          <a:p>
            <a:pPr algn="ctr"/>
            <a:r>
              <a:rPr sz="2000" b="0" i="0">
                <a:solidFill>
                  <a:srgbClr val="FFFFFF"/>
                </a:solidFill>
                <a:latin typeface="Calibri"/>
              </a:rPr>
              <a:t>⚠</a:t>
            </a:r>
          </a:p>
        </p:txBody>
      </p:sp>
      <p:sp>
        <p:nvSpPr>
          <p:cNvPr id="27" name="TextBox 26"/>
          <p:cNvSpPr txBox="1"/>
          <p:nvPr/>
        </p:nvSpPr>
        <p:spPr>
          <a:xfrm>
            <a:off x="822960" y="3511296"/>
            <a:ext cx="4389120" cy="731520"/>
          </a:xfrm>
          <a:prstGeom prst="rect">
            <a:avLst/>
          </a:prstGeom>
          <a:noFill/>
        </p:spPr>
        <p:txBody>
          <a:bodyPr wrap="square">
            <a:spAutoFit/>
          </a:bodyPr>
          <a:lstStyle/>
          <a:p>
            <a:pPr algn="l"/>
            <a:r>
              <a:rPr sz="1400" b="1" i="0">
                <a:solidFill>
                  <a:srgbClr val="990000"/>
                </a:solidFill>
                <a:latin typeface="Calibri"/>
              </a:rPr>
              <a:t>Challenge: Real-Time Monitoring
Complexity</a:t>
            </a:r>
          </a:p>
        </p:txBody>
      </p:sp>
      <p:sp>
        <p:nvSpPr>
          <p:cNvPr id="28" name="Rectangle 27"/>
          <p:cNvSpPr/>
          <p:nvPr/>
        </p:nvSpPr>
        <p:spPr>
          <a:xfrm>
            <a:off x="5486400" y="3419856"/>
            <a:ext cx="45720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0" y="3694176"/>
            <a:ext cx="457200" cy="365760"/>
          </a:xfrm>
          <a:prstGeom prst="rect">
            <a:avLst/>
          </a:prstGeom>
          <a:noFill/>
        </p:spPr>
        <p:txBody>
          <a:bodyPr wrap="square">
            <a:spAutoFit/>
          </a:bodyPr>
          <a:lstStyle/>
          <a:p>
            <a:pPr algn="ctr"/>
            <a:r>
              <a:rPr sz="2200" b="1" i="0">
                <a:solidFill>
                  <a:srgbClr val="FFFFFF"/>
                </a:solidFill>
                <a:latin typeface="Calibri"/>
              </a:rPr>
              <a:t>→</a:t>
            </a:r>
          </a:p>
        </p:txBody>
      </p:sp>
      <p:sp>
        <p:nvSpPr>
          <p:cNvPr id="30" name="Rectangle 29"/>
          <p:cNvSpPr/>
          <p:nvPr/>
        </p:nvSpPr>
        <p:spPr>
          <a:xfrm>
            <a:off x="6035040" y="3419856"/>
            <a:ext cx="6153912" cy="914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511296"/>
            <a:ext cx="5943600" cy="731520"/>
          </a:xfrm>
          <a:prstGeom prst="rect">
            <a:avLst/>
          </a:prstGeom>
          <a:noFill/>
        </p:spPr>
        <p:txBody>
          <a:bodyPr wrap="square">
            <a:spAutoFit/>
          </a:bodyPr>
          <a:lstStyle/>
          <a:p>
            <a:pPr algn="l"/>
            <a:r>
              <a:rPr sz="1300" b="0" i="0">
                <a:solidFill>
                  <a:srgbClr val="333333"/>
                </a:solidFill>
                <a:latin typeface="Calibri"/>
              </a:rPr>
              <a:t>Solution: STM32 with DMA-based ADC handles background sampling. Non-blocking UART TX. Optimized firmware targeting &lt; 10 ms control loop. Modular code for testability</a:t>
            </a:r>
          </a:p>
        </p:txBody>
      </p:sp>
      <p:sp>
        <p:nvSpPr>
          <p:cNvPr id="32" name="Rectangle 31"/>
          <p:cNvSpPr/>
          <p:nvPr/>
        </p:nvSpPr>
        <p:spPr>
          <a:xfrm>
            <a:off x="274320" y="4398264"/>
            <a:ext cx="5029200" cy="9144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74320" y="4398264"/>
            <a:ext cx="45720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626864"/>
            <a:ext cx="457200" cy="457200"/>
          </a:xfrm>
          <a:prstGeom prst="rect">
            <a:avLst/>
          </a:prstGeom>
          <a:noFill/>
        </p:spPr>
        <p:txBody>
          <a:bodyPr wrap="square">
            <a:spAutoFit/>
          </a:bodyPr>
          <a:lstStyle/>
          <a:p>
            <a:pPr algn="ctr"/>
            <a:r>
              <a:rPr sz="2000" b="0" i="0">
                <a:solidFill>
                  <a:srgbClr val="FFFFFF"/>
                </a:solidFill>
                <a:latin typeface="Calibri"/>
              </a:rPr>
              <a:t>⚠</a:t>
            </a:r>
          </a:p>
        </p:txBody>
      </p:sp>
      <p:sp>
        <p:nvSpPr>
          <p:cNvPr id="35" name="TextBox 34"/>
          <p:cNvSpPr txBox="1"/>
          <p:nvPr/>
        </p:nvSpPr>
        <p:spPr>
          <a:xfrm>
            <a:off x="822960" y="4489704"/>
            <a:ext cx="4389120" cy="731520"/>
          </a:xfrm>
          <a:prstGeom prst="rect">
            <a:avLst/>
          </a:prstGeom>
          <a:noFill/>
        </p:spPr>
        <p:txBody>
          <a:bodyPr wrap="square">
            <a:spAutoFit/>
          </a:bodyPr>
          <a:lstStyle/>
          <a:p>
            <a:pPr algn="l"/>
            <a:r>
              <a:rPr sz="1400" b="1" i="0">
                <a:solidFill>
                  <a:srgbClr val="990000"/>
                </a:solidFill>
                <a:latin typeface="Calibri"/>
              </a:rPr>
              <a:t>Challenge: Cloud Connectivity in
Research Lab</a:t>
            </a:r>
          </a:p>
        </p:txBody>
      </p:sp>
      <p:sp>
        <p:nvSpPr>
          <p:cNvPr id="36" name="Rectangle 35"/>
          <p:cNvSpPr/>
          <p:nvPr/>
        </p:nvSpPr>
        <p:spPr>
          <a:xfrm>
            <a:off x="5486400" y="4398264"/>
            <a:ext cx="45720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0" y="4672584"/>
            <a:ext cx="457200" cy="365760"/>
          </a:xfrm>
          <a:prstGeom prst="rect">
            <a:avLst/>
          </a:prstGeom>
          <a:noFill/>
        </p:spPr>
        <p:txBody>
          <a:bodyPr wrap="square">
            <a:spAutoFit/>
          </a:bodyPr>
          <a:lstStyle/>
          <a:p>
            <a:pPr algn="ctr"/>
            <a:r>
              <a:rPr sz="2200" b="1" i="0">
                <a:solidFill>
                  <a:srgbClr val="FFFFFF"/>
                </a:solidFill>
                <a:latin typeface="Calibri"/>
              </a:rPr>
              <a:t>→</a:t>
            </a:r>
          </a:p>
        </p:txBody>
      </p:sp>
      <p:sp>
        <p:nvSpPr>
          <p:cNvPr id="38" name="Rectangle 37"/>
          <p:cNvSpPr/>
          <p:nvPr/>
        </p:nvSpPr>
        <p:spPr>
          <a:xfrm>
            <a:off x="6035040" y="4398264"/>
            <a:ext cx="6153912" cy="914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72200" y="4489704"/>
            <a:ext cx="5943600" cy="731520"/>
          </a:xfrm>
          <a:prstGeom prst="rect">
            <a:avLst/>
          </a:prstGeom>
          <a:noFill/>
        </p:spPr>
        <p:txBody>
          <a:bodyPr wrap="square">
            <a:spAutoFit/>
          </a:bodyPr>
          <a:lstStyle/>
          <a:p>
            <a:pPr algn="l"/>
            <a:r>
              <a:rPr sz="1300" b="0" i="0">
                <a:solidFill>
                  <a:srgbClr val="333333"/>
                </a:solidFill>
                <a:latin typeface="Calibri"/>
              </a:rPr>
              <a:t>Solution: WiFi-based ESP8266 with flexible backend (can use mobile hotspot, campus WiFi, or local network). SPIFFS offline buffer ensures no data loss</a:t>
            </a:r>
          </a:p>
        </p:txBody>
      </p:sp>
      <p:sp>
        <p:nvSpPr>
          <p:cNvPr id="40" name="Rectangle 39"/>
          <p:cNvSpPr/>
          <p:nvPr/>
        </p:nvSpPr>
        <p:spPr>
          <a:xfrm>
            <a:off x="274320" y="5376672"/>
            <a:ext cx="5029200" cy="9144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74320" y="5376672"/>
            <a:ext cx="457200" cy="9144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4320" y="5605272"/>
            <a:ext cx="457200" cy="457200"/>
          </a:xfrm>
          <a:prstGeom prst="rect">
            <a:avLst/>
          </a:prstGeom>
          <a:noFill/>
        </p:spPr>
        <p:txBody>
          <a:bodyPr wrap="square">
            <a:spAutoFit/>
          </a:bodyPr>
          <a:lstStyle/>
          <a:p>
            <a:pPr algn="ctr"/>
            <a:r>
              <a:rPr sz="2000" b="0" i="0">
                <a:solidFill>
                  <a:srgbClr val="FFFFFF"/>
                </a:solidFill>
                <a:latin typeface="Calibri"/>
              </a:rPr>
              <a:t>⚠</a:t>
            </a:r>
          </a:p>
        </p:txBody>
      </p:sp>
      <p:sp>
        <p:nvSpPr>
          <p:cNvPr id="43" name="TextBox 42"/>
          <p:cNvSpPr txBox="1"/>
          <p:nvPr/>
        </p:nvSpPr>
        <p:spPr>
          <a:xfrm>
            <a:off x="822960" y="5468112"/>
            <a:ext cx="4389120" cy="731520"/>
          </a:xfrm>
          <a:prstGeom prst="rect">
            <a:avLst/>
          </a:prstGeom>
          <a:noFill/>
        </p:spPr>
        <p:txBody>
          <a:bodyPr wrap="square">
            <a:spAutoFit/>
          </a:bodyPr>
          <a:lstStyle/>
          <a:p>
            <a:pPr algn="l"/>
            <a:r>
              <a:rPr sz="1400" b="1" i="0">
                <a:solidFill>
                  <a:srgbClr val="990000"/>
                </a:solidFill>
                <a:latin typeface="Calibri"/>
              </a:rPr>
              <a:t>Challenge: System Complexity
Management</a:t>
            </a:r>
          </a:p>
        </p:txBody>
      </p:sp>
      <p:sp>
        <p:nvSpPr>
          <p:cNvPr id="44" name="Rectangle 43"/>
          <p:cNvSpPr/>
          <p:nvPr/>
        </p:nvSpPr>
        <p:spPr>
          <a:xfrm>
            <a:off x="5486400" y="5376672"/>
            <a:ext cx="457200" cy="91440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0" y="5650992"/>
            <a:ext cx="457200" cy="365760"/>
          </a:xfrm>
          <a:prstGeom prst="rect">
            <a:avLst/>
          </a:prstGeom>
          <a:noFill/>
        </p:spPr>
        <p:txBody>
          <a:bodyPr wrap="square">
            <a:spAutoFit/>
          </a:bodyPr>
          <a:lstStyle/>
          <a:p>
            <a:pPr algn="ctr"/>
            <a:r>
              <a:rPr sz="2200" b="1" i="0">
                <a:solidFill>
                  <a:srgbClr val="FFFFFF"/>
                </a:solidFill>
                <a:latin typeface="Calibri"/>
              </a:rPr>
              <a:t>→</a:t>
            </a:r>
          </a:p>
        </p:txBody>
      </p:sp>
      <p:sp>
        <p:nvSpPr>
          <p:cNvPr id="46" name="Rectangle 45"/>
          <p:cNvSpPr/>
          <p:nvPr/>
        </p:nvSpPr>
        <p:spPr>
          <a:xfrm>
            <a:off x="6035040" y="5376672"/>
            <a:ext cx="6153912" cy="9144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172200" y="5468112"/>
            <a:ext cx="5943600" cy="731520"/>
          </a:xfrm>
          <a:prstGeom prst="rect">
            <a:avLst/>
          </a:prstGeom>
          <a:noFill/>
        </p:spPr>
        <p:txBody>
          <a:bodyPr wrap="square">
            <a:spAutoFit/>
          </a:bodyPr>
          <a:lstStyle/>
          <a:p>
            <a:pPr algn="l"/>
            <a:r>
              <a:rPr sz="1300" b="0" i="0">
                <a:solidFill>
                  <a:srgbClr val="333333"/>
                </a:solidFill>
                <a:latin typeface="Calibri"/>
              </a:rPr>
              <a:t>Solution: Modular architecture with clearly defined C interfaces (header files). Each module independently testable. Python simulation enables testing without hardware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2801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80160"/>
            <a:ext cx="12188952" cy="73152"/>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137160"/>
            <a:ext cx="11430000" cy="731520"/>
          </a:xfrm>
          <a:prstGeom prst="rect">
            <a:avLst/>
          </a:prstGeom>
          <a:noFill/>
        </p:spPr>
        <p:txBody>
          <a:bodyPr wrap="square">
            <a:spAutoFit/>
          </a:bodyPr>
          <a:lstStyle/>
          <a:p>
            <a:pPr algn="l"/>
            <a:r>
              <a:rPr sz="3200" b="1" i="0">
                <a:solidFill>
                  <a:srgbClr val="FFFFFF"/>
                </a:solidFill>
                <a:latin typeface="Calibri"/>
              </a:rPr>
              <a:t>References &amp; Conclusion</a:t>
            </a:r>
          </a:p>
        </p:txBody>
      </p:sp>
      <p:sp>
        <p:nvSpPr>
          <p:cNvPr id="5" name="TextBox 4"/>
          <p:cNvSpPr txBox="1"/>
          <p:nvPr/>
        </p:nvSpPr>
        <p:spPr>
          <a:xfrm>
            <a:off x="274320" y="822960"/>
            <a:ext cx="11430000" cy="411480"/>
          </a:xfrm>
          <a:prstGeom prst="rect">
            <a:avLst/>
          </a:prstGeom>
          <a:noFill/>
        </p:spPr>
        <p:txBody>
          <a:bodyPr wrap="square">
            <a:spAutoFit/>
          </a:bodyPr>
          <a:lstStyle/>
          <a:p>
            <a:pPr algn="l"/>
            <a:r>
              <a:rPr sz="1600" b="0" i="0">
                <a:solidFill>
                  <a:srgbClr val="CCE5FF"/>
                </a:solidFill>
                <a:latin typeface="Calibri"/>
              </a:rPr>
              <a:t>Summary, Future Scope &amp; Acknowledgements</a:t>
            </a:r>
          </a:p>
        </p:txBody>
      </p:sp>
      <p:sp>
        <p:nvSpPr>
          <p:cNvPr id="6" name="Rectangle 5"/>
          <p:cNvSpPr/>
          <p:nvPr/>
        </p:nvSpPr>
        <p:spPr>
          <a:xfrm>
            <a:off x="0" y="6537960"/>
            <a:ext cx="12188952" cy="32004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56248"/>
            <a:ext cx="11430000" cy="256032"/>
          </a:xfrm>
          <a:prstGeom prst="rect">
            <a:avLst/>
          </a:prstGeom>
          <a:noFill/>
        </p:spPr>
        <p:txBody>
          <a:bodyPr wrap="square">
            <a:spAutoFit/>
          </a:bodyPr>
          <a:lstStyle/>
          <a:p>
            <a:pPr algn="ctr"/>
            <a:r>
              <a:rPr sz="1100" b="0" i="0">
                <a:solidFill>
                  <a:srgbClr val="CCE5FF"/>
                </a:solidFill>
                <a:latin typeface="Calibri"/>
              </a:rPr>
              <a:t>Ajeesh Kumar R (2024MT12104) | BITS Pilani WILP | April 2026</a:t>
            </a:r>
          </a:p>
        </p:txBody>
      </p:sp>
      <p:sp>
        <p:nvSpPr>
          <p:cNvPr id="8" name="Rectangle 7"/>
          <p:cNvSpPr/>
          <p:nvPr/>
        </p:nvSpPr>
        <p:spPr>
          <a:xfrm>
            <a:off x="274320" y="1463040"/>
            <a:ext cx="6858000" cy="36576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463040"/>
            <a:ext cx="6858000" cy="4114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08760"/>
            <a:ext cx="6583680" cy="320040"/>
          </a:xfrm>
          <a:prstGeom prst="rect">
            <a:avLst/>
          </a:prstGeom>
          <a:noFill/>
        </p:spPr>
        <p:txBody>
          <a:bodyPr wrap="square">
            <a:spAutoFit/>
          </a:bodyPr>
          <a:lstStyle/>
          <a:p>
            <a:pPr algn="l"/>
            <a:r>
              <a:rPr sz="1600" b="1" i="0">
                <a:solidFill>
                  <a:srgbClr val="FFFFFF"/>
                </a:solidFill>
                <a:latin typeface="Calibri"/>
              </a:rPr>
              <a:t>📚  References</a:t>
            </a:r>
          </a:p>
        </p:txBody>
      </p:sp>
      <p:sp>
        <p:nvSpPr>
          <p:cNvPr id="11" name="TextBox 10"/>
          <p:cNvSpPr txBox="1"/>
          <p:nvPr/>
        </p:nvSpPr>
        <p:spPr>
          <a:xfrm>
            <a:off x="457200" y="1993392"/>
            <a:ext cx="6492240" cy="457200"/>
          </a:xfrm>
          <a:prstGeom prst="rect">
            <a:avLst/>
          </a:prstGeom>
          <a:noFill/>
        </p:spPr>
        <p:txBody>
          <a:bodyPr wrap="square">
            <a:spAutoFit/>
          </a:bodyPr>
          <a:lstStyle/>
          <a:p>
            <a:pPr algn="l"/>
            <a:r>
              <a:rPr sz="1300" b="0" i="0">
                <a:solidFill>
                  <a:srgbClr val="333333"/>
                </a:solidFill>
                <a:latin typeface="Calibri"/>
              </a:rPr>
              <a:t>[1] Q. Hassan et al., Renewable Energy Reports, 2022</a:t>
            </a:r>
          </a:p>
        </p:txBody>
      </p:sp>
      <p:sp>
        <p:nvSpPr>
          <p:cNvPr id="12" name="TextBox 11"/>
          <p:cNvSpPr txBox="1"/>
          <p:nvPr/>
        </p:nvSpPr>
        <p:spPr>
          <a:xfrm>
            <a:off x="457200" y="2496312"/>
            <a:ext cx="6492240" cy="457200"/>
          </a:xfrm>
          <a:prstGeom prst="rect">
            <a:avLst/>
          </a:prstGeom>
          <a:noFill/>
        </p:spPr>
        <p:txBody>
          <a:bodyPr wrap="square">
            <a:spAutoFit/>
          </a:bodyPr>
          <a:lstStyle/>
          <a:p>
            <a:pPr algn="l"/>
            <a:r>
              <a:rPr sz="1300" b="0" i="0">
                <a:solidFill>
                  <a:srgbClr val="333333"/>
                </a:solidFill>
                <a:latin typeface="Calibri"/>
              </a:rPr>
              <a:t>[2] J. Zhang, Renewable &amp; Sustainable Energy Reviews, 2023</a:t>
            </a:r>
          </a:p>
        </p:txBody>
      </p:sp>
      <p:sp>
        <p:nvSpPr>
          <p:cNvPr id="13" name="TextBox 12"/>
          <p:cNvSpPr txBox="1"/>
          <p:nvPr/>
        </p:nvSpPr>
        <p:spPr>
          <a:xfrm>
            <a:off x="457200" y="2999232"/>
            <a:ext cx="6492240" cy="457200"/>
          </a:xfrm>
          <a:prstGeom prst="rect">
            <a:avLst/>
          </a:prstGeom>
          <a:noFill/>
        </p:spPr>
        <p:txBody>
          <a:bodyPr wrap="square">
            <a:spAutoFit/>
          </a:bodyPr>
          <a:lstStyle/>
          <a:p>
            <a:pPr algn="l"/>
            <a:r>
              <a:rPr sz="1300" b="0" i="0">
                <a:solidFill>
                  <a:srgbClr val="333333"/>
                </a:solidFill>
                <a:latin typeface="Calibri"/>
              </a:rPr>
              <a:t>[3] C.V.V.M. Gopi et al., Energy Reports, 2024</a:t>
            </a:r>
          </a:p>
        </p:txBody>
      </p:sp>
      <p:sp>
        <p:nvSpPr>
          <p:cNvPr id="14" name="TextBox 13"/>
          <p:cNvSpPr txBox="1"/>
          <p:nvPr/>
        </p:nvSpPr>
        <p:spPr>
          <a:xfrm>
            <a:off x="457200" y="3502152"/>
            <a:ext cx="6492240" cy="457200"/>
          </a:xfrm>
          <a:prstGeom prst="rect">
            <a:avLst/>
          </a:prstGeom>
          <a:noFill/>
        </p:spPr>
        <p:txBody>
          <a:bodyPr wrap="square">
            <a:spAutoFit/>
          </a:bodyPr>
          <a:lstStyle/>
          <a:p>
            <a:pPr algn="l"/>
            <a:r>
              <a:rPr sz="1300" b="0" i="0">
                <a:solidFill>
                  <a:srgbClr val="333333"/>
                </a:solidFill>
                <a:latin typeface="Calibri"/>
              </a:rPr>
              <a:t>[4] K. Piyumal et al., Electronics (MDPI), 2021</a:t>
            </a:r>
          </a:p>
        </p:txBody>
      </p:sp>
      <p:sp>
        <p:nvSpPr>
          <p:cNvPr id="15" name="TextBox 14"/>
          <p:cNvSpPr txBox="1"/>
          <p:nvPr/>
        </p:nvSpPr>
        <p:spPr>
          <a:xfrm>
            <a:off x="457200" y="4005072"/>
            <a:ext cx="6492240" cy="457200"/>
          </a:xfrm>
          <a:prstGeom prst="rect">
            <a:avLst/>
          </a:prstGeom>
          <a:noFill/>
        </p:spPr>
        <p:txBody>
          <a:bodyPr wrap="square">
            <a:spAutoFit/>
          </a:bodyPr>
          <a:lstStyle/>
          <a:p>
            <a:pPr algn="l"/>
            <a:r>
              <a:rPr sz="1300" b="0" i="0">
                <a:solidFill>
                  <a:srgbClr val="333333"/>
                </a:solidFill>
                <a:latin typeface="Calibri"/>
              </a:rPr>
              <a:t>[5] M. Baqar et al., Energies (MDPI), 2023</a:t>
            </a:r>
          </a:p>
        </p:txBody>
      </p:sp>
      <p:sp>
        <p:nvSpPr>
          <p:cNvPr id="16" name="Rectangle 15"/>
          <p:cNvSpPr/>
          <p:nvPr/>
        </p:nvSpPr>
        <p:spPr>
          <a:xfrm>
            <a:off x="274320" y="5257800"/>
            <a:ext cx="6858000" cy="1005840"/>
          </a:xfrm>
          <a:prstGeom prst="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5349240"/>
            <a:ext cx="6583680" cy="411480"/>
          </a:xfrm>
          <a:prstGeom prst="rect">
            <a:avLst/>
          </a:prstGeom>
          <a:noFill/>
        </p:spPr>
        <p:txBody>
          <a:bodyPr wrap="square">
            <a:spAutoFit/>
          </a:bodyPr>
          <a:lstStyle/>
          <a:p>
            <a:pPr algn="l"/>
            <a:r>
              <a:rPr sz="1300" b="0" i="0">
                <a:solidFill>
                  <a:srgbClr val="003366"/>
                </a:solidFill>
                <a:latin typeface="Calibri"/>
              </a:rPr>
              <a:t>🛠️  Tools: STM32CubeIDE | Arduino IDE | Python | Node.js | React.js | Git</a:t>
            </a:r>
          </a:p>
        </p:txBody>
      </p:sp>
      <p:sp>
        <p:nvSpPr>
          <p:cNvPr id="18" name="TextBox 17"/>
          <p:cNvSpPr txBox="1"/>
          <p:nvPr/>
        </p:nvSpPr>
        <p:spPr>
          <a:xfrm>
            <a:off x="457200" y="5760720"/>
            <a:ext cx="6583680" cy="411480"/>
          </a:xfrm>
          <a:prstGeom prst="rect">
            <a:avLst/>
          </a:prstGeom>
          <a:noFill/>
        </p:spPr>
        <p:txBody>
          <a:bodyPr wrap="square">
            <a:spAutoFit/>
          </a:bodyPr>
          <a:lstStyle/>
          <a:p>
            <a:pPr algn="l"/>
            <a:r>
              <a:rPr sz="1300" b="0" i="0">
                <a:solidFill>
                  <a:srgbClr val="003366"/>
                </a:solidFill>
                <a:latin typeface="Calibri"/>
              </a:rPr>
              <a:t>🔗  GitHub: github.com/2024mt12104/IoT-Solar-Charging-System</a:t>
            </a:r>
          </a:p>
        </p:txBody>
      </p:sp>
      <p:sp>
        <p:nvSpPr>
          <p:cNvPr id="19" name="Rectangle 18"/>
          <p:cNvSpPr/>
          <p:nvPr/>
        </p:nvSpPr>
        <p:spPr>
          <a:xfrm>
            <a:off x="7315200" y="1463040"/>
            <a:ext cx="4599432" cy="36576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79" y="1508760"/>
            <a:ext cx="4297680" cy="365760"/>
          </a:xfrm>
          <a:prstGeom prst="rect">
            <a:avLst/>
          </a:prstGeom>
          <a:noFill/>
        </p:spPr>
        <p:txBody>
          <a:bodyPr wrap="square">
            <a:spAutoFit/>
          </a:bodyPr>
          <a:lstStyle/>
          <a:p>
            <a:pPr algn="l"/>
            <a:r>
              <a:rPr sz="1600" b="1" i="0">
                <a:solidFill>
                  <a:srgbClr val="FFFFFF"/>
                </a:solidFill>
                <a:latin typeface="Calibri"/>
              </a:rPr>
              <a:t>✅  Conclusion</a:t>
            </a:r>
          </a:p>
        </p:txBody>
      </p:sp>
      <p:sp>
        <p:nvSpPr>
          <p:cNvPr id="21" name="TextBox 20"/>
          <p:cNvSpPr txBox="1"/>
          <p:nvPr/>
        </p:nvSpPr>
        <p:spPr>
          <a:xfrm>
            <a:off x="7498079" y="1938528"/>
            <a:ext cx="4297680" cy="594360"/>
          </a:xfrm>
          <a:prstGeom prst="rect">
            <a:avLst/>
          </a:prstGeom>
          <a:noFill/>
        </p:spPr>
        <p:txBody>
          <a:bodyPr wrap="square">
            <a:spAutoFit/>
          </a:bodyPr>
          <a:lstStyle/>
          <a:p>
            <a:pPr algn="l"/>
            <a:r>
              <a:rPr sz="1400" b="0" i="0">
                <a:solidFill>
                  <a:srgbClr val="FFFFFF"/>
                </a:solidFill>
                <a:latin typeface="Calibri"/>
              </a:rPr>
              <a:t>• Feasible integrated solution
  for smart charging</a:t>
            </a:r>
          </a:p>
        </p:txBody>
      </p:sp>
      <p:sp>
        <p:nvSpPr>
          <p:cNvPr id="22" name="TextBox 21"/>
          <p:cNvSpPr txBox="1"/>
          <p:nvPr/>
        </p:nvSpPr>
        <p:spPr>
          <a:xfrm>
            <a:off x="7498079" y="2560320"/>
            <a:ext cx="4297680" cy="594360"/>
          </a:xfrm>
          <a:prstGeom prst="rect">
            <a:avLst/>
          </a:prstGeom>
          <a:noFill/>
        </p:spPr>
        <p:txBody>
          <a:bodyPr wrap="square">
            <a:spAutoFit/>
          </a:bodyPr>
          <a:lstStyle/>
          <a:p>
            <a:pPr algn="l"/>
            <a:r>
              <a:rPr sz="1400" b="0" i="0">
                <a:solidFill>
                  <a:srgbClr val="FFFFFF"/>
                </a:solidFill>
                <a:latin typeface="Calibri"/>
              </a:rPr>
              <a:t>• Novel IoT + embedded
  architecture proposed</a:t>
            </a:r>
          </a:p>
        </p:txBody>
      </p:sp>
      <p:sp>
        <p:nvSpPr>
          <p:cNvPr id="23" name="TextBox 22"/>
          <p:cNvSpPr txBox="1"/>
          <p:nvPr/>
        </p:nvSpPr>
        <p:spPr>
          <a:xfrm>
            <a:off x="7498079" y="3182112"/>
            <a:ext cx="4297680" cy="594360"/>
          </a:xfrm>
          <a:prstGeom prst="rect">
            <a:avLst/>
          </a:prstGeom>
          <a:noFill/>
        </p:spPr>
        <p:txBody>
          <a:bodyPr wrap="square">
            <a:spAutoFit/>
          </a:bodyPr>
          <a:lstStyle/>
          <a:p>
            <a:pPr algn="l"/>
            <a:r>
              <a:rPr sz="1400" b="0" i="0">
                <a:solidFill>
                  <a:srgbClr val="FFFFFF"/>
                </a:solidFill>
                <a:latin typeface="Calibri"/>
              </a:rPr>
              <a:t>• Research gap clearly
  identified and addressed</a:t>
            </a:r>
          </a:p>
        </p:txBody>
      </p:sp>
      <p:sp>
        <p:nvSpPr>
          <p:cNvPr id="24" name="TextBox 23"/>
          <p:cNvSpPr txBox="1"/>
          <p:nvPr/>
        </p:nvSpPr>
        <p:spPr>
          <a:xfrm>
            <a:off x="7498079" y="3803904"/>
            <a:ext cx="4297680" cy="594360"/>
          </a:xfrm>
          <a:prstGeom prst="rect">
            <a:avLst/>
          </a:prstGeom>
          <a:noFill/>
        </p:spPr>
        <p:txBody>
          <a:bodyPr wrap="square">
            <a:spAutoFit/>
          </a:bodyPr>
          <a:lstStyle/>
          <a:p>
            <a:pPr algn="l"/>
            <a:r>
              <a:rPr sz="1400" b="0" i="0">
                <a:solidFill>
                  <a:srgbClr val="FFFFFF"/>
                </a:solidFill>
                <a:latin typeface="Calibri"/>
              </a:rPr>
              <a:t>• Systematic development
  methodology defined</a:t>
            </a:r>
          </a:p>
        </p:txBody>
      </p:sp>
      <p:sp>
        <p:nvSpPr>
          <p:cNvPr id="25" name="TextBox 24"/>
          <p:cNvSpPr txBox="1"/>
          <p:nvPr/>
        </p:nvSpPr>
        <p:spPr>
          <a:xfrm>
            <a:off x="7498079" y="4425696"/>
            <a:ext cx="4297680" cy="594360"/>
          </a:xfrm>
          <a:prstGeom prst="rect">
            <a:avLst/>
          </a:prstGeom>
          <a:noFill/>
        </p:spPr>
        <p:txBody>
          <a:bodyPr wrap="square">
            <a:spAutoFit/>
          </a:bodyPr>
          <a:lstStyle/>
          <a:p>
            <a:pPr algn="l"/>
            <a:r>
              <a:rPr sz="1400" b="0" i="0">
                <a:solidFill>
                  <a:srgbClr val="FFFFFF"/>
                </a:solidFill>
                <a:latin typeface="Calibri"/>
              </a:rPr>
              <a:t>• On track for complete
  delivery by May 2026</a:t>
            </a:r>
          </a:p>
        </p:txBody>
      </p:sp>
      <p:sp>
        <p:nvSpPr>
          <p:cNvPr id="26" name="Rectangle 25"/>
          <p:cNvSpPr/>
          <p:nvPr/>
        </p:nvSpPr>
        <p:spPr>
          <a:xfrm>
            <a:off x="7315200" y="5257800"/>
            <a:ext cx="4599432" cy="1005840"/>
          </a:xfrm>
          <a:prstGeom prst="rect">
            <a:avLst/>
          </a:prstGeom>
          <a:solidFill>
            <a:srgbClr val="00A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79" y="5303520"/>
            <a:ext cx="4297680" cy="347472"/>
          </a:xfrm>
          <a:prstGeom prst="rect">
            <a:avLst/>
          </a:prstGeom>
          <a:noFill/>
        </p:spPr>
        <p:txBody>
          <a:bodyPr wrap="square">
            <a:spAutoFit/>
          </a:bodyPr>
          <a:lstStyle/>
          <a:p>
            <a:pPr algn="l"/>
            <a:r>
              <a:rPr sz="1400" b="1" i="0">
                <a:solidFill>
                  <a:srgbClr val="FFFFFF"/>
                </a:solidFill>
                <a:latin typeface="Calibri"/>
              </a:rPr>
              <a:t>🔮  Future Scope</a:t>
            </a:r>
          </a:p>
        </p:txBody>
      </p:sp>
      <p:sp>
        <p:nvSpPr>
          <p:cNvPr id="28" name="TextBox 27"/>
          <p:cNvSpPr txBox="1"/>
          <p:nvPr/>
        </p:nvSpPr>
        <p:spPr>
          <a:xfrm>
            <a:off x="7498079" y="5687568"/>
            <a:ext cx="4297680" cy="502920"/>
          </a:xfrm>
          <a:prstGeom prst="rect">
            <a:avLst/>
          </a:prstGeom>
          <a:noFill/>
        </p:spPr>
        <p:txBody>
          <a:bodyPr wrap="square">
            <a:spAutoFit/>
          </a:bodyPr>
          <a:lstStyle/>
          <a:p>
            <a:pPr algn="l"/>
            <a:r>
              <a:rPr sz="1200" b="0" i="0">
                <a:solidFill>
                  <a:srgbClr val="FFFFFF"/>
                </a:solidFill>
                <a:latin typeface="Calibri"/>
              </a:rPr>
              <a:t>Higher power ratings  |  Multiple battery types
ML-based optimization  |  Grid integration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