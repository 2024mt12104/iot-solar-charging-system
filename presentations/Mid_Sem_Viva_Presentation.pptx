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0" y="-1371600"/>
            <a:ext cx="5486400" cy="5486400"/>
          </a:xfrm>
          <a:prstGeom prst="ellipse">
            <a:avLst/>
          </a:prstGeom>
          <a:solidFill>
            <a:srgbClr val="15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828800" y="3657600"/>
            <a:ext cx="4572000" cy="4572000"/>
          </a:xfrm>
          <a:prstGeom prst="ellipse">
            <a:avLst/>
          </a:prstGeom>
          <a:solidFill>
            <a:srgbClr val="12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73152" cy="4114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63040"/>
            <a:ext cx="10972800" cy="731520"/>
          </a:xfrm>
          <a:prstGeom prst="rect">
            <a:avLst/>
          </a:prstGeom>
          <a:noFill/>
        </p:spPr>
        <p:txBody>
          <a:bodyPr wrap="square">
            <a:spAutoFit/>
          </a:bodyPr>
          <a:lstStyle/>
          <a:p>
            <a:pPr>
              <a:defRPr sz="4000" b="1">
                <a:solidFill>
                  <a:srgbClr val="FFFFFF"/>
                </a:solidFill>
              </a:defRPr>
            </a:pPr>
            <a:r>
              <a:t>IoT-Enabled Solar-Assisted</a:t>
            </a:r>
          </a:p>
        </p:txBody>
      </p:sp>
      <p:sp>
        <p:nvSpPr>
          <p:cNvPr id="8" name="TextBox 7"/>
          <p:cNvSpPr txBox="1"/>
          <p:nvPr/>
        </p:nvSpPr>
        <p:spPr>
          <a:xfrm>
            <a:off x="1005840" y="2103120"/>
            <a:ext cx="10972800" cy="731520"/>
          </a:xfrm>
          <a:prstGeom prst="rect">
            <a:avLst/>
          </a:prstGeom>
          <a:noFill/>
        </p:spPr>
        <p:txBody>
          <a:bodyPr wrap="square">
            <a:spAutoFit/>
          </a:bodyPr>
          <a:lstStyle/>
          <a:p>
            <a:pPr>
              <a:defRPr sz="4000" b="1">
                <a:solidFill>
                  <a:srgbClr val="FFFFFF"/>
                </a:solidFill>
              </a:defRPr>
            </a:pPr>
            <a:r>
              <a:t>High-Efficiency Battery Charging</a:t>
            </a:r>
          </a:p>
        </p:txBody>
      </p:sp>
      <p:sp>
        <p:nvSpPr>
          <p:cNvPr id="9" name="TextBox 8"/>
          <p:cNvSpPr txBox="1"/>
          <p:nvPr/>
        </p:nvSpPr>
        <p:spPr>
          <a:xfrm>
            <a:off x="1005840" y="2743200"/>
            <a:ext cx="10972800" cy="731520"/>
          </a:xfrm>
          <a:prstGeom prst="rect">
            <a:avLst/>
          </a:prstGeom>
          <a:noFill/>
        </p:spPr>
        <p:txBody>
          <a:bodyPr wrap="square">
            <a:spAutoFit/>
          </a:bodyPr>
          <a:lstStyle/>
          <a:p>
            <a:pPr>
              <a:defRPr sz="3200" b="1">
                <a:solidFill>
                  <a:srgbClr val="00B4D8"/>
                </a:solidFill>
              </a:defRPr>
            </a:pPr>
            <a:r>
              <a:t>Using Supercapacitor Energy Buffering</a:t>
            </a:r>
          </a:p>
        </p:txBody>
      </p:sp>
      <p:sp>
        <p:nvSpPr>
          <p:cNvPr id="10" name="Rectangle 9"/>
          <p:cNvSpPr/>
          <p:nvPr/>
        </p:nvSpPr>
        <p:spPr>
          <a:xfrm>
            <a:off x="1005840" y="3566160"/>
            <a:ext cx="54864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40480"/>
            <a:ext cx="1371600" cy="320040"/>
          </a:xfrm>
          <a:prstGeom prst="rect">
            <a:avLst/>
          </a:prstGeom>
          <a:noFill/>
        </p:spPr>
        <p:txBody>
          <a:bodyPr wrap="square">
            <a:spAutoFit/>
          </a:bodyPr>
          <a:lstStyle/>
          <a:p>
            <a:pPr algn="l">
              <a:lnSpc>
                <a:spcPts val="1690"/>
              </a:lnSpc>
              <a:defRPr sz="1300" b="1">
                <a:solidFill>
                  <a:srgbClr val="00B4D8"/>
                </a:solidFill>
              </a:defRPr>
            </a:pPr>
            <a:r>
              <a:t>Student:</a:t>
            </a:r>
          </a:p>
        </p:txBody>
      </p:sp>
      <p:sp>
        <p:nvSpPr>
          <p:cNvPr id="12" name="TextBox 11"/>
          <p:cNvSpPr txBox="1"/>
          <p:nvPr/>
        </p:nvSpPr>
        <p:spPr>
          <a:xfrm>
            <a:off x="2560320" y="3840480"/>
            <a:ext cx="5486400" cy="320040"/>
          </a:xfrm>
          <a:prstGeom prst="rect">
            <a:avLst/>
          </a:prstGeom>
          <a:noFill/>
        </p:spPr>
        <p:txBody>
          <a:bodyPr wrap="square">
            <a:spAutoFit/>
          </a:bodyPr>
          <a:lstStyle/>
          <a:p>
            <a:pPr algn="l">
              <a:lnSpc>
                <a:spcPts val="1690"/>
              </a:lnSpc>
              <a:defRPr sz="1300" b="0">
                <a:solidFill>
                  <a:srgbClr val="F8F9FA"/>
                </a:solidFill>
              </a:defRPr>
            </a:pPr>
            <a:r>
              <a:t>Ajeesh Kumar R  |  2024MT12104</a:t>
            </a:r>
          </a:p>
        </p:txBody>
      </p:sp>
      <p:sp>
        <p:nvSpPr>
          <p:cNvPr id="13" name="TextBox 12"/>
          <p:cNvSpPr txBox="1"/>
          <p:nvPr/>
        </p:nvSpPr>
        <p:spPr>
          <a:xfrm>
            <a:off x="1005840" y="4206240"/>
            <a:ext cx="1371600" cy="320040"/>
          </a:xfrm>
          <a:prstGeom prst="rect">
            <a:avLst/>
          </a:prstGeom>
          <a:noFill/>
        </p:spPr>
        <p:txBody>
          <a:bodyPr wrap="square">
            <a:spAutoFit/>
          </a:bodyPr>
          <a:lstStyle/>
          <a:p>
            <a:pPr algn="l">
              <a:lnSpc>
                <a:spcPts val="1690"/>
              </a:lnSpc>
              <a:defRPr sz="1300" b="1">
                <a:solidFill>
                  <a:srgbClr val="00B4D8"/>
                </a:solidFill>
              </a:defRPr>
            </a:pPr>
            <a:r>
              <a:t>Guide:</a:t>
            </a:r>
          </a:p>
        </p:txBody>
      </p:sp>
      <p:sp>
        <p:nvSpPr>
          <p:cNvPr id="14" name="TextBox 13"/>
          <p:cNvSpPr txBox="1"/>
          <p:nvPr/>
        </p:nvSpPr>
        <p:spPr>
          <a:xfrm>
            <a:off x="2560320" y="4206240"/>
            <a:ext cx="5486400" cy="320040"/>
          </a:xfrm>
          <a:prstGeom prst="rect">
            <a:avLst/>
          </a:prstGeom>
          <a:noFill/>
        </p:spPr>
        <p:txBody>
          <a:bodyPr wrap="square">
            <a:spAutoFit/>
          </a:bodyPr>
          <a:lstStyle/>
          <a:p>
            <a:pPr algn="l">
              <a:lnSpc>
                <a:spcPts val="1690"/>
              </a:lnSpc>
              <a:defRPr sz="1300" b="0">
                <a:solidFill>
                  <a:srgbClr val="F8F9FA"/>
                </a:solidFill>
              </a:defRPr>
            </a:pPr>
            <a:r>
              <a:t>Dr. Somasundaram Iyyamperumal</a:t>
            </a:r>
          </a:p>
        </p:txBody>
      </p:sp>
      <p:sp>
        <p:nvSpPr>
          <p:cNvPr id="15" name="TextBox 14"/>
          <p:cNvSpPr txBox="1"/>
          <p:nvPr/>
        </p:nvSpPr>
        <p:spPr>
          <a:xfrm>
            <a:off x="1005840" y="4572000"/>
            <a:ext cx="1371600" cy="320040"/>
          </a:xfrm>
          <a:prstGeom prst="rect">
            <a:avLst/>
          </a:prstGeom>
          <a:noFill/>
        </p:spPr>
        <p:txBody>
          <a:bodyPr wrap="square">
            <a:spAutoFit/>
          </a:bodyPr>
          <a:lstStyle/>
          <a:p>
            <a:pPr algn="l">
              <a:lnSpc>
                <a:spcPts val="1690"/>
              </a:lnSpc>
              <a:defRPr sz="1300" b="1">
                <a:solidFill>
                  <a:srgbClr val="00B4D8"/>
                </a:solidFill>
              </a:defRPr>
            </a:pPr>
            <a:r>
              <a:t>Institution:</a:t>
            </a:r>
          </a:p>
        </p:txBody>
      </p:sp>
      <p:sp>
        <p:nvSpPr>
          <p:cNvPr id="16" name="TextBox 15"/>
          <p:cNvSpPr txBox="1"/>
          <p:nvPr/>
        </p:nvSpPr>
        <p:spPr>
          <a:xfrm>
            <a:off x="2560320" y="4572000"/>
            <a:ext cx="5486400" cy="320040"/>
          </a:xfrm>
          <a:prstGeom prst="rect">
            <a:avLst/>
          </a:prstGeom>
          <a:noFill/>
        </p:spPr>
        <p:txBody>
          <a:bodyPr wrap="square">
            <a:spAutoFit/>
          </a:bodyPr>
          <a:lstStyle/>
          <a:p>
            <a:pPr algn="l">
              <a:lnSpc>
                <a:spcPts val="1690"/>
              </a:lnSpc>
              <a:defRPr sz="1300" b="0">
                <a:solidFill>
                  <a:srgbClr val="F8F9FA"/>
                </a:solidFill>
              </a:defRPr>
            </a:pPr>
            <a:r>
              <a:t>BITS Pilani WILP  |  Department of Engineering</a:t>
            </a:r>
          </a:p>
        </p:txBody>
      </p:sp>
      <p:sp>
        <p:nvSpPr>
          <p:cNvPr id="17" name="TextBox 16"/>
          <p:cNvSpPr txBox="1"/>
          <p:nvPr/>
        </p:nvSpPr>
        <p:spPr>
          <a:xfrm>
            <a:off x="1005840" y="4937760"/>
            <a:ext cx="1371600" cy="320040"/>
          </a:xfrm>
          <a:prstGeom prst="rect">
            <a:avLst/>
          </a:prstGeom>
          <a:noFill/>
        </p:spPr>
        <p:txBody>
          <a:bodyPr wrap="square">
            <a:spAutoFit/>
          </a:bodyPr>
          <a:lstStyle/>
          <a:p>
            <a:pPr algn="l">
              <a:lnSpc>
                <a:spcPts val="1690"/>
              </a:lnSpc>
              <a:defRPr sz="1300" b="1">
                <a:solidFill>
                  <a:srgbClr val="00B4D8"/>
                </a:solidFill>
              </a:defRPr>
            </a:pPr>
            <a:r>
              <a:t>Semester:</a:t>
            </a:r>
          </a:p>
        </p:txBody>
      </p:sp>
      <p:sp>
        <p:nvSpPr>
          <p:cNvPr id="18" name="TextBox 17"/>
          <p:cNvSpPr txBox="1"/>
          <p:nvPr/>
        </p:nvSpPr>
        <p:spPr>
          <a:xfrm>
            <a:off x="2560320" y="4937760"/>
            <a:ext cx="5486400" cy="320040"/>
          </a:xfrm>
          <a:prstGeom prst="rect">
            <a:avLst/>
          </a:prstGeom>
          <a:noFill/>
        </p:spPr>
        <p:txBody>
          <a:bodyPr wrap="square">
            <a:spAutoFit/>
          </a:bodyPr>
          <a:lstStyle/>
          <a:p>
            <a:pPr algn="l">
              <a:lnSpc>
                <a:spcPts val="1690"/>
              </a:lnSpc>
              <a:defRPr sz="1300" b="0">
                <a:solidFill>
                  <a:srgbClr val="F8F9FA"/>
                </a:solidFill>
              </a:defRPr>
            </a:pPr>
            <a:r>
              <a:t>2, 2026  |  Mid-Semester Viva</a:t>
            </a:r>
          </a:p>
        </p:txBody>
      </p:sp>
      <p:sp>
        <p:nvSpPr>
          <p:cNvPr id="19" name="Rounded Rectangle 18"/>
          <p:cNvSpPr/>
          <p:nvPr/>
        </p:nvSpPr>
        <p:spPr>
          <a:xfrm>
            <a:off x="8686800" y="5029200"/>
            <a:ext cx="2743200" cy="1097280"/>
          </a:xfrm>
          <a:prstGeom prst="roundRect">
            <a:avLst/>
          </a:prstGeom>
          <a:solidFill>
            <a:srgbClr val="152A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5120640"/>
            <a:ext cx="2377440" cy="274320"/>
          </a:xfrm>
          <a:prstGeom prst="rect">
            <a:avLst/>
          </a:prstGeom>
          <a:noFill/>
        </p:spPr>
        <p:txBody>
          <a:bodyPr wrap="square">
            <a:spAutoFit/>
          </a:bodyPr>
          <a:lstStyle/>
          <a:p>
            <a:pPr algn="ctr">
              <a:lnSpc>
                <a:spcPts val="1300"/>
              </a:lnSpc>
              <a:defRPr sz="1000" b="1">
                <a:solidFill>
                  <a:srgbClr val="00B4D8"/>
                </a:solidFill>
              </a:defRPr>
            </a:pPr>
            <a:r>
              <a:t>VIVA DATE</a:t>
            </a:r>
          </a:p>
        </p:txBody>
      </p:sp>
      <p:sp>
        <p:nvSpPr>
          <p:cNvPr id="21" name="TextBox 20"/>
          <p:cNvSpPr txBox="1"/>
          <p:nvPr/>
        </p:nvSpPr>
        <p:spPr>
          <a:xfrm>
            <a:off x="8869680" y="5440680"/>
            <a:ext cx="2377440" cy="365760"/>
          </a:xfrm>
          <a:prstGeom prst="rect">
            <a:avLst/>
          </a:prstGeom>
          <a:noFill/>
        </p:spPr>
        <p:txBody>
          <a:bodyPr wrap="square">
            <a:spAutoFit/>
          </a:bodyPr>
          <a:lstStyle/>
          <a:p>
            <a:pPr algn="ctr">
              <a:lnSpc>
                <a:spcPts val="2860"/>
              </a:lnSpc>
              <a:defRPr sz="2200" b="1">
                <a:solidFill>
                  <a:srgbClr val="FFFFFF"/>
                </a:solidFill>
              </a:defRPr>
            </a:pPr>
            <a:r>
              <a:t>April 17, 2026</a:t>
            </a:r>
          </a:p>
        </p:txBody>
      </p:sp>
      <p:sp>
        <p:nvSpPr>
          <p:cNvPr id="22" name="TextBox 21"/>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INTRODUCTION</a:t>
            </a:r>
          </a:p>
        </p:txBody>
      </p:sp>
      <p:sp>
        <p:nvSpPr>
          <p:cNvPr id="5" name="TextBox 4"/>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Background &amp; Problem Statement</a:t>
            </a:r>
          </a:p>
        </p:txBody>
      </p:sp>
      <p:sp>
        <p:nvSpPr>
          <p:cNvPr id="6" name="Rectangle 5"/>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371600"/>
            <a:ext cx="5486400" cy="475488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08760"/>
            <a:ext cx="4572000" cy="274320"/>
          </a:xfrm>
          <a:prstGeom prst="rect">
            <a:avLst/>
          </a:prstGeom>
          <a:noFill/>
        </p:spPr>
        <p:txBody>
          <a:bodyPr wrap="square">
            <a:spAutoFit/>
          </a:bodyPr>
          <a:lstStyle/>
          <a:p>
            <a:pPr algn="l">
              <a:lnSpc>
                <a:spcPts val="1560"/>
              </a:lnSpc>
              <a:defRPr sz="1200" b="1">
                <a:solidFill>
                  <a:srgbClr val="00B4D8"/>
                </a:solidFill>
              </a:defRPr>
            </a:pPr>
            <a:r>
              <a:t>BACKGROUND</a:t>
            </a:r>
          </a:p>
        </p:txBody>
      </p:sp>
      <p:sp>
        <p:nvSpPr>
          <p:cNvPr id="9" name="TextBox 8"/>
          <p:cNvSpPr txBox="1"/>
          <p:nvPr/>
        </p:nvSpPr>
        <p:spPr>
          <a:xfrm>
            <a:off x="731520" y="1920240"/>
            <a:ext cx="5029200" cy="4114800"/>
          </a:xfrm>
          <a:prstGeom prst="rect">
            <a:avLst/>
          </a:prstGeom>
          <a:noFill/>
        </p:spPr>
        <p:txBody>
          <a:bodyPr wrap="square">
            <a:spAutoFit/>
          </a:bodyPr>
          <a:lstStyle/>
          <a:p>
            <a:pPr>
              <a:lnSpc>
                <a:spcPts val="2100"/>
              </a:lnSpc>
              <a:defRPr sz="1400">
                <a:solidFill>
                  <a:srgbClr val="F8F9FA"/>
                </a:solidFill>
              </a:defRPr>
            </a:pPr>
            <a:r>
              <a:rPr>
                <a:solidFill>
                  <a:srgbClr val="00B4D8"/>
                </a:solidFill>
              </a:rPr>
              <a:t>▸  Rising demand for efficient EV &amp; battery charging infrastructure</a:t>
            </a:r>
          </a:p>
          <a:p>
            <a:pPr>
              <a:lnSpc>
                <a:spcPts val="2100"/>
              </a:lnSpc>
              <a:defRPr sz="1400">
                <a:solidFill>
                  <a:srgbClr val="F8F9FA"/>
                </a:solidFill>
              </a:defRPr>
            </a:pPr>
            <a:r>
              <a:rPr>
                <a:solidFill>
                  <a:srgbClr val="00B4D8"/>
                </a:solidFill>
              </a:rPr>
              <a:t>▸  Solar PV integration offers sustainable energy but is inherently intermittent</a:t>
            </a:r>
          </a:p>
          <a:p>
            <a:pPr>
              <a:lnSpc>
                <a:spcPts val="2100"/>
              </a:lnSpc>
              <a:defRPr sz="1400">
                <a:solidFill>
                  <a:srgbClr val="F8F9FA"/>
                </a:solidFill>
              </a:defRPr>
            </a:pPr>
            <a:r>
              <a:rPr>
                <a:solidFill>
                  <a:srgbClr val="00B4D8"/>
                </a:solidFill>
              </a:rPr>
              <a:t>▸  Direct solar-to-battery coupling causes voltage fluctuations &amp; battery degradation</a:t>
            </a:r>
          </a:p>
          <a:p>
            <a:pPr>
              <a:lnSpc>
                <a:spcPts val="2100"/>
              </a:lnSpc>
              <a:defRPr sz="1400">
                <a:solidFill>
                  <a:srgbClr val="F8F9FA"/>
                </a:solidFill>
              </a:defRPr>
            </a:pPr>
            <a:r>
              <a:rPr>
                <a:solidFill>
                  <a:srgbClr val="00B4D8"/>
                </a:solidFill>
              </a:rPr>
              <a:t>▸  Supercapacitors offer high power density &amp; fast charge/discharge (&gt;500K cycles)</a:t>
            </a:r>
          </a:p>
          <a:p>
            <a:pPr>
              <a:lnSpc>
                <a:spcPts val="2100"/>
              </a:lnSpc>
              <a:defRPr sz="1400">
                <a:solidFill>
                  <a:srgbClr val="F8F9FA"/>
                </a:solidFill>
              </a:defRPr>
            </a:pPr>
            <a:r>
              <a:rPr>
                <a:solidFill>
                  <a:srgbClr val="00B4D8"/>
                </a:solidFill>
              </a:rPr>
              <a:t>▸  IoT enables real-time remote monitoring, diagnostics &amp; data-driven optimization</a:t>
            </a:r>
          </a:p>
        </p:txBody>
      </p:sp>
      <p:sp>
        <p:nvSpPr>
          <p:cNvPr id="10" name="Rounded Rectangle 9"/>
          <p:cNvSpPr/>
          <p:nvPr/>
        </p:nvSpPr>
        <p:spPr>
          <a:xfrm>
            <a:off x="6217920" y="1371600"/>
            <a:ext cx="5486400" cy="475488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508760"/>
            <a:ext cx="4572000" cy="274320"/>
          </a:xfrm>
          <a:prstGeom prst="rect">
            <a:avLst/>
          </a:prstGeom>
          <a:noFill/>
        </p:spPr>
        <p:txBody>
          <a:bodyPr wrap="square">
            <a:spAutoFit/>
          </a:bodyPr>
          <a:lstStyle/>
          <a:p>
            <a:pPr algn="l">
              <a:lnSpc>
                <a:spcPts val="1560"/>
              </a:lnSpc>
              <a:defRPr sz="1200" b="1">
                <a:solidFill>
                  <a:srgbClr val="F3961C"/>
                </a:solidFill>
              </a:defRPr>
            </a:pPr>
            <a:r>
              <a:t>PROBLEM STATEMENT</a:t>
            </a:r>
          </a:p>
        </p:txBody>
      </p:sp>
      <p:sp>
        <p:nvSpPr>
          <p:cNvPr id="12" name="TextBox 11"/>
          <p:cNvSpPr txBox="1"/>
          <p:nvPr/>
        </p:nvSpPr>
        <p:spPr>
          <a:xfrm>
            <a:off x="6492240" y="1965960"/>
            <a:ext cx="457200" cy="320040"/>
          </a:xfrm>
          <a:prstGeom prst="rect">
            <a:avLst/>
          </a:prstGeom>
          <a:noFill/>
        </p:spPr>
        <p:txBody>
          <a:bodyPr wrap="square">
            <a:spAutoFit/>
          </a:bodyPr>
          <a:lstStyle/>
          <a:p>
            <a:pPr algn="l">
              <a:lnSpc>
                <a:spcPts val="2080"/>
              </a:lnSpc>
              <a:defRPr sz="1600" b="0">
                <a:solidFill>
                  <a:srgbClr val="FFFFFF"/>
                </a:solidFill>
              </a:defRPr>
            </a:pPr>
            <a:r>
              <a:t>⚡</a:t>
            </a:r>
          </a:p>
        </p:txBody>
      </p:sp>
      <p:sp>
        <p:nvSpPr>
          <p:cNvPr id="13" name="TextBox 12"/>
          <p:cNvSpPr txBox="1"/>
          <p:nvPr/>
        </p:nvSpPr>
        <p:spPr>
          <a:xfrm>
            <a:off x="6949440" y="1965960"/>
            <a:ext cx="4389120" cy="502920"/>
          </a:xfrm>
          <a:prstGeom prst="rect">
            <a:avLst/>
          </a:prstGeom>
          <a:noFill/>
        </p:spPr>
        <p:txBody>
          <a:bodyPr wrap="square">
            <a:spAutoFit/>
          </a:bodyPr>
          <a:lstStyle/>
          <a:p>
            <a:pPr algn="l">
              <a:lnSpc>
                <a:spcPts val="1690"/>
              </a:lnSpc>
              <a:defRPr sz="1300" b="0">
                <a:solidFill>
                  <a:srgbClr val="F8F9FA"/>
                </a:solidFill>
              </a:defRPr>
            </a:pPr>
            <a:r>
              <a:t>Grid voltage sags &amp; fluctuations affect charger performance</a:t>
            </a:r>
          </a:p>
        </p:txBody>
      </p:sp>
      <p:sp>
        <p:nvSpPr>
          <p:cNvPr id="14" name="TextBox 13"/>
          <p:cNvSpPr txBox="1"/>
          <p:nvPr/>
        </p:nvSpPr>
        <p:spPr>
          <a:xfrm>
            <a:off x="6492240" y="2560320"/>
            <a:ext cx="457200" cy="320040"/>
          </a:xfrm>
          <a:prstGeom prst="rect">
            <a:avLst/>
          </a:prstGeom>
          <a:noFill/>
        </p:spPr>
        <p:txBody>
          <a:bodyPr wrap="square">
            <a:spAutoFit/>
          </a:bodyPr>
          <a:lstStyle/>
          <a:p>
            <a:pPr algn="l">
              <a:lnSpc>
                <a:spcPts val="2080"/>
              </a:lnSpc>
              <a:defRPr sz="1600" b="0">
                <a:solidFill>
                  <a:srgbClr val="FFFFFF"/>
                </a:solidFill>
              </a:defRPr>
            </a:pPr>
            <a:r>
              <a:t>☁️</a:t>
            </a:r>
          </a:p>
        </p:txBody>
      </p:sp>
      <p:sp>
        <p:nvSpPr>
          <p:cNvPr id="15" name="TextBox 14"/>
          <p:cNvSpPr txBox="1"/>
          <p:nvPr/>
        </p:nvSpPr>
        <p:spPr>
          <a:xfrm>
            <a:off x="6949440" y="2560320"/>
            <a:ext cx="4389120" cy="502920"/>
          </a:xfrm>
          <a:prstGeom prst="rect">
            <a:avLst/>
          </a:prstGeom>
          <a:noFill/>
        </p:spPr>
        <p:txBody>
          <a:bodyPr wrap="square">
            <a:spAutoFit/>
          </a:bodyPr>
          <a:lstStyle/>
          <a:p>
            <a:pPr algn="l">
              <a:lnSpc>
                <a:spcPts val="1690"/>
              </a:lnSpc>
              <a:defRPr sz="1300" b="0">
                <a:solidFill>
                  <a:srgbClr val="F8F9FA"/>
                </a:solidFill>
              </a:defRPr>
            </a:pPr>
            <a:r>
              <a:t>Cloud cover causes rapid PV output variations (30–50% in seconds)</a:t>
            </a:r>
          </a:p>
        </p:txBody>
      </p:sp>
      <p:sp>
        <p:nvSpPr>
          <p:cNvPr id="16" name="TextBox 15"/>
          <p:cNvSpPr txBox="1"/>
          <p:nvPr/>
        </p:nvSpPr>
        <p:spPr>
          <a:xfrm>
            <a:off x="6492240" y="3154680"/>
            <a:ext cx="457200" cy="320040"/>
          </a:xfrm>
          <a:prstGeom prst="rect">
            <a:avLst/>
          </a:prstGeom>
          <a:noFill/>
        </p:spPr>
        <p:txBody>
          <a:bodyPr wrap="square">
            <a:spAutoFit/>
          </a:bodyPr>
          <a:lstStyle/>
          <a:p>
            <a:pPr algn="l">
              <a:lnSpc>
                <a:spcPts val="2080"/>
              </a:lnSpc>
              <a:defRPr sz="1600" b="0">
                <a:solidFill>
                  <a:srgbClr val="FFFFFF"/>
                </a:solidFill>
              </a:defRPr>
            </a:pPr>
            <a:r>
              <a:t>📊</a:t>
            </a:r>
          </a:p>
        </p:txBody>
      </p:sp>
      <p:sp>
        <p:nvSpPr>
          <p:cNvPr id="17" name="TextBox 16"/>
          <p:cNvSpPr txBox="1"/>
          <p:nvPr/>
        </p:nvSpPr>
        <p:spPr>
          <a:xfrm>
            <a:off x="6949440" y="3154680"/>
            <a:ext cx="4389120" cy="502920"/>
          </a:xfrm>
          <a:prstGeom prst="rect">
            <a:avLst/>
          </a:prstGeom>
          <a:noFill/>
        </p:spPr>
        <p:txBody>
          <a:bodyPr wrap="square">
            <a:spAutoFit/>
          </a:bodyPr>
          <a:lstStyle/>
          <a:p>
            <a:pPr algn="l">
              <a:lnSpc>
                <a:spcPts val="1690"/>
              </a:lnSpc>
              <a:defRPr sz="1300" b="0">
                <a:solidFill>
                  <a:srgbClr val="F8F9FA"/>
                </a:solidFill>
              </a:defRPr>
            </a:pPr>
            <a:r>
              <a:t>No real-time monitoring in small-scale residential systems</a:t>
            </a:r>
          </a:p>
        </p:txBody>
      </p:sp>
      <p:sp>
        <p:nvSpPr>
          <p:cNvPr id="18" name="TextBox 17"/>
          <p:cNvSpPr txBox="1"/>
          <p:nvPr/>
        </p:nvSpPr>
        <p:spPr>
          <a:xfrm>
            <a:off x="6492240" y="3749040"/>
            <a:ext cx="457200" cy="320040"/>
          </a:xfrm>
          <a:prstGeom prst="rect">
            <a:avLst/>
          </a:prstGeom>
          <a:noFill/>
        </p:spPr>
        <p:txBody>
          <a:bodyPr wrap="square">
            <a:spAutoFit/>
          </a:bodyPr>
          <a:lstStyle/>
          <a:p>
            <a:pPr algn="l">
              <a:lnSpc>
                <a:spcPts val="2080"/>
              </a:lnSpc>
              <a:defRPr sz="1600" b="0">
                <a:solidFill>
                  <a:srgbClr val="FFFFFF"/>
                </a:solidFill>
              </a:defRPr>
            </a:pPr>
            <a:r>
              <a:t>🔧</a:t>
            </a:r>
          </a:p>
        </p:txBody>
      </p:sp>
      <p:sp>
        <p:nvSpPr>
          <p:cNvPr id="19" name="TextBox 18"/>
          <p:cNvSpPr txBox="1"/>
          <p:nvPr/>
        </p:nvSpPr>
        <p:spPr>
          <a:xfrm>
            <a:off x="6949440" y="3749040"/>
            <a:ext cx="4389120" cy="502920"/>
          </a:xfrm>
          <a:prstGeom prst="rect">
            <a:avLst/>
          </a:prstGeom>
          <a:noFill/>
        </p:spPr>
        <p:txBody>
          <a:bodyPr wrap="square">
            <a:spAutoFit/>
          </a:bodyPr>
          <a:lstStyle/>
          <a:p>
            <a:pPr algn="l">
              <a:lnSpc>
                <a:spcPts val="1690"/>
              </a:lnSpc>
              <a:defRPr sz="1300" b="0">
                <a:solidFill>
                  <a:srgbClr val="F8F9FA"/>
                </a:solidFill>
              </a:defRPr>
            </a:pPr>
            <a:r>
              <a:t>Lack of adaptive control for changing input conditions</a:t>
            </a:r>
          </a:p>
        </p:txBody>
      </p:sp>
      <p:sp>
        <p:nvSpPr>
          <p:cNvPr id="20" name="TextBox 19"/>
          <p:cNvSpPr txBox="1"/>
          <p:nvPr/>
        </p:nvSpPr>
        <p:spPr>
          <a:xfrm>
            <a:off x="6492240" y="4343400"/>
            <a:ext cx="457200" cy="320040"/>
          </a:xfrm>
          <a:prstGeom prst="rect">
            <a:avLst/>
          </a:prstGeom>
          <a:noFill/>
        </p:spPr>
        <p:txBody>
          <a:bodyPr wrap="square">
            <a:spAutoFit/>
          </a:bodyPr>
          <a:lstStyle/>
          <a:p>
            <a:pPr algn="l">
              <a:lnSpc>
                <a:spcPts val="2080"/>
              </a:lnSpc>
              <a:defRPr sz="1600" b="0">
                <a:solidFill>
                  <a:srgbClr val="FFFFFF"/>
                </a:solidFill>
              </a:defRPr>
            </a:pPr>
            <a:r>
              <a:t>🌐</a:t>
            </a:r>
          </a:p>
        </p:txBody>
      </p:sp>
      <p:sp>
        <p:nvSpPr>
          <p:cNvPr id="21" name="TextBox 20"/>
          <p:cNvSpPr txBox="1"/>
          <p:nvPr/>
        </p:nvSpPr>
        <p:spPr>
          <a:xfrm>
            <a:off x="6949440" y="4343400"/>
            <a:ext cx="4389120" cy="502920"/>
          </a:xfrm>
          <a:prstGeom prst="rect">
            <a:avLst/>
          </a:prstGeom>
          <a:noFill/>
        </p:spPr>
        <p:txBody>
          <a:bodyPr wrap="square">
            <a:spAutoFit/>
          </a:bodyPr>
          <a:lstStyle/>
          <a:p>
            <a:pPr algn="l">
              <a:lnSpc>
                <a:spcPts val="1690"/>
              </a:lnSpc>
              <a:defRPr sz="1300" b="0">
                <a:solidFill>
                  <a:srgbClr val="F8F9FA"/>
                </a:solidFill>
              </a:defRPr>
            </a:pPr>
            <a:r>
              <a:t>Absence of integrated IoT interface for remote data logging</a:t>
            </a:r>
          </a:p>
        </p:txBody>
      </p:sp>
      <p:sp>
        <p:nvSpPr>
          <p:cNvPr id="22" name="Rounded Rectangle 21"/>
          <p:cNvSpPr/>
          <p:nvPr/>
        </p:nvSpPr>
        <p:spPr>
          <a:xfrm>
            <a:off x="6492240" y="5029200"/>
            <a:ext cx="4846320" cy="914400"/>
          </a:xfrm>
          <a:prstGeom prst="roundRect">
            <a:avLst/>
          </a:prstGeom>
          <a:solidFill>
            <a:srgbClr val="0A3D2E"/>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5074920"/>
            <a:ext cx="1828800" cy="274320"/>
          </a:xfrm>
          <a:prstGeom prst="rect">
            <a:avLst/>
          </a:prstGeom>
          <a:noFill/>
        </p:spPr>
        <p:txBody>
          <a:bodyPr wrap="square">
            <a:spAutoFit/>
          </a:bodyPr>
          <a:lstStyle/>
          <a:p>
            <a:pPr algn="l">
              <a:lnSpc>
                <a:spcPts val="1300"/>
              </a:lnSpc>
              <a:defRPr sz="1000" b="1">
                <a:solidFill>
                  <a:srgbClr val="2ECC71"/>
                </a:solidFill>
              </a:defRPr>
            </a:pPr>
            <a:r>
              <a:t>💡 KEY INNOVATION</a:t>
            </a:r>
          </a:p>
        </p:txBody>
      </p:sp>
      <p:sp>
        <p:nvSpPr>
          <p:cNvPr id="24" name="TextBox 23"/>
          <p:cNvSpPr txBox="1"/>
          <p:nvPr/>
        </p:nvSpPr>
        <p:spPr>
          <a:xfrm>
            <a:off x="6675120" y="5349240"/>
            <a:ext cx="4572000" cy="502920"/>
          </a:xfrm>
          <a:prstGeom prst="rect">
            <a:avLst/>
          </a:prstGeom>
          <a:noFill/>
        </p:spPr>
        <p:txBody>
          <a:bodyPr wrap="square">
            <a:spAutoFit/>
          </a:bodyPr>
          <a:lstStyle/>
          <a:p>
            <a:pPr algn="l">
              <a:lnSpc>
                <a:spcPts val="1560"/>
              </a:lnSpc>
              <a:defRPr sz="1200" b="0">
                <a:solidFill>
                  <a:srgbClr val="FFFFFF"/>
                </a:solidFill>
              </a:defRPr>
            </a:pPr>
            <a:r>
              <a:t>Combining supercapacitor buffering + STM32 embedded control + ESP8266 IoT monitoring in a unified, low-cost prototype</a:t>
            </a:r>
          </a:p>
        </p:txBody>
      </p:sp>
      <p:sp>
        <p:nvSpPr>
          <p:cNvPr id="25" name="TextBox 24"/>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INTRODUCTION</a:t>
            </a:r>
          </a:p>
        </p:txBody>
      </p:sp>
      <p:sp>
        <p:nvSpPr>
          <p:cNvPr id="5" name="TextBox 4"/>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Objectives &amp; Scope of Work</a:t>
            </a:r>
          </a:p>
        </p:txBody>
      </p:sp>
      <p:sp>
        <p:nvSpPr>
          <p:cNvPr id="6" name="Rectangle 5"/>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371600"/>
            <a:ext cx="6858000" cy="475488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08760"/>
            <a:ext cx="4572000" cy="274320"/>
          </a:xfrm>
          <a:prstGeom prst="rect">
            <a:avLst/>
          </a:prstGeom>
          <a:noFill/>
        </p:spPr>
        <p:txBody>
          <a:bodyPr wrap="square">
            <a:spAutoFit/>
          </a:bodyPr>
          <a:lstStyle/>
          <a:p>
            <a:pPr algn="l">
              <a:lnSpc>
                <a:spcPts val="1560"/>
              </a:lnSpc>
              <a:defRPr sz="1200" b="1">
                <a:solidFill>
                  <a:srgbClr val="00B4D8"/>
                </a:solidFill>
              </a:defRPr>
            </a:pPr>
            <a:r>
              <a:t>OBJECTIVES</a:t>
            </a:r>
          </a:p>
        </p:txBody>
      </p:sp>
      <p:sp>
        <p:nvSpPr>
          <p:cNvPr id="9" name="Oval 8"/>
          <p:cNvSpPr/>
          <p:nvPr/>
        </p:nvSpPr>
        <p:spPr>
          <a:xfrm>
            <a:off x="777240" y="1965960"/>
            <a:ext cx="365760" cy="365760"/>
          </a:xfrm>
          <a:prstGeom prst="ellipse">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1</a:t>
            </a:r>
          </a:p>
        </p:txBody>
      </p:sp>
      <p:sp>
        <p:nvSpPr>
          <p:cNvPr id="10" name="TextBox 9"/>
          <p:cNvSpPr txBox="1"/>
          <p:nvPr/>
        </p:nvSpPr>
        <p:spPr>
          <a:xfrm>
            <a:off x="1280160" y="1947672"/>
            <a:ext cx="5760720" cy="502920"/>
          </a:xfrm>
          <a:prstGeom prst="rect">
            <a:avLst/>
          </a:prstGeom>
          <a:noFill/>
        </p:spPr>
        <p:txBody>
          <a:bodyPr wrap="square">
            <a:spAutoFit/>
          </a:bodyPr>
          <a:lstStyle/>
          <a:p>
            <a:pPr algn="l">
              <a:lnSpc>
                <a:spcPts val="1690"/>
              </a:lnSpc>
              <a:defRPr sz="1300" b="0">
                <a:solidFill>
                  <a:srgbClr val="F8F9FA"/>
                </a:solidFill>
              </a:defRPr>
            </a:pPr>
            <a:r>
              <a:t>Study conventional charging mechanisms &amp; identify limitations in renewable energy contexts</a:t>
            </a:r>
          </a:p>
        </p:txBody>
      </p:sp>
      <p:sp>
        <p:nvSpPr>
          <p:cNvPr id="11" name="Oval 10"/>
          <p:cNvSpPr/>
          <p:nvPr/>
        </p:nvSpPr>
        <p:spPr>
          <a:xfrm>
            <a:off x="777240" y="2514600"/>
            <a:ext cx="365760" cy="365760"/>
          </a:xfrm>
          <a:prstGeom prst="ellipse">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2</a:t>
            </a:r>
          </a:p>
        </p:txBody>
      </p:sp>
      <p:sp>
        <p:nvSpPr>
          <p:cNvPr id="12" name="TextBox 11"/>
          <p:cNvSpPr txBox="1"/>
          <p:nvPr/>
        </p:nvSpPr>
        <p:spPr>
          <a:xfrm>
            <a:off x="1280160" y="2496312"/>
            <a:ext cx="5760720" cy="502920"/>
          </a:xfrm>
          <a:prstGeom prst="rect">
            <a:avLst/>
          </a:prstGeom>
          <a:noFill/>
        </p:spPr>
        <p:txBody>
          <a:bodyPr wrap="square">
            <a:spAutoFit/>
          </a:bodyPr>
          <a:lstStyle/>
          <a:p>
            <a:pPr algn="l">
              <a:lnSpc>
                <a:spcPts val="1690"/>
              </a:lnSpc>
              <a:defRPr sz="1300" b="0">
                <a:solidFill>
                  <a:srgbClr val="F8F9FA"/>
                </a:solidFill>
              </a:defRPr>
            </a:pPr>
            <a:r>
              <a:t>Design solar-assisted smart charging system with supercapacitor energy buffering</a:t>
            </a:r>
          </a:p>
        </p:txBody>
      </p:sp>
      <p:sp>
        <p:nvSpPr>
          <p:cNvPr id="13" name="Oval 12"/>
          <p:cNvSpPr/>
          <p:nvPr/>
        </p:nvSpPr>
        <p:spPr>
          <a:xfrm>
            <a:off x="777240" y="3063240"/>
            <a:ext cx="365760" cy="365760"/>
          </a:xfrm>
          <a:prstGeom prst="ellipse">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3</a:t>
            </a:r>
          </a:p>
        </p:txBody>
      </p:sp>
      <p:sp>
        <p:nvSpPr>
          <p:cNvPr id="14" name="TextBox 13"/>
          <p:cNvSpPr txBox="1"/>
          <p:nvPr/>
        </p:nvSpPr>
        <p:spPr>
          <a:xfrm>
            <a:off x="1280160" y="3044952"/>
            <a:ext cx="5760720" cy="502920"/>
          </a:xfrm>
          <a:prstGeom prst="rect">
            <a:avLst/>
          </a:prstGeom>
          <a:noFill/>
        </p:spPr>
        <p:txBody>
          <a:bodyPr wrap="square">
            <a:spAutoFit/>
          </a:bodyPr>
          <a:lstStyle/>
          <a:p>
            <a:pPr algn="l">
              <a:lnSpc>
                <a:spcPts val="1690"/>
              </a:lnSpc>
              <a:defRPr sz="1300" b="0">
                <a:solidFill>
                  <a:srgbClr val="F8F9FA"/>
                </a:solidFill>
              </a:defRPr>
            </a:pPr>
            <a:r>
              <a:t>Implement real-time monitoring &amp; adaptive control using STM32 (ADC, PWM, UART)</a:t>
            </a:r>
          </a:p>
        </p:txBody>
      </p:sp>
      <p:sp>
        <p:nvSpPr>
          <p:cNvPr id="15" name="Oval 14"/>
          <p:cNvSpPr/>
          <p:nvPr/>
        </p:nvSpPr>
        <p:spPr>
          <a:xfrm>
            <a:off x="777240" y="3611880"/>
            <a:ext cx="365760" cy="365760"/>
          </a:xfrm>
          <a:prstGeom prst="ellipse">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4</a:t>
            </a:r>
          </a:p>
        </p:txBody>
      </p:sp>
      <p:sp>
        <p:nvSpPr>
          <p:cNvPr id="16" name="TextBox 15"/>
          <p:cNvSpPr txBox="1"/>
          <p:nvPr/>
        </p:nvSpPr>
        <p:spPr>
          <a:xfrm>
            <a:off x="1280160" y="3593592"/>
            <a:ext cx="5760720" cy="502920"/>
          </a:xfrm>
          <a:prstGeom prst="rect">
            <a:avLst/>
          </a:prstGeom>
          <a:noFill/>
        </p:spPr>
        <p:txBody>
          <a:bodyPr wrap="square">
            <a:spAutoFit/>
          </a:bodyPr>
          <a:lstStyle/>
          <a:p>
            <a:pPr algn="l">
              <a:lnSpc>
                <a:spcPts val="1690"/>
              </a:lnSpc>
              <a:defRPr sz="1300" b="0">
                <a:solidFill>
                  <a:srgbClr val="F8F9FA"/>
                </a:solidFill>
              </a:defRPr>
            </a:pPr>
            <a:r>
              <a:t>Develop IoT edge gateway using ESP8266 for cloud connectivity &amp; data visualization</a:t>
            </a:r>
          </a:p>
        </p:txBody>
      </p:sp>
      <p:sp>
        <p:nvSpPr>
          <p:cNvPr id="17" name="Oval 16"/>
          <p:cNvSpPr/>
          <p:nvPr/>
        </p:nvSpPr>
        <p:spPr>
          <a:xfrm>
            <a:off x="777240" y="4160520"/>
            <a:ext cx="365760" cy="365760"/>
          </a:xfrm>
          <a:prstGeom prst="ellipse">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5</a:t>
            </a:r>
          </a:p>
        </p:txBody>
      </p:sp>
      <p:sp>
        <p:nvSpPr>
          <p:cNvPr id="18" name="TextBox 17"/>
          <p:cNvSpPr txBox="1"/>
          <p:nvPr/>
        </p:nvSpPr>
        <p:spPr>
          <a:xfrm>
            <a:off x="1280160" y="4142232"/>
            <a:ext cx="5760720" cy="502920"/>
          </a:xfrm>
          <a:prstGeom prst="rect">
            <a:avLst/>
          </a:prstGeom>
          <a:noFill/>
        </p:spPr>
        <p:txBody>
          <a:bodyPr wrap="square">
            <a:spAutoFit/>
          </a:bodyPr>
          <a:lstStyle/>
          <a:p>
            <a:pPr algn="l">
              <a:lnSpc>
                <a:spcPts val="1690"/>
              </a:lnSpc>
              <a:defRPr sz="1300" b="0">
                <a:solidFill>
                  <a:srgbClr val="F8F9FA"/>
                </a:solidFill>
              </a:defRPr>
            </a:pPr>
            <a:r>
              <a:t>Evaluate &amp; compare charging performance metrics: efficiency, ripple, response time (buffered vs non-buffered)</a:t>
            </a:r>
          </a:p>
        </p:txBody>
      </p:sp>
      <p:sp>
        <p:nvSpPr>
          <p:cNvPr id="19" name="Rounded Rectangle 18"/>
          <p:cNvSpPr/>
          <p:nvPr/>
        </p:nvSpPr>
        <p:spPr>
          <a:xfrm>
            <a:off x="7589520" y="1371600"/>
            <a:ext cx="4114800" cy="2377440"/>
          </a:xfrm>
          <a:prstGeom prst="roundRect">
            <a:avLst/>
          </a:prstGeom>
          <a:solidFill>
            <a:srgbClr val="13273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0" y="1508760"/>
            <a:ext cx="2743200" cy="274320"/>
          </a:xfrm>
          <a:prstGeom prst="rect">
            <a:avLst/>
          </a:prstGeom>
          <a:noFill/>
        </p:spPr>
        <p:txBody>
          <a:bodyPr wrap="square">
            <a:spAutoFit/>
          </a:bodyPr>
          <a:lstStyle/>
          <a:p>
            <a:pPr algn="l">
              <a:lnSpc>
                <a:spcPts val="1560"/>
              </a:lnSpc>
              <a:defRPr sz="1200" b="1">
                <a:solidFill>
                  <a:srgbClr val="2ECC71"/>
                </a:solidFill>
              </a:defRPr>
            </a:pPr>
            <a:r>
              <a:t>✅  IN SCOPE</a:t>
            </a:r>
          </a:p>
        </p:txBody>
      </p:sp>
      <p:sp>
        <p:nvSpPr>
          <p:cNvPr id="21" name="TextBox 20"/>
          <p:cNvSpPr txBox="1"/>
          <p:nvPr/>
        </p:nvSpPr>
        <p:spPr>
          <a:xfrm>
            <a:off x="7863840" y="1874519"/>
            <a:ext cx="3657600" cy="1828800"/>
          </a:xfrm>
          <a:prstGeom prst="rect">
            <a:avLst/>
          </a:prstGeom>
          <a:noFill/>
        </p:spPr>
        <p:txBody>
          <a:bodyPr wrap="square">
            <a:spAutoFit/>
          </a:bodyPr>
          <a:lstStyle/>
          <a:p>
            <a:pPr>
              <a:lnSpc>
                <a:spcPts val="1800"/>
              </a:lnSpc>
              <a:defRPr sz="1200">
                <a:solidFill>
                  <a:srgbClr val="F8F9FA"/>
                </a:solidFill>
              </a:defRPr>
            </a:pPr>
            <a:r>
              <a:rPr>
                <a:solidFill>
                  <a:srgbClr val="2ECC71"/>
                </a:solidFill>
              </a:rPr>
              <a:t>▸  Scaled low-voltage prototype (5–12V DC)</a:t>
            </a:r>
          </a:p>
          <a:p>
            <a:pPr>
              <a:lnSpc>
                <a:spcPts val="1800"/>
              </a:lnSpc>
              <a:defRPr sz="1200">
                <a:solidFill>
                  <a:srgbClr val="F8F9FA"/>
                </a:solidFill>
              </a:defRPr>
            </a:pPr>
            <a:r>
              <a:rPr>
                <a:solidFill>
                  <a:srgbClr val="2ECC71"/>
                </a:solidFill>
              </a:rPr>
              <a:t>▸  STM32 + ESP8266 firmware development</a:t>
            </a:r>
          </a:p>
          <a:p>
            <a:pPr>
              <a:lnSpc>
                <a:spcPts val="1800"/>
              </a:lnSpc>
              <a:defRPr sz="1200">
                <a:solidFill>
                  <a:srgbClr val="F8F9FA"/>
                </a:solidFill>
              </a:defRPr>
            </a:pPr>
            <a:r>
              <a:rPr>
                <a:solidFill>
                  <a:srgbClr val="2ECC71"/>
                </a:solidFill>
              </a:rPr>
              <a:t>▸  Cloud dashboard for real-time visualization</a:t>
            </a:r>
          </a:p>
          <a:p>
            <a:pPr>
              <a:lnSpc>
                <a:spcPts val="1800"/>
              </a:lnSpc>
              <a:defRPr sz="1200">
                <a:solidFill>
                  <a:srgbClr val="F8F9FA"/>
                </a:solidFill>
              </a:defRPr>
            </a:pPr>
            <a:r>
              <a:rPr>
                <a:solidFill>
                  <a:srgbClr val="2ECC71"/>
                </a:solidFill>
              </a:rPr>
              <a:t>▸  Experimental: buffered vs non-buffered analysis</a:t>
            </a:r>
          </a:p>
        </p:txBody>
      </p:sp>
      <p:sp>
        <p:nvSpPr>
          <p:cNvPr id="22" name="Rounded Rectangle 21"/>
          <p:cNvSpPr/>
          <p:nvPr/>
        </p:nvSpPr>
        <p:spPr>
          <a:xfrm>
            <a:off x="7589520" y="3931920"/>
            <a:ext cx="4114800" cy="2194560"/>
          </a:xfrm>
          <a:prstGeom prst="roundRect">
            <a:avLst/>
          </a:prstGeom>
          <a:solidFill>
            <a:srgbClr val="13273F"/>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4069080"/>
            <a:ext cx="2743200" cy="274320"/>
          </a:xfrm>
          <a:prstGeom prst="rect">
            <a:avLst/>
          </a:prstGeom>
          <a:noFill/>
        </p:spPr>
        <p:txBody>
          <a:bodyPr wrap="square">
            <a:spAutoFit/>
          </a:bodyPr>
          <a:lstStyle/>
          <a:p>
            <a:pPr algn="l">
              <a:lnSpc>
                <a:spcPts val="1560"/>
              </a:lnSpc>
              <a:defRPr sz="1200" b="1">
                <a:solidFill>
                  <a:srgbClr val="E74C3C"/>
                </a:solidFill>
              </a:defRPr>
            </a:pPr>
            <a:r>
              <a:t>❌  OUT OF SCOPE</a:t>
            </a:r>
          </a:p>
        </p:txBody>
      </p:sp>
      <p:sp>
        <p:nvSpPr>
          <p:cNvPr id="24" name="TextBox 23"/>
          <p:cNvSpPr txBox="1"/>
          <p:nvPr/>
        </p:nvSpPr>
        <p:spPr>
          <a:xfrm>
            <a:off x="7863840" y="4434840"/>
            <a:ext cx="3657600" cy="1645920"/>
          </a:xfrm>
          <a:prstGeom prst="rect">
            <a:avLst/>
          </a:prstGeom>
          <a:noFill/>
        </p:spPr>
        <p:txBody>
          <a:bodyPr wrap="square">
            <a:spAutoFit/>
          </a:bodyPr>
          <a:lstStyle/>
          <a:p>
            <a:pPr>
              <a:lnSpc>
                <a:spcPts val="1800"/>
              </a:lnSpc>
              <a:defRPr sz="1200">
                <a:solidFill>
                  <a:srgbClr val="F8F9FA"/>
                </a:solidFill>
              </a:defRPr>
            </a:pPr>
            <a:r>
              <a:rPr>
                <a:solidFill>
                  <a:srgbClr val="E74C3C"/>
                </a:solidFill>
              </a:rPr>
              <a:t>▸  Large-scale grid / high-voltage EV charging</a:t>
            </a:r>
          </a:p>
          <a:p>
            <a:pPr>
              <a:lnSpc>
                <a:spcPts val="1800"/>
              </a:lnSpc>
              <a:defRPr sz="1200">
                <a:solidFill>
                  <a:srgbClr val="F8F9FA"/>
                </a:solidFill>
              </a:defRPr>
            </a:pPr>
            <a:r>
              <a:rPr>
                <a:solidFill>
                  <a:srgbClr val="E74C3C"/>
                </a:solidFill>
              </a:rPr>
              <a:t>▸  Custom PCB design (breadboard only)</a:t>
            </a:r>
          </a:p>
          <a:p>
            <a:pPr>
              <a:lnSpc>
                <a:spcPts val="1800"/>
              </a:lnSpc>
              <a:defRPr sz="1200">
                <a:solidFill>
                  <a:srgbClr val="F8F9FA"/>
                </a:solidFill>
              </a:defRPr>
            </a:pPr>
            <a:r>
              <a:rPr>
                <a:solidFill>
                  <a:srgbClr val="E74C3C"/>
                </a:solidFill>
              </a:rPr>
              <a:t>▸  ML/AI-based optimization (future work)</a:t>
            </a:r>
          </a:p>
          <a:p>
            <a:pPr>
              <a:lnSpc>
                <a:spcPts val="1800"/>
              </a:lnSpc>
              <a:defRPr sz="1200">
                <a:solidFill>
                  <a:srgbClr val="F8F9FA"/>
                </a:solidFill>
              </a:defRPr>
            </a:pPr>
            <a:r>
              <a:rPr>
                <a:solidFill>
                  <a:srgbClr val="E74C3C"/>
                </a:solidFill>
              </a:rPr>
              <a:t>▸  Multi-battery management systems</a:t>
            </a:r>
          </a:p>
        </p:txBody>
      </p:sp>
      <p:sp>
        <p:nvSpPr>
          <p:cNvPr id="25" name="TextBox 24"/>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LITERATURE REVIEW</a:t>
            </a:r>
          </a:p>
        </p:txBody>
      </p:sp>
      <p:sp>
        <p:nvSpPr>
          <p:cNvPr id="5" name="TextBox 4"/>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Literature Review — Thematic Overview</a:t>
            </a:r>
          </a:p>
        </p:txBody>
      </p:sp>
      <p:sp>
        <p:nvSpPr>
          <p:cNvPr id="6" name="Rectangle 5"/>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463040"/>
            <a:ext cx="2651760" cy="4114800"/>
          </a:xfrm>
          <a:prstGeom prst="roundRect">
            <a:avLst/>
          </a:prstGeom>
          <a:solidFill>
            <a:srgbClr val="13273F"/>
          </a:solidFill>
          <a:ln w="19050">
            <a:solidFill>
              <a:srgbClr val="418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94360" y="1600200"/>
            <a:ext cx="502920" cy="502920"/>
          </a:xfrm>
          <a:prstGeom prst="ellipse">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200" b="1">
                <a:solidFill>
                  <a:srgbClr val="FFFFFF"/>
                </a:solidFill>
              </a:defRPr>
            </a:pPr>
            <a:r>
              <a:t>☀️</a:t>
            </a:r>
          </a:p>
        </p:txBody>
      </p:sp>
      <p:sp>
        <p:nvSpPr>
          <p:cNvPr id="9" name="TextBox 8"/>
          <p:cNvSpPr txBox="1"/>
          <p:nvPr/>
        </p:nvSpPr>
        <p:spPr>
          <a:xfrm>
            <a:off x="1234440" y="1645920"/>
            <a:ext cx="1645920" cy="411480"/>
          </a:xfrm>
          <a:prstGeom prst="rect">
            <a:avLst/>
          </a:prstGeom>
          <a:noFill/>
        </p:spPr>
        <p:txBody>
          <a:bodyPr wrap="square">
            <a:spAutoFit/>
          </a:bodyPr>
          <a:lstStyle/>
          <a:p>
            <a:pPr algn="l">
              <a:lnSpc>
                <a:spcPts val="1950"/>
              </a:lnSpc>
              <a:defRPr sz="1500" b="1">
                <a:solidFill>
                  <a:srgbClr val="418FDE"/>
                </a:solidFill>
              </a:defRPr>
            </a:pPr>
            <a:r>
              <a:t>Solar Charging Systems</a:t>
            </a:r>
          </a:p>
        </p:txBody>
      </p:sp>
      <p:sp>
        <p:nvSpPr>
          <p:cNvPr id="10" name="TextBox 9"/>
          <p:cNvSpPr txBox="1"/>
          <p:nvPr/>
        </p:nvSpPr>
        <p:spPr>
          <a:xfrm>
            <a:off x="640080" y="2240280"/>
            <a:ext cx="2286000" cy="2926080"/>
          </a:xfrm>
          <a:prstGeom prst="rect">
            <a:avLst/>
          </a:prstGeom>
          <a:noFill/>
        </p:spPr>
        <p:txBody>
          <a:bodyPr wrap="square">
            <a:spAutoFit/>
          </a:bodyPr>
          <a:lstStyle/>
          <a:p>
            <a:pPr>
              <a:lnSpc>
                <a:spcPts val="1920"/>
              </a:lnSpc>
              <a:defRPr sz="1200">
                <a:solidFill>
                  <a:srgbClr val="F8F9FA"/>
                </a:solidFill>
              </a:defRPr>
            </a:pPr>
            <a:r>
              <a:rPr>
                <a:solidFill>
                  <a:srgbClr val="418FDE"/>
                </a:solidFill>
              </a:rPr>
              <a:t>▸  PV output varies 30–50% in seconds</a:t>
            </a:r>
          </a:p>
          <a:p>
            <a:pPr>
              <a:lnSpc>
                <a:spcPts val="1920"/>
              </a:lnSpc>
              <a:defRPr sz="1200">
                <a:solidFill>
                  <a:srgbClr val="F8F9FA"/>
                </a:solidFill>
              </a:defRPr>
            </a:pPr>
            <a:r>
              <a:rPr>
                <a:solidFill>
                  <a:srgbClr val="418FDE"/>
                </a:solidFill>
              </a:rPr>
              <a:t>▸  MPPT algorithms (P&amp;O, IC) extract max power</a:t>
            </a:r>
          </a:p>
          <a:p>
            <a:pPr>
              <a:lnSpc>
                <a:spcPts val="1920"/>
              </a:lnSpc>
              <a:defRPr sz="1200">
                <a:solidFill>
                  <a:srgbClr val="F8F9FA"/>
                </a:solidFill>
              </a:defRPr>
            </a:pPr>
            <a:r>
              <a:rPr>
                <a:solidFill>
                  <a:srgbClr val="418FDE"/>
                </a:solidFill>
              </a:rPr>
              <a:t>▸  Doesn't address energy buffer problem</a:t>
            </a:r>
          </a:p>
        </p:txBody>
      </p:sp>
      <p:sp>
        <p:nvSpPr>
          <p:cNvPr id="11" name="Rounded Rectangle 10"/>
          <p:cNvSpPr/>
          <p:nvPr/>
        </p:nvSpPr>
        <p:spPr>
          <a:xfrm>
            <a:off x="3337560" y="1463040"/>
            <a:ext cx="2651760" cy="4114800"/>
          </a:xfrm>
          <a:prstGeom prst="roundRect">
            <a:avLst/>
          </a:prstGeom>
          <a:solidFill>
            <a:srgbClr val="13273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74720" y="1600200"/>
            <a:ext cx="502920" cy="50292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200" b="1">
                <a:solidFill>
                  <a:srgbClr val="FFFFFF"/>
                </a:solidFill>
              </a:defRPr>
            </a:pPr>
            <a:r>
              <a:t>🔋</a:t>
            </a:r>
          </a:p>
        </p:txBody>
      </p:sp>
      <p:sp>
        <p:nvSpPr>
          <p:cNvPr id="13" name="TextBox 12"/>
          <p:cNvSpPr txBox="1"/>
          <p:nvPr/>
        </p:nvSpPr>
        <p:spPr>
          <a:xfrm>
            <a:off x="4114800" y="1645920"/>
            <a:ext cx="1645920" cy="411480"/>
          </a:xfrm>
          <a:prstGeom prst="rect">
            <a:avLst/>
          </a:prstGeom>
          <a:noFill/>
        </p:spPr>
        <p:txBody>
          <a:bodyPr wrap="square">
            <a:spAutoFit/>
          </a:bodyPr>
          <a:lstStyle/>
          <a:p>
            <a:pPr algn="l">
              <a:lnSpc>
                <a:spcPts val="1950"/>
              </a:lnSpc>
              <a:defRPr sz="1500" b="1">
                <a:solidFill>
                  <a:srgbClr val="2ECC71"/>
                </a:solidFill>
              </a:defRPr>
            </a:pPr>
            <a:r>
              <a:t>Supercapacitor Technology</a:t>
            </a:r>
          </a:p>
        </p:txBody>
      </p:sp>
      <p:sp>
        <p:nvSpPr>
          <p:cNvPr id="14" name="TextBox 13"/>
          <p:cNvSpPr txBox="1"/>
          <p:nvPr/>
        </p:nvSpPr>
        <p:spPr>
          <a:xfrm>
            <a:off x="3520440" y="2240280"/>
            <a:ext cx="2286000" cy="2926080"/>
          </a:xfrm>
          <a:prstGeom prst="rect">
            <a:avLst/>
          </a:prstGeom>
          <a:noFill/>
        </p:spPr>
        <p:txBody>
          <a:bodyPr wrap="square">
            <a:spAutoFit/>
          </a:bodyPr>
          <a:lstStyle/>
          <a:p>
            <a:pPr>
              <a:lnSpc>
                <a:spcPts val="1920"/>
              </a:lnSpc>
              <a:defRPr sz="1200">
                <a:solidFill>
                  <a:srgbClr val="F8F9FA"/>
                </a:solidFill>
              </a:defRPr>
            </a:pPr>
            <a:r>
              <a:rPr>
                <a:solidFill>
                  <a:srgbClr val="2ECC71"/>
                </a:solidFill>
              </a:rPr>
              <a:t>▸  Power density: 1–10 kW/kg</a:t>
            </a:r>
          </a:p>
          <a:p>
            <a:pPr>
              <a:lnSpc>
                <a:spcPts val="1920"/>
              </a:lnSpc>
              <a:defRPr sz="1200">
                <a:solidFill>
                  <a:srgbClr val="F8F9FA"/>
                </a:solidFill>
              </a:defRPr>
            </a:pPr>
            <a:r>
              <a:rPr>
                <a:solidFill>
                  <a:srgbClr val="2ECC71"/>
                </a:solidFill>
              </a:rPr>
              <a:t>▸  Cycle life: &gt; 500,000 cycles</a:t>
            </a:r>
          </a:p>
          <a:p>
            <a:pPr>
              <a:lnSpc>
                <a:spcPts val="1920"/>
              </a:lnSpc>
              <a:defRPr sz="1200">
                <a:solidFill>
                  <a:srgbClr val="F8F9FA"/>
                </a:solidFill>
              </a:defRPr>
            </a:pPr>
            <a:r>
              <a:rPr>
                <a:solidFill>
                  <a:srgbClr val="2ECC71"/>
                </a:solidFill>
              </a:rPr>
              <a:t>▸  Charge time: seconds to minutes</a:t>
            </a:r>
          </a:p>
        </p:txBody>
      </p:sp>
      <p:sp>
        <p:nvSpPr>
          <p:cNvPr id="15" name="Rounded Rectangle 14"/>
          <p:cNvSpPr/>
          <p:nvPr/>
        </p:nvSpPr>
        <p:spPr>
          <a:xfrm>
            <a:off x="6217920" y="1463040"/>
            <a:ext cx="2651760" cy="4114800"/>
          </a:xfrm>
          <a:prstGeom prst="roundRect">
            <a:avLst/>
          </a:prstGeom>
          <a:solidFill>
            <a:srgbClr val="13273F"/>
          </a:solidFill>
          <a:ln w="19050">
            <a:solidFill>
              <a:srgbClr val="F3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5080" y="1600200"/>
            <a:ext cx="502920" cy="502920"/>
          </a:xfrm>
          <a:prstGeom prst="ellipse">
            <a:avLst/>
          </a:prstGeom>
          <a:solidFill>
            <a:srgbClr val="F3961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200" b="1">
                <a:solidFill>
                  <a:srgbClr val="FFFFFF"/>
                </a:solidFill>
              </a:defRPr>
            </a:pPr>
            <a:r>
              <a:t>⚙️</a:t>
            </a:r>
          </a:p>
        </p:txBody>
      </p:sp>
      <p:sp>
        <p:nvSpPr>
          <p:cNvPr id="17" name="TextBox 16"/>
          <p:cNvSpPr txBox="1"/>
          <p:nvPr/>
        </p:nvSpPr>
        <p:spPr>
          <a:xfrm>
            <a:off x="6995160" y="1645920"/>
            <a:ext cx="1645920" cy="411480"/>
          </a:xfrm>
          <a:prstGeom prst="rect">
            <a:avLst/>
          </a:prstGeom>
          <a:noFill/>
        </p:spPr>
        <p:txBody>
          <a:bodyPr wrap="square">
            <a:spAutoFit/>
          </a:bodyPr>
          <a:lstStyle/>
          <a:p>
            <a:pPr algn="l">
              <a:lnSpc>
                <a:spcPts val="1950"/>
              </a:lnSpc>
              <a:defRPr sz="1500" b="1">
                <a:solidFill>
                  <a:srgbClr val="F3961C"/>
                </a:solidFill>
              </a:defRPr>
            </a:pPr>
            <a:r>
              <a:t>Hybrid Energy Storage (HBSC)</a:t>
            </a:r>
          </a:p>
        </p:txBody>
      </p:sp>
      <p:sp>
        <p:nvSpPr>
          <p:cNvPr id="18" name="TextBox 17"/>
          <p:cNvSpPr txBox="1"/>
          <p:nvPr/>
        </p:nvSpPr>
        <p:spPr>
          <a:xfrm>
            <a:off x="6400800" y="2240280"/>
            <a:ext cx="2286000" cy="2926080"/>
          </a:xfrm>
          <a:prstGeom prst="rect">
            <a:avLst/>
          </a:prstGeom>
          <a:noFill/>
        </p:spPr>
        <p:txBody>
          <a:bodyPr wrap="square">
            <a:spAutoFit/>
          </a:bodyPr>
          <a:lstStyle/>
          <a:p>
            <a:pPr>
              <a:lnSpc>
                <a:spcPts val="1920"/>
              </a:lnSpc>
              <a:defRPr sz="1200">
                <a:solidFill>
                  <a:srgbClr val="F8F9FA"/>
                </a:solidFill>
              </a:defRPr>
            </a:pPr>
            <a:r>
              <a:rPr>
                <a:solidFill>
                  <a:srgbClr val="F3961C"/>
                </a:solidFill>
              </a:rPr>
              <a:t>▸  Passive / Semi-active / Active topologies</a:t>
            </a:r>
          </a:p>
          <a:p>
            <a:pPr>
              <a:lnSpc>
                <a:spcPts val="1920"/>
              </a:lnSpc>
              <a:defRPr sz="1200">
                <a:solidFill>
                  <a:srgbClr val="F8F9FA"/>
                </a:solidFill>
              </a:defRPr>
            </a:pPr>
            <a:r>
              <a:rPr>
                <a:solidFill>
                  <a:srgbClr val="F3961C"/>
                </a:solidFill>
              </a:rPr>
              <a:t>▸  Semi-active: best cost-performance ratio</a:t>
            </a:r>
          </a:p>
          <a:p>
            <a:pPr>
              <a:lnSpc>
                <a:spcPts val="1920"/>
              </a:lnSpc>
              <a:defRPr sz="1200">
                <a:solidFill>
                  <a:srgbClr val="F8F9FA"/>
                </a:solidFill>
              </a:defRPr>
            </a:pPr>
            <a:r>
              <a:rPr>
                <a:solidFill>
                  <a:srgbClr val="F3961C"/>
                </a:solidFill>
              </a:rPr>
              <a:t>▸  This project adopts semi-active design</a:t>
            </a:r>
          </a:p>
        </p:txBody>
      </p:sp>
      <p:sp>
        <p:nvSpPr>
          <p:cNvPr id="19" name="Rounded Rectangle 18"/>
          <p:cNvSpPr/>
          <p:nvPr/>
        </p:nvSpPr>
        <p:spPr>
          <a:xfrm>
            <a:off x="9098280" y="1463040"/>
            <a:ext cx="2651760" cy="4114800"/>
          </a:xfrm>
          <a:prstGeom prst="roundRect">
            <a:avLst/>
          </a:prstGeom>
          <a:solidFill>
            <a:srgbClr val="13273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35440" y="160020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2200" b="1">
                <a:solidFill>
                  <a:srgbClr val="FFFFFF"/>
                </a:solidFill>
              </a:defRPr>
            </a:pPr>
            <a:r>
              <a:t>🌐</a:t>
            </a:r>
          </a:p>
        </p:txBody>
      </p:sp>
      <p:sp>
        <p:nvSpPr>
          <p:cNvPr id="21" name="TextBox 20"/>
          <p:cNvSpPr txBox="1"/>
          <p:nvPr/>
        </p:nvSpPr>
        <p:spPr>
          <a:xfrm>
            <a:off x="9875520" y="1645920"/>
            <a:ext cx="1645920" cy="411480"/>
          </a:xfrm>
          <a:prstGeom prst="rect">
            <a:avLst/>
          </a:prstGeom>
          <a:noFill/>
        </p:spPr>
        <p:txBody>
          <a:bodyPr wrap="square">
            <a:spAutoFit/>
          </a:bodyPr>
          <a:lstStyle/>
          <a:p>
            <a:pPr algn="l">
              <a:lnSpc>
                <a:spcPts val="1950"/>
              </a:lnSpc>
              <a:defRPr sz="1500" b="1">
                <a:solidFill>
                  <a:srgbClr val="00B4D8"/>
                </a:solidFill>
              </a:defRPr>
            </a:pPr>
            <a:r>
              <a:t>IoT in Energy Management</a:t>
            </a:r>
          </a:p>
        </p:txBody>
      </p:sp>
      <p:sp>
        <p:nvSpPr>
          <p:cNvPr id="22" name="TextBox 21"/>
          <p:cNvSpPr txBox="1"/>
          <p:nvPr/>
        </p:nvSpPr>
        <p:spPr>
          <a:xfrm>
            <a:off x="9281160" y="2240280"/>
            <a:ext cx="2286000" cy="2926080"/>
          </a:xfrm>
          <a:prstGeom prst="rect">
            <a:avLst/>
          </a:prstGeom>
          <a:noFill/>
        </p:spPr>
        <p:txBody>
          <a:bodyPr wrap="square">
            <a:spAutoFit/>
          </a:bodyPr>
          <a:lstStyle/>
          <a:p>
            <a:pPr>
              <a:lnSpc>
                <a:spcPts val="1920"/>
              </a:lnSpc>
              <a:defRPr sz="1200">
                <a:solidFill>
                  <a:srgbClr val="F8F9FA"/>
                </a:solidFill>
              </a:defRPr>
            </a:pPr>
            <a:r>
              <a:rPr>
                <a:solidFill>
                  <a:srgbClr val="00B4D8"/>
                </a:solidFill>
              </a:rPr>
              <a:t>▸  Remote monitoring &amp; diagnostics</a:t>
            </a:r>
          </a:p>
          <a:p>
            <a:pPr>
              <a:lnSpc>
                <a:spcPts val="1920"/>
              </a:lnSpc>
              <a:defRPr sz="1200">
                <a:solidFill>
                  <a:srgbClr val="F8F9FA"/>
                </a:solidFill>
              </a:defRPr>
            </a:pPr>
            <a:r>
              <a:rPr>
                <a:solidFill>
                  <a:srgbClr val="00B4D8"/>
                </a:solidFill>
              </a:rPr>
              <a:t>▸  Data-driven optimization</a:t>
            </a:r>
          </a:p>
          <a:p>
            <a:pPr>
              <a:lnSpc>
                <a:spcPts val="1920"/>
              </a:lnSpc>
              <a:defRPr sz="1200">
                <a:solidFill>
                  <a:srgbClr val="F8F9FA"/>
                </a:solidFill>
              </a:defRPr>
            </a:pPr>
            <a:r>
              <a:rPr>
                <a:solidFill>
                  <a:srgbClr val="00B4D8"/>
                </a:solidFill>
              </a:rPr>
              <a:t>▸  ESP8266/ESP32: de-facto IoT standard</a:t>
            </a:r>
          </a:p>
        </p:txBody>
      </p:sp>
      <p:sp>
        <p:nvSpPr>
          <p:cNvPr id="23" name="Rounded Rectangle 22"/>
          <p:cNvSpPr/>
          <p:nvPr/>
        </p:nvSpPr>
        <p:spPr>
          <a:xfrm>
            <a:off x="457200" y="5760720"/>
            <a:ext cx="11247120" cy="731520"/>
          </a:xfrm>
          <a:prstGeom prst="roundRect">
            <a:avLst/>
          </a:prstGeom>
          <a:solidFill>
            <a:srgbClr val="0A3D2E"/>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833872"/>
            <a:ext cx="10789920" cy="502920"/>
          </a:xfrm>
          <a:prstGeom prst="rect">
            <a:avLst/>
          </a:prstGeom>
          <a:noFill/>
        </p:spPr>
        <p:txBody>
          <a:bodyPr wrap="square">
            <a:spAutoFit/>
          </a:bodyPr>
          <a:lstStyle/>
          <a:p>
            <a:pPr algn="ctr">
              <a:lnSpc>
                <a:spcPts val="1820"/>
              </a:lnSpc>
              <a:defRPr sz="1400" b="0">
                <a:solidFill>
                  <a:srgbClr val="FFFFFF"/>
                </a:solidFill>
              </a:defRPr>
            </a:pPr>
            <a:r>
              <a:t>CONCLUSION:  Supercapacitors ideal for transient absorption; batteries for sustained energy. Combining both + IoT = optimal solution.</a:t>
            </a:r>
          </a:p>
        </p:txBody>
      </p:sp>
      <p:sp>
        <p:nvSpPr>
          <p:cNvPr id="25" name="TextBox 24"/>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LITERATURE REVIEW</a:t>
            </a:r>
          </a:p>
        </p:txBody>
      </p:sp>
      <p:sp>
        <p:nvSpPr>
          <p:cNvPr id="5" name="TextBox 4"/>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Key Papers &amp; Research Gaps</a:t>
            </a:r>
          </a:p>
        </p:txBody>
      </p:sp>
      <p:sp>
        <p:nvSpPr>
          <p:cNvPr id="6" name="Rectangle 5"/>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2240280" cy="411480"/>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17320"/>
            <a:ext cx="2103120" cy="320040"/>
          </a:xfrm>
          <a:prstGeom prst="rect">
            <a:avLst/>
          </a:prstGeom>
          <a:noFill/>
        </p:spPr>
        <p:txBody>
          <a:bodyPr wrap="square">
            <a:spAutoFit/>
          </a:bodyPr>
          <a:lstStyle/>
          <a:p>
            <a:pPr algn="ctr">
              <a:lnSpc>
                <a:spcPts val="1560"/>
              </a:lnSpc>
              <a:defRPr sz="1200" b="1">
                <a:solidFill>
                  <a:srgbClr val="FFFFFF"/>
                </a:solidFill>
              </a:defRPr>
            </a:pPr>
            <a:r>
              <a:t>Reference</a:t>
            </a:r>
          </a:p>
        </p:txBody>
      </p:sp>
      <p:sp>
        <p:nvSpPr>
          <p:cNvPr id="9" name="Rectangle 8"/>
          <p:cNvSpPr/>
          <p:nvPr/>
        </p:nvSpPr>
        <p:spPr>
          <a:xfrm>
            <a:off x="2743200" y="1371600"/>
            <a:ext cx="2880360" cy="411480"/>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1417320"/>
            <a:ext cx="2743200" cy="320040"/>
          </a:xfrm>
          <a:prstGeom prst="rect">
            <a:avLst/>
          </a:prstGeom>
          <a:noFill/>
        </p:spPr>
        <p:txBody>
          <a:bodyPr wrap="square">
            <a:spAutoFit/>
          </a:bodyPr>
          <a:lstStyle/>
          <a:p>
            <a:pPr algn="ctr">
              <a:lnSpc>
                <a:spcPts val="1560"/>
              </a:lnSpc>
              <a:defRPr sz="1200" b="1">
                <a:solidFill>
                  <a:srgbClr val="FFFFFF"/>
                </a:solidFill>
              </a:defRPr>
            </a:pPr>
            <a:r>
              <a:t>Focus</a:t>
            </a:r>
          </a:p>
        </p:txBody>
      </p:sp>
      <p:sp>
        <p:nvSpPr>
          <p:cNvPr id="11" name="Rectangle 10"/>
          <p:cNvSpPr/>
          <p:nvPr/>
        </p:nvSpPr>
        <p:spPr>
          <a:xfrm>
            <a:off x="5669280" y="1371600"/>
            <a:ext cx="3154680" cy="411480"/>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417320"/>
            <a:ext cx="3017520" cy="320040"/>
          </a:xfrm>
          <a:prstGeom prst="rect">
            <a:avLst/>
          </a:prstGeom>
          <a:noFill/>
        </p:spPr>
        <p:txBody>
          <a:bodyPr wrap="square">
            <a:spAutoFit/>
          </a:bodyPr>
          <a:lstStyle/>
          <a:p>
            <a:pPr algn="ctr">
              <a:lnSpc>
                <a:spcPts val="1560"/>
              </a:lnSpc>
              <a:defRPr sz="1200" b="1">
                <a:solidFill>
                  <a:srgbClr val="FFFFFF"/>
                </a:solidFill>
              </a:defRPr>
            </a:pPr>
            <a:r>
              <a:t>Key Finding</a:t>
            </a:r>
          </a:p>
        </p:txBody>
      </p:sp>
      <p:sp>
        <p:nvSpPr>
          <p:cNvPr id="13" name="Rectangle 12"/>
          <p:cNvSpPr/>
          <p:nvPr/>
        </p:nvSpPr>
        <p:spPr>
          <a:xfrm>
            <a:off x="8869680" y="1371600"/>
            <a:ext cx="2788920" cy="411480"/>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1417320"/>
            <a:ext cx="2651760" cy="320040"/>
          </a:xfrm>
          <a:prstGeom prst="rect">
            <a:avLst/>
          </a:prstGeom>
          <a:noFill/>
        </p:spPr>
        <p:txBody>
          <a:bodyPr wrap="square">
            <a:spAutoFit/>
          </a:bodyPr>
          <a:lstStyle/>
          <a:p>
            <a:pPr algn="ctr">
              <a:lnSpc>
                <a:spcPts val="1560"/>
              </a:lnSpc>
              <a:defRPr sz="1200" b="1">
                <a:solidFill>
                  <a:srgbClr val="FFFFFF"/>
                </a:solidFill>
              </a:defRPr>
            </a:pPr>
            <a:r>
              <a:t>Gap Identified</a:t>
            </a:r>
          </a:p>
        </p:txBody>
      </p:sp>
      <p:sp>
        <p:nvSpPr>
          <p:cNvPr id="15" name="Rectangle 14"/>
          <p:cNvSpPr/>
          <p:nvPr/>
        </p:nvSpPr>
        <p:spPr>
          <a:xfrm>
            <a:off x="457200" y="1828800"/>
            <a:ext cx="224028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901952"/>
            <a:ext cx="2103120" cy="548640"/>
          </a:xfrm>
          <a:prstGeom prst="rect">
            <a:avLst/>
          </a:prstGeom>
          <a:noFill/>
        </p:spPr>
        <p:txBody>
          <a:bodyPr wrap="square">
            <a:spAutoFit/>
          </a:bodyPr>
          <a:lstStyle/>
          <a:p>
            <a:pPr algn="l">
              <a:lnSpc>
                <a:spcPts val="1430"/>
              </a:lnSpc>
              <a:defRPr sz="1100" b="1">
                <a:solidFill>
                  <a:srgbClr val="00B4D8"/>
                </a:solidFill>
              </a:defRPr>
            </a:pPr>
            <a:r>
              <a:t>[1] Hassan et al., 2022</a:t>
            </a:r>
          </a:p>
        </p:txBody>
      </p:sp>
      <p:sp>
        <p:nvSpPr>
          <p:cNvPr id="17" name="Rectangle 16"/>
          <p:cNvSpPr/>
          <p:nvPr/>
        </p:nvSpPr>
        <p:spPr>
          <a:xfrm>
            <a:off x="2743200" y="1828800"/>
            <a:ext cx="288036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4640" y="1901952"/>
            <a:ext cx="2743200" cy="548640"/>
          </a:xfrm>
          <a:prstGeom prst="rect">
            <a:avLst/>
          </a:prstGeom>
          <a:noFill/>
        </p:spPr>
        <p:txBody>
          <a:bodyPr wrap="square">
            <a:spAutoFit/>
          </a:bodyPr>
          <a:lstStyle/>
          <a:p>
            <a:pPr algn="l">
              <a:lnSpc>
                <a:spcPts val="1430"/>
              </a:lnSpc>
              <a:defRPr sz="1100" b="0">
                <a:solidFill>
                  <a:srgbClr val="F8F9FA"/>
                </a:solidFill>
              </a:defRPr>
            </a:pPr>
            <a:r>
              <a:t>PV/Supercap energy systems analysis</a:t>
            </a:r>
          </a:p>
        </p:txBody>
      </p:sp>
      <p:sp>
        <p:nvSpPr>
          <p:cNvPr id="19" name="Rectangle 18"/>
          <p:cNvSpPr/>
          <p:nvPr/>
        </p:nvSpPr>
        <p:spPr>
          <a:xfrm>
            <a:off x="5669280" y="1828800"/>
            <a:ext cx="315468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0720" y="1901952"/>
            <a:ext cx="3017520" cy="548640"/>
          </a:xfrm>
          <a:prstGeom prst="rect">
            <a:avLst/>
          </a:prstGeom>
          <a:noFill/>
        </p:spPr>
        <p:txBody>
          <a:bodyPr wrap="square">
            <a:spAutoFit/>
          </a:bodyPr>
          <a:lstStyle/>
          <a:p>
            <a:pPr algn="l">
              <a:lnSpc>
                <a:spcPts val="1430"/>
              </a:lnSpc>
              <a:defRPr sz="1100" b="0">
                <a:solidFill>
                  <a:srgbClr val="F8F9FA"/>
                </a:solidFill>
              </a:defRPr>
            </a:pPr>
            <a:r>
              <a:t>Semi-active topology improves utilization 15–25%</a:t>
            </a:r>
          </a:p>
        </p:txBody>
      </p:sp>
      <p:sp>
        <p:nvSpPr>
          <p:cNvPr id="21" name="Rectangle 20"/>
          <p:cNvSpPr/>
          <p:nvPr/>
        </p:nvSpPr>
        <p:spPr>
          <a:xfrm>
            <a:off x="8869680" y="1828800"/>
            <a:ext cx="278892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0" y="1901952"/>
            <a:ext cx="2651760" cy="548640"/>
          </a:xfrm>
          <a:prstGeom prst="rect">
            <a:avLst/>
          </a:prstGeom>
          <a:noFill/>
        </p:spPr>
        <p:txBody>
          <a:bodyPr wrap="square">
            <a:spAutoFit/>
          </a:bodyPr>
          <a:lstStyle/>
          <a:p>
            <a:pPr algn="l">
              <a:lnSpc>
                <a:spcPts val="1430"/>
              </a:lnSpc>
              <a:defRPr sz="1100" b="0">
                <a:solidFill>
                  <a:srgbClr val="F3961C"/>
                </a:solidFill>
              </a:defRPr>
            </a:pPr>
            <a:r>
              <a:t>No small-scale embedded prototype</a:t>
            </a:r>
          </a:p>
        </p:txBody>
      </p:sp>
      <p:sp>
        <p:nvSpPr>
          <p:cNvPr id="23" name="Rectangle 22"/>
          <p:cNvSpPr/>
          <p:nvPr/>
        </p:nvSpPr>
        <p:spPr>
          <a:xfrm>
            <a:off x="457200" y="2496312"/>
            <a:ext cx="2240280" cy="640080"/>
          </a:xfrm>
          <a:prstGeom prst="rect">
            <a:avLst/>
          </a:prstGeom>
          <a:solidFill>
            <a:srgbClr val="16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569464"/>
            <a:ext cx="2103120" cy="548640"/>
          </a:xfrm>
          <a:prstGeom prst="rect">
            <a:avLst/>
          </a:prstGeom>
          <a:noFill/>
        </p:spPr>
        <p:txBody>
          <a:bodyPr wrap="square">
            <a:spAutoFit/>
          </a:bodyPr>
          <a:lstStyle/>
          <a:p>
            <a:pPr algn="l">
              <a:lnSpc>
                <a:spcPts val="1430"/>
              </a:lnSpc>
              <a:defRPr sz="1100" b="1">
                <a:solidFill>
                  <a:srgbClr val="00B4D8"/>
                </a:solidFill>
              </a:defRPr>
            </a:pPr>
            <a:r>
              <a:t>[2] Zhang, 2023</a:t>
            </a:r>
          </a:p>
        </p:txBody>
      </p:sp>
      <p:sp>
        <p:nvSpPr>
          <p:cNvPr id="25" name="Rectangle 24"/>
          <p:cNvSpPr/>
          <p:nvPr/>
        </p:nvSpPr>
        <p:spPr>
          <a:xfrm>
            <a:off x="2743200" y="2496312"/>
            <a:ext cx="2880360" cy="640080"/>
          </a:xfrm>
          <a:prstGeom prst="rect">
            <a:avLst/>
          </a:prstGeom>
          <a:solidFill>
            <a:srgbClr val="16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2569464"/>
            <a:ext cx="2743200" cy="548640"/>
          </a:xfrm>
          <a:prstGeom prst="rect">
            <a:avLst/>
          </a:prstGeom>
          <a:noFill/>
        </p:spPr>
        <p:txBody>
          <a:bodyPr wrap="square">
            <a:spAutoFit/>
          </a:bodyPr>
          <a:lstStyle/>
          <a:p>
            <a:pPr algn="l">
              <a:lnSpc>
                <a:spcPts val="1430"/>
              </a:lnSpc>
              <a:defRPr sz="1100" b="0">
                <a:solidFill>
                  <a:srgbClr val="F8F9FA"/>
                </a:solidFill>
              </a:defRPr>
            </a:pPr>
            <a:r>
              <a:t>Supercaps for renewable energy review</a:t>
            </a:r>
          </a:p>
        </p:txBody>
      </p:sp>
      <p:sp>
        <p:nvSpPr>
          <p:cNvPr id="27" name="Rectangle 26"/>
          <p:cNvSpPr/>
          <p:nvPr/>
        </p:nvSpPr>
        <p:spPr>
          <a:xfrm>
            <a:off x="5669280" y="2496312"/>
            <a:ext cx="3154680" cy="640080"/>
          </a:xfrm>
          <a:prstGeom prst="rect">
            <a:avLst/>
          </a:prstGeom>
          <a:solidFill>
            <a:srgbClr val="16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20" y="2569464"/>
            <a:ext cx="3017520" cy="548640"/>
          </a:xfrm>
          <a:prstGeom prst="rect">
            <a:avLst/>
          </a:prstGeom>
          <a:noFill/>
        </p:spPr>
        <p:txBody>
          <a:bodyPr wrap="square">
            <a:spAutoFit/>
          </a:bodyPr>
          <a:lstStyle/>
          <a:p>
            <a:pPr algn="l">
              <a:lnSpc>
                <a:spcPts val="1430"/>
              </a:lnSpc>
              <a:defRPr sz="1100" b="0">
                <a:solidFill>
                  <a:srgbClr val="F8F9FA"/>
                </a:solidFill>
              </a:defRPr>
            </a:pPr>
            <a:r>
              <a:t>Reduces battery current ripple 40–70%</a:t>
            </a:r>
          </a:p>
        </p:txBody>
      </p:sp>
      <p:sp>
        <p:nvSpPr>
          <p:cNvPr id="29" name="Rectangle 28"/>
          <p:cNvSpPr/>
          <p:nvPr/>
        </p:nvSpPr>
        <p:spPr>
          <a:xfrm>
            <a:off x="8869680" y="2496312"/>
            <a:ext cx="2788920" cy="640080"/>
          </a:xfrm>
          <a:prstGeom prst="rect">
            <a:avLst/>
          </a:prstGeom>
          <a:solidFill>
            <a:srgbClr val="16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0" y="2569464"/>
            <a:ext cx="2651760" cy="548640"/>
          </a:xfrm>
          <a:prstGeom prst="rect">
            <a:avLst/>
          </a:prstGeom>
          <a:noFill/>
        </p:spPr>
        <p:txBody>
          <a:bodyPr wrap="square">
            <a:spAutoFit/>
          </a:bodyPr>
          <a:lstStyle/>
          <a:p>
            <a:pPr algn="l">
              <a:lnSpc>
                <a:spcPts val="1430"/>
              </a:lnSpc>
              <a:defRPr sz="1100" b="0">
                <a:solidFill>
                  <a:srgbClr val="F3961C"/>
                </a:solidFill>
              </a:defRPr>
            </a:pPr>
            <a:r>
              <a:t>No real-time embedded control</a:t>
            </a:r>
          </a:p>
        </p:txBody>
      </p:sp>
      <p:sp>
        <p:nvSpPr>
          <p:cNvPr id="31" name="Rectangle 30"/>
          <p:cNvSpPr/>
          <p:nvPr/>
        </p:nvSpPr>
        <p:spPr>
          <a:xfrm>
            <a:off x="457200" y="3163824"/>
            <a:ext cx="224028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236976"/>
            <a:ext cx="2103120" cy="548640"/>
          </a:xfrm>
          <a:prstGeom prst="rect">
            <a:avLst/>
          </a:prstGeom>
          <a:noFill/>
        </p:spPr>
        <p:txBody>
          <a:bodyPr wrap="square">
            <a:spAutoFit/>
          </a:bodyPr>
          <a:lstStyle/>
          <a:p>
            <a:pPr algn="l">
              <a:lnSpc>
                <a:spcPts val="1430"/>
              </a:lnSpc>
              <a:defRPr sz="1100" b="1">
                <a:solidFill>
                  <a:srgbClr val="00B4D8"/>
                </a:solidFill>
              </a:defRPr>
            </a:pPr>
            <a:r>
              <a:t>[3] Gopi et al., 2024</a:t>
            </a:r>
          </a:p>
        </p:txBody>
      </p:sp>
      <p:sp>
        <p:nvSpPr>
          <p:cNvPr id="33" name="Rectangle 32"/>
          <p:cNvSpPr/>
          <p:nvPr/>
        </p:nvSpPr>
        <p:spPr>
          <a:xfrm>
            <a:off x="2743200" y="3163824"/>
            <a:ext cx="288036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34640" y="3236976"/>
            <a:ext cx="2743200" cy="548640"/>
          </a:xfrm>
          <a:prstGeom prst="rect">
            <a:avLst/>
          </a:prstGeom>
          <a:noFill/>
        </p:spPr>
        <p:txBody>
          <a:bodyPr wrap="square">
            <a:spAutoFit/>
          </a:bodyPr>
          <a:lstStyle/>
          <a:p>
            <a:pPr algn="l">
              <a:lnSpc>
                <a:spcPts val="1430"/>
              </a:lnSpc>
              <a:defRPr sz="1100" b="0">
                <a:solidFill>
                  <a:srgbClr val="F8F9FA"/>
                </a:solidFill>
              </a:defRPr>
            </a:pPr>
            <a:r>
              <a:t>HBSC systems for solar – review</a:t>
            </a:r>
          </a:p>
        </p:txBody>
      </p:sp>
      <p:sp>
        <p:nvSpPr>
          <p:cNvPr id="35" name="Rectangle 34"/>
          <p:cNvSpPr/>
          <p:nvPr/>
        </p:nvSpPr>
        <p:spPr>
          <a:xfrm>
            <a:off x="5669280" y="3163824"/>
            <a:ext cx="315468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0720" y="3236976"/>
            <a:ext cx="3017520" cy="548640"/>
          </a:xfrm>
          <a:prstGeom prst="rect">
            <a:avLst/>
          </a:prstGeom>
          <a:noFill/>
        </p:spPr>
        <p:txBody>
          <a:bodyPr wrap="square">
            <a:spAutoFit/>
          </a:bodyPr>
          <a:lstStyle/>
          <a:p>
            <a:pPr algn="l">
              <a:lnSpc>
                <a:spcPts val="1430"/>
              </a:lnSpc>
              <a:defRPr sz="1100" b="0">
                <a:solidFill>
                  <a:srgbClr val="F8F9FA"/>
                </a:solidFill>
              </a:defRPr>
            </a:pPr>
            <a:r>
              <a:t>Gap in IoT-enabled small-scale HBSC prototypes</a:t>
            </a:r>
          </a:p>
        </p:txBody>
      </p:sp>
      <p:sp>
        <p:nvSpPr>
          <p:cNvPr id="37" name="Rectangle 36"/>
          <p:cNvSpPr/>
          <p:nvPr/>
        </p:nvSpPr>
        <p:spPr>
          <a:xfrm>
            <a:off x="8869680" y="3163824"/>
            <a:ext cx="278892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0" y="3236976"/>
            <a:ext cx="2651760" cy="548640"/>
          </a:xfrm>
          <a:prstGeom prst="rect">
            <a:avLst/>
          </a:prstGeom>
          <a:noFill/>
        </p:spPr>
        <p:txBody>
          <a:bodyPr wrap="square">
            <a:spAutoFit/>
          </a:bodyPr>
          <a:lstStyle/>
          <a:p>
            <a:pPr algn="l">
              <a:lnSpc>
                <a:spcPts val="1430"/>
              </a:lnSpc>
              <a:defRPr sz="1100" b="0">
                <a:solidFill>
                  <a:srgbClr val="F3961C"/>
                </a:solidFill>
              </a:defRPr>
            </a:pPr>
            <a:r>
              <a:t>No IoT integration</a:t>
            </a:r>
          </a:p>
        </p:txBody>
      </p:sp>
      <p:sp>
        <p:nvSpPr>
          <p:cNvPr id="39" name="Rectangle 38"/>
          <p:cNvSpPr/>
          <p:nvPr/>
        </p:nvSpPr>
        <p:spPr>
          <a:xfrm>
            <a:off x="457200" y="3831336"/>
            <a:ext cx="2240280" cy="640080"/>
          </a:xfrm>
          <a:prstGeom prst="rect">
            <a:avLst/>
          </a:prstGeom>
          <a:solidFill>
            <a:srgbClr val="16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3904488"/>
            <a:ext cx="2103120" cy="548640"/>
          </a:xfrm>
          <a:prstGeom prst="rect">
            <a:avLst/>
          </a:prstGeom>
          <a:noFill/>
        </p:spPr>
        <p:txBody>
          <a:bodyPr wrap="square">
            <a:spAutoFit/>
          </a:bodyPr>
          <a:lstStyle/>
          <a:p>
            <a:pPr algn="l">
              <a:lnSpc>
                <a:spcPts val="1430"/>
              </a:lnSpc>
              <a:defRPr sz="1100" b="1">
                <a:solidFill>
                  <a:srgbClr val="00B4D8"/>
                </a:solidFill>
              </a:defRPr>
            </a:pPr>
            <a:r>
              <a:t>[4] Piyumal et al., 2021</a:t>
            </a:r>
          </a:p>
        </p:txBody>
      </p:sp>
      <p:sp>
        <p:nvSpPr>
          <p:cNvPr id="41" name="Rectangle 40"/>
          <p:cNvSpPr/>
          <p:nvPr/>
        </p:nvSpPr>
        <p:spPr>
          <a:xfrm>
            <a:off x="2743200" y="3831336"/>
            <a:ext cx="2880360" cy="640080"/>
          </a:xfrm>
          <a:prstGeom prst="rect">
            <a:avLst/>
          </a:prstGeom>
          <a:solidFill>
            <a:srgbClr val="16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34640" y="3904488"/>
            <a:ext cx="2743200" cy="548640"/>
          </a:xfrm>
          <a:prstGeom prst="rect">
            <a:avLst/>
          </a:prstGeom>
          <a:noFill/>
        </p:spPr>
        <p:txBody>
          <a:bodyPr wrap="square">
            <a:spAutoFit/>
          </a:bodyPr>
          <a:lstStyle/>
          <a:p>
            <a:pPr algn="l">
              <a:lnSpc>
                <a:spcPts val="1430"/>
              </a:lnSpc>
              <a:defRPr sz="1100" b="0">
                <a:solidFill>
                  <a:srgbClr val="F8F9FA"/>
                </a:solidFill>
              </a:defRPr>
            </a:pPr>
            <a:r>
              <a:t>Supercap-assisted hybrid PV</a:t>
            </a:r>
          </a:p>
        </p:txBody>
      </p:sp>
      <p:sp>
        <p:nvSpPr>
          <p:cNvPr id="43" name="Rectangle 42"/>
          <p:cNvSpPr/>
          <p:nvPr/>
        </p:nvSpPr>
        <p:spPr>
          <a:xfrm>
            <a:off x="5669280" y="3831336"/>
            <a:ext cx="3154680" cy="640080"/>
          </a:xfrm>
          <a:prstGeom prst="rect">
            <a:avLst/>
          </a:prstGeom>
          <a:solidFill>
            <a:srgbClr val="16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60720" y="3904488"/>
            <a:ext cx="3017520" cy="548640"/>
          </a:xfrm>
          <a:prstGeom prst="rect">
            <a:avLst/>
          </a:prstGeom>
          <a:noFill/>
        </p:spPr>
        <p:txBody>
          <a:bodyPr wrap="square">
            <a:spAutoFit/>
          </a:bodyPr>
          <a:lstStyle/>
          <a:p>
            <a:pPr algn="l">
              <a:lnSpc>
                <a:spcPts val="1430"/>
              </a:lnSpc>
              <a:defRPr sz="1100" b="0">
                <a:solidFill>
                  <a:srgbClr val="F8F9FA"/>
                </a:solidFill>
              </a:defRPr>
            </a:pPr>
            <a:r>
              <a:t>22% improvement in energy delivery efficiency</a:t>
            </a:r>
          </a:p>
        </p:txBody>
      </p:sp>
      <p:sp>
        <p:nvSpPr>
          <p:cNvPr id="45" name="Rectangle 44"/>
          <p:cNvSpPr/>
          <p:nvPr/>
        </p:nvSpPr>
        <p:spPr>
          <a:xfrm>
            <a:off x="8869680" y="3831336"/>
            <a:ext cx="2788920" cy="640080"/>
          </a:xfrm>
          <a:prstGeom prst="rect">
            <a:avLst/>
          </a:prstGeom>
          <a:solidFill>
            <a:srgbClr val="16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0" y="3904488"/>
            <a:ext cx="2651760" cy="548640"/>
          </a:xfrm>
          <a:prstGeom prst="rect">
            <a:avLst/>
          </a:prstGeom>
          <a:noFill/>
        </p:spPr>
        <p:txBody>
          <a:bodyPr wrap="square">
            <a:spAutoFit/>
          </a:bodyPr>
          <a:lstStyle/>
          <a:p>
            <a:pPr algn="l">
              <a:lnSpc>
                <a:spcPts val="1430"/>
              </a:lnSpc>
              <a:defRPr sz="1100" b="0">
                <a:solidFill>
                  <a:srgbClr val="F3961C"/>
                </a:solidFill>
              </a:defRPr>
            </a:pPr>
            <a:r>
              <a:t>No IoT or remote monitoring</a:t>
            </a:r>
          </a:p>
        </p:txBody>
      </p:sp>
      <p:sp>
        <p:nvSpPr>
          <p:cNvPr id="47" name="Rectangle 46"/>
          <p:cNvSpPr/>
          <p:nvPr/>
        </p:nvSpPr>
        <p:spPr>
          <a:xfrm>
            <a:off x="457200" y="4498848"/>
            <a:ext cx="224028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4572000"/>
            <a:ext cx="2103120" cy="548640"/>
          </a:xfrm>
          <a:prstGeom prst="rect">
            <a:avLst/>
          </a:prstGeom>
          <a:noFill/>
        </p:spPr>
        <p:txBody>
          <a:bodyPr wrap="square">
            <a:spAutoFit/>
          </a:bodyPr>
          <a:lstStyle/>
          <a:p>
            <a:pPr algn="l">
              <a:lnSpc>
                <a:spcPts val="1430"/>
              </a:lnSpc>
              <a:defRPr sz="1100" b="1">
                <a:solidFill>
                  <a:srgbClr val="00B4D8"/>
                </a:solidFill>
              </a:defRPr>
            </a:pPr>
            <a:r>
              <a:t>[5] Baqar et al., 2023</a:t>
            </a:r>
          </a:p>
        </p:txBody>
      </p:sp>
      <p:sp>
        <p:nvSpPr>
          <p:cNvPr id="49" name="Rectangle 48"/>
          <p:cNvSpPr/>
          <p:nvPr/>
        </p:nvSpPr>
        <p:spPr>
          <a:xfrm>
            <a:off x="2743200" y="4498848"/>
            <a:ext cx="288036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34640" y="4572000"/>
            <a:ext cx="2743200" cy="548640"/>
          </a:xfrm>
          <a:prstGeom prst="rect">
            <a:avLst/>
          </a:prstGeom>
          <a:noFill/>
        </p:spPr>
        <p:txBody>
          <a:bodyPr wrap="square">
            <a:spAutoFit/>
          </a:bodyPr>
          <a:lstStyle/>
          <a:p>
            <a:pPr algn="l">
              <a:lnSpc>
                <a:spcPts val="1430"/>
              </a:lnSpc>
              <a:defRPr sz="1100" b="0">
                <a:solidFill>
                  <a:srgbClr val="F8F9FA"/>
                </a:solidFill>
              </a:defRPr>
            </a:pPr>
            <a:r>
              <a:t>Supercap ageing in EV charging</a:t>
            </a:r>
          </a:p>
        </p:txBody>
      </p:sp>
      <p:sp>
        <p:nvSpPr>
          <p:cNvPr id="51" name="Rectangle 50"/>
          <p:cNvSpPr/>
          <p:nvPr/>
        </p:nvSpPr>
        <p:spPr>
          <a:xfrm>
            <a:off x="5669280" y="4498848"/>
            <a:ext cx="315468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760720" y="4572000"/>
            <a:ext cx="3017520" cy="548640"/>
          </a:xfrm>
          <a:prstGeom prst="rect">
            <a:avLst/>
          </a:prstGeom>
          <a:noFill/>
        </p:spPr>
        <p:txBody>
          <a:bodyPr wrap="square">
            <a:spAutoFit/>
          </a:bodyPr>
          <a:lstStyle/>
          <a:p>
            <a:pPr algn="l">
              <a:lnSpc>
                <a:spcPts val="1430"/>
              </a:lnSpc>
              <a:defRPr sz="1100" b="0">
                <a:solidFill>
                  <a:srgbClr val="F8F9FA"/>
                </a:solidFill>
              </a:defRPr>
            </a:pPr>
            <a:r>
              <a:t>35% extension of useful life via SoC control</a:t>
            </a:r>
          </a:p>
        </p:txBody>
      </p:sp>
      <p:sp>
        <p:nvSpPr>
          <p:cNvPr id="53" name="Rectangle 52"/>
          <p:cNvSpPr/>
          <p:nvPr/>
        </p:nvSpPr>
        <p:spPr>
          <a:xfrm>
            <a:off x="8869680" y="4498848"/>
            <a:ext cx="2788920" cy="640080"/>
          </a:xfrm>
          <a:prstGeom prst="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61120" y="4572000"/>
            <a:ext cx="2651760" cy="548640"/>
          </a:xfrm>
          <a:prstGeom prst="rect">
            <a:avLst/>
          </a:prstGeom>
          <a:noFill/>
        </p:spPr>
        <p:txBody>
          <a:bodyPr wrap="square">
            <a:spAutoFit/>
          </a:bodyPr>
          <a:lstStyle/>
          <a:p>
            <a:pPr algn="l">
              <a:lnSpc>
                <a:spcPts val="1430"/>
              </a:lnSpc>
              <a:defRPr sz="1100" b="0">
                <a:solidFill>
                  <a:srgbClr val="F3961C"/>
                </a:solidFill>
              </a:defRPr>
            </a:pPr>
            <a:r>
              <a:t>Simulation-only, no IoT</a:t>
            </a:r>
          </a:p>
        </p:txBody>
      </p:sp>
      <p:sp>
        <p:nvSpPr>
          <p:cNvPr id="55" name="Rounded Rectangle 54"/>
          <p:cNvSpPr/>
          <p:nvPr/>
        </p:nvSpPr>
        <p:spPr>
          <a:xfrm>
            <a:off x="457200" y="5349240"/>
            <a:ext cx="11247120" cy="868680"/>
          </a:xfrm>
          <a:prstGeom prst="roundRect">
            <a:avLst/>
          </a:prstGeom>
          <a:solidFill>
            <a:srgbClr val="0A3D2E"/>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13248"/>
            <a:ext cx="6400800" cy="274320"/>
          </a:xfrm>
          <a:prstGeom prst="rect">
            <a:avLst/>
          </a:prstGeom>
          <a:noFill/>
        </p:spPr>
        <p:txBody>
          <a:bodyPr wrap="square">
            <a:spAutoFit/>
          </a:bodyPr>
          <a:lstStyle/>
          <a:p>
            <a:pPr algn="l">
              <a:lnSpc>
                <a:spcPts val="1690"/>
              </a:lnSpc>
              <a:defRPr sz="1300" b="1">
                <a:solidFill>
                  <a:srgbClr val="2ECC71"/>
                </a:solidFill>
              </a:defRPr>
            </a:pPr>
            <a:r>
              <a:t>→  THIS PROJECT ADDRESSES ALL IDENTIFIED GAPS</a:t>
            </a:r>
          </a:p>
        </p:txBody>
      </p:sp>
      <p:sp>
        <p:nvSpPr>
          <p:cNvPr id="57" name="TextBox 56"/>
          <p:cNvSpPr txBox="1"/>
          <p:nvPr/>
        </p:nvSpPr>
        <p:spPr>
          <a:xfrm>
            <a:off x="731520" y="5715000"/>
            <a:ext cx="10789920" cy="365760"/>
          </a:xfrm>
          <a:prstGeom prst="rect">
            <a:avLst/>
          </a:prstGeom>
          <a:noFill/>
        </p:spPr>
        <p:txBody>
          <a:bodyPr wrap="square">
            <a:spAutoFit/>
          </a:bodyPr>
          <a:lstStyle/>
          <a:p>
            <a:pPr algn="l">
              <a:lnSpc>
                <a:spcPts val="1560"/>
              </a:lnSpc>
              <a:defRPr sz="1200" b="0">
                <a:solidFill>
                  <a:srgbClr val="FFFFFF"/>
                </a:solidFill>
              </a:defRPr>
            </a:pPr>
            <a:r>
              <a:t>Integrated IoT monitoring  •  Real-time embedded control  •  Buffered vs non-buffered comparison  •  Automated cloud data logging</a:t>
            </a:r>
          </a:p>
        </p:txBody>
      </p:sp>
      <p:sp>
        <p:nvSpPr>
          <p:cNvPr id="58" name="TextBox 57"/>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RESEARCH METHODOLOGY</a:t>
            </a:r>
          </a:p>
        </p:txBody>
      </p:sp>
      <p:sp>
        <p:nvSpPr>
          <p:cNvPr id="5" name="TextBox 4"/>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Research Methodology &amp; Development Phases</a:t>
            </a:r>
          </a:p>
        </p:txBody>
      </p:sp>
      <p:sp>
        <p:nvSpPr>
          <p:cNvPr id="6" name="Rectangle 5"/>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371600"/>
            <a:ext cx="5029200" cy="475488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08760"/>
            <a:ext cx="4572000" cy="274320"/>
          </a:xfrm>
          <a:prstGeom prst="rect">
            <a:avLst/>
          </a:prstGeom>
          <a:noFill/>
        </p:spPr>
        <p:txBody>
          <a:bodyPr wrap="square">
            <a:spAutoFit/>
          </a:bodyPr>
          <a:lstStyle/>
          <a:p>
            <a:pPr algn="l">
              <a:lnSpc>
                <a:spcPts val="1560"/>
              </a:lnSpc>
              <a:defRPr sz="1200" b="1">
                <a:solidFill>
                  <a:srgbClr val="00B4D8"/>
                </a:solidFill>
              </a:defRPr>
            </a:pPr>
            <a:r>
              <a:t>METHODOLOGY APPROACH</a:t>
            </a:r>
          </a:p>
        </p:txBody>
      </p:sp>
      <p:sp>
        <p:nvSpPr>
          <p:cNvPr id="9" name="TextBox 8"/>
          <p:cNvSpPr txBox="1"/>
          <p:nvPr/>
        </p:nvSpPr>
        <p:spPr>
          <a:xfrm>
            <a:off x="731520" y="1920240"/>
            <a:ext cx="4572000" cy="4114800"/>
          </a:xfrm>
          <a:prstGeom prst="rect">
            <a:avLst/>
          </a:prstGeom>
          <a:noFill/>
        </p:spPr>
        <p:txBody>
          <a:bodyPr wrap="square">
            <a:spAutoFit/>
          </a:bodyPr>
          <a:lstStyle/>
          <a:p>
            <a:pPr>
              <a:lnSpc>
                <a:spcPts val="1820"/>
              </a:lnSpc>
              <a:defRPr sz="1300">
                <a:solidFill>
                  <a:srgbClr val="F8F9FA"/>
                </a:solidFill>
              </a:defRPr>
            </a:pPr>
            <a:r>
              <a:rPr>
                <a:solidFill>
                  <a:srgbClr val="00B4D8"/>
                </a:solidFill>
              </a:rPr>
              <a:t>▸  Modular hardware + software co-design approach</a:t>
            </a:r>
          </a:p>
          <a:p>
            <a:pPr>
              <a:lnSpc>
                <a:spcPts val="1820"/>
              </a:lnSpc>
              <a:defRPr sz="1300">
                <a:solidFill>
                  <a:srgbClr val="F8F9FA"/>
                </a:solidFill>
              </a:defRPr>
            </a:pPr>
            <a:r>
              <a:rPr>
                <a:solidFill>
                  <a:srgbClr val="00B4D8"/>
                </a:solidFill>
              </a:rPr>
              <a:t>▸  Iterative development: design → implement → test → refine</a:t>
            </a:r>
          </a:p>
          <a:p>
            <a:pPr>
              <a:lnSpc>
                <a:spcPts val="1820"/>
              </a:lnSpc>
              <a:defRPr sz="1300">
                <a:solidFill>
                  <a:srgbClr val="F8F9FA"/>
                </a:solidFill>
              </a:defRPr>
            </a:pPr>
            <a:r>
              <a:rPr>
                <a:solidFill>
                  <a:srgbClr val="00B4D8"/>
                </a:solidFill>
              </a:rPr>
              <a:t>▸  Experimental validation: buffered vs non-buffered comparison</a:t>
            </a:r>
          </a:p>
          <a:p>
            <a:pPr>
              <a:lnSpc>
                <a:spcPts val="1820"/>
              </a:lnSpc>
              <a:defRPr sz="1300">
                <a:solidFill>
                  <a:srgbClr val="F8F9FA"/>
                </a:solidFill>
              </a:defRPr>
            </a:pPr>
            <a:r>
              <a:rPr>
                <a:solidFill>
                  <a:srgbClr val="00B4D8"/>
                </a:solidFill>
              </a:rPr>
              <a:t>▸  Three-part validation strategy:</a:t>
            </a:r>
          </a:p>
          <a:p>
            <a:pPr>
              <a:lnSpc>
                <a:spcPts val="1820"/>
              </a:lnSpc>
              <a:defRPr sz="1300">
                <a:solidFill>
                  <a:srgbClr val="F8F9FA"/>
                </a:solidFill>
              </a:defRPr>
            </a:pPr>
            <a:r>
              <a:rPr>
                <a:solidFill>
                  <a:srgbClr val="00B4D8"/>
                </a:solidFill>
              </a:rPr>
              <a:t>▸      1. Software simulation with realistic models</a:t>
            </a:r>
          </a:p>
          <a:p>
            <a:pPr>
              <a:lnSpc>
                <a:spcPts val="1820"/>
              </a:lnSpc>
              <a:defRPr sz="1300">
                <a:solidFill>
                  <a:srgbClr val="F8F9FA"/>
                </a:solidFill>
              </a:defRPr>
            </a:pPr>
            <a:r>
              <a:rPr>
                <a:solidFill>
                  <a:srgbClr val="00B4D8"/>
                </a:solidFill>
              </a:rPr>
              <a:t>▸      2. Hardware testing with regulated DC as solar simulator</a:t>
            </a:r>
          </a:p>
          <a:p>
            <a:pPr>
              <a:lnSpc>
                <a:spcPts val="1820"/>
              </a:lnSpc>
              <a:defRPr sz="1300">
                <a:solidFill>
                  <a:srgbClr val="F8F9FA"/>
                </a:solidFill>
              </a:defRPr>
            </a:pPr>
            <a:r>
              <a:rPr>
                <a:solidFill>
                  <a:srgbClr val="00B4D8"/>
                </a:solidFill>
              </a:rPr>
              <a:t>▸      3. Comparative analysis of charging metrics</a:t>
            </a:r>
          </a:p>
          <a:p>
            <a:pPr>
              <a:lnSpc>
                <a:spcPts val="1820"/>
              </a:lnSpc>
              <a:defRPr sz="1300">
                <a:solidFill>
                  <a:srgbClr val="F8F9FA"/>
                </a:solidFill>
              </a:defRPr>
            </a:pPr>
            <a:r>
              <a:rPr>
                <a:solidFill>
                  <a:srgbClr val="00B4D8"/>
                </a:solidFill>
              </a:rPr>
              <a:t>▸  Semi-active HBSC topology (supercap via DC-DC converter)</a:t>
            </a:r>
          </a:p>
          <a:p>
            <a:pPr>
              <a:lnSpc>
                <a:spcPts val="1820"/>
              </a:lnSpc>
              <a:defRPr sz="1300">
                <a:solidFill>
                  <a:srgbClr val="F8F9FA"/>
                </a:solidFill>
              </a:defRPr>
            </a:pPr>
            <a:r>
              <a:rPr>
                <a:solidFill>
                  <a:srgbClr val="00B4D8"/>
                </a:solidFill>
              </a:rPr>
              <a:t>▸  Closed-loop PI control for PWM regulation</a:t>
            </a:r>
          </a:p>
        </p:txBody>
      </p:sp>
      <p:sp>
        <p:nvSpPr>
          <p:cNvPr id="10" name="Rounded Rectangle 9"/>
          <p:cNvSpPr/>
          <p:nvPr/>
        </p:nvSpPr>
        <p:spPr>
          <a:xfrm>
            <a:off x="5760720" y="1371600"/>
            <a:ext cx="5943600" cy="685800"/>
          </a:xfrm>
          <a:prstGeom prst="roundRect">
            <a:avLst/>
          </a:prstGeom>
          <a:solidFill>
            <a:srgbClr val="13273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80" y="1508760"/>
            <a:ext cx="365760" cy="365760"/>
          </a:xfrm>
          <a:prstGeom prst="rect">
            <a:avLst/>
          </a:prstGeom>
          <a:noFill/>
        </p:spPr>
        <p:txBody>
          <a:bodyPr wrap="square">
            <a:spAutoFit/>
          </a:bodyPr>
          <a:lstStyle/>
          <a:p>
            <a:pPr algn="l">
              <a:lnSpc>
                <a:spcPts val="2340"/>
              </a:lnSpc>
              <a:defRPr sz="1800" b="0">
                <a:solidFill>
                  <a:srgbClr val="2ECC71"/>
                </a:solidFill>
              </a:defRPr>
            </a:pPr>
            <a:r>
              <a:t>✅</a:t>
            </a:r>
          </a:p>
        </p:txBody>
      </p:sp>
      <p:sp>
        <p:nvSpPr>
          <p:cNvPr id="12" name="TextBox 11"/>
          <p:cNvSpPr txBox="1"/>
          <p:nvPr/>
        </p:nvSpPr>
        <p:spPr>
          <a:xfrm>
            <a:off x="6309360" y="1444752"/>
            <a:ext cx="1097280" cy="274320"/>
          </a:xfrm>
          <a:prstGeom prst="rect">
            <a:avLst/>
          </a:prstGeom>
          <a:noFill/>
        </p:spPr>
        <p:txBody>
          <a:bodyPr wrap="square">
            <a:spAutoFit/>
          </a:bodyPr>
          <a:lstStyle/>
          <a:p>
            <a:pPr algn="l">
              <a:lnSpc>
                <a:spcPts val="1690"/>
              </a:lnSpc>
              <a:defRPr sz="1300" b="1">
                <a:solidFill>
                  <a:srgbClr val="2ECC71"/>
                </a:solidFill>
              </a:defRPr>
            </a:pPr>
            <a:r>
              <a:t>Phase 1</a:t>
            </a:r>
          </a:p>
        </p:txBody>
      </p:sp>
      <p:sp>
        <p:nvSpPr>
          <p:cNvPr id="13" name="TextBox 12"/>
          <p:cNvSpPr txBox="1"/>
          <p:nvPr/>
        </p:nvSpPr>
        <p:spPr>
          <a:xfrm>
            <a:off x="6309360" y="1719072"/>
            <a:ext cx="2743200" cy="274320"/>
          </a:xfrm>
          <a:prstGeom prst="rect">
            <a:avLst/>
          </a:prstGeom>
          <a:noFill/>
        </p:spPr>
        <p:txBody>
          <a:bodyPr wrap="square">
            <a:spAutoFit/>
          </a:bodyPr>
          <a:lstStyle/>
          <a:p>
            <a:pPr algn="l">
              <a:lnSpc>
                <a:spcPts val="1430"/>
              </a:lnSpc>
              <a:defRPr sz="1100" b="0">
                <a:solidFill>
                  <a:srgbClr val="F8F9FA"/>
                </a:solidFill>
              </a:defRPr>
            </a:pPr>
            <a:r>
              <a:t>Design &amp; Planning</a:t>
            </a:r>
          </a:p>
        </p:txBody>
      </p:sp>
      <p:sp>
        <p:nvSpPr>
          <p:cNvPr id="14" name="TextBox 13"/>
          <p:cNvSpPr txBox="1"/>
          <p:nvPr/>
        </p:nvSpPr>
        <p:spPr>
          <a:xfrm>
            <a:off x="9875520" y="1554480"/>
            <a:ext cx="1554480" cy="274320"/>
          </a:xfrm>
          <a:prstGeom prst="rect">
            <a:avLst/>
          </a:prstGeom>
          <a:noFill/>
        </p:spPr>
        <p:txBody>
          <a:bodyPr wrap="square">
            <a:spAutoFit/>
          </a:bodyPr>
          <a:lstStyle/>
          <a:p>
            <a:pPr algn="r">
              <a:lnSpc>
                <a:spcPts val="1430"/>
              </a:lnSpc>
              <a:defRPr sz="1100" b="0">
                <a:solidFill>
                  <a:srgbClr val="ECF0F1"/>
                </a:solidFill>
              </a:defRPr>
            </a:pPr>
            <a:r>
              <a:t>Feb 2026</a:t>
            </a:r>
          </a:p>
        </p:txBody>
      </p:sp>
      <p:sp>
        <p:nvSpPr>
          <p:cNvPr id="15" name="Rounded Rectangle 14"/>
          <p:cNvSpPr/>
          <p:nvPr/>
        </p:nvSpPr>
        <p:spPr>
          <a:xfrm>
            <a:off x="5760720" y="2167128"/>
            <a:ext cx="5943600" cy="685800"/>
          </a:xfrm>
          <a:prstGeom prst="roundRect">
            <a:avLst/>
          </a:prstGeom>
          <a:solidFill>
            <a:srgbClr val="13273F"/>
          </a:solidFill>
          <a:ln w="19050">
            <a:solidFill>
              <a:srgbClr val="F3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97880" y="2304288"/>
            <a:ext cx="365760" cy="365760"/>
          </a:xfrm>
          <a:prstGeom prst="rect">
            <a:avLst/>
          </a:prstGeom>
          <a:noFill/>
        </p:spPr>
        <p:txBody>
          <a:bodyPr wrap="square">
            <a:spAutoFit/>
          </a:bodyPr>
          <a:lstStyle/>
          <a:p>
            <a:pPr algn="l">
              <a:lnSpc>
                <a:spcPts val="2340"/>
              </a:lnSpc>
              <a:defRPr sz="1800" b="0">
                <a:solidFill>
                  <a:srgbClr val="F3961C"/>
                </a:solidFill>
              </a:defRPr>
            </a:pPr>
            <a:r>
              <a:t>🔄</a:t>
            </a:r>
          </a:p>
        </p:txBody>
      </p:sp>
      <p:sp>
        <p:nvSpPr>
          <p:cNvPr id="17" name="TextBox 16"/>
          <p:cNvSpPr txBox="1"/>
          <p:nvPr/>
        </p:nvSpPr>
        <p:spPr>
          <a:xfrm>
            <a:off x="6309360" y="2240280"/>
            <a:ext cx="1097280" cy="274320"/>
          </a:xfrm>
          <a:prstGeom prst="rect">
            <a:avLst/>
          </a:prstGeom>
          <a:noFill/>
        </p:spPr>
        <p:txBody>
          <a:bodyPr wrap="square">
            <a:spAutoFit/>
          </a:bodyPr>
          <a:lstStyle/>
          <a:p>
            <a:pPr algn="l">
              <a:lnSpc>
                <a:spcPts val="1690"/>
              </a:lnSpc>
              <a:defRPr sz="1300" b="1">
                <a:solidFill>
                  <a:srgbClr val="F3961C"/>
                </a:solidFill>
              </a:defRPr>
            </a:pPr>
            <a:r>
              <a:t>Phase 2</a:t>
            </a:r>
          </a:p>
        </p:txBody>
      </p:sp>
      <p:sp>
        <p:nvSpPr>
          <p:cNvPr id="18" name="TextBox 17"/>
          <p:cNvSpPr txBox="1"/>
          <p:nvPr/>
        </p:nvSpPr>
        <p:spPr>
          <a:xfrm>
            <a:off x="6309360" y="2514600"/>
            <a:ext cx="2743200" cy="274320"/>
          </a:xfrm>
          <a:prstGeom prst="rect">
            <a:avLst/>
          </a:prstGeom>
          <a:noFill/>
        </p:spPr>
        <p:txBody>
          <a:bodyPr wrap="square">
            <a:spAutoFit/>
          </a:bodyPr>
          <a:lstStyle/>
          <a:p>
            <a:pPr algn="l">
              <a:lnSpc>
                <a:spcPts val="1430"/>
              </a:lnSpc>
              <a:defRPr sz="1100" b="0">
                <a:solidFill>
                  <a:srgbClr val="F8F9FA"/>
                </a:solidFill>
              </a:defRPr>
            </a:pPr>
            <a:r>
              <a:t>Hardware Setup</a:t>
            </a:r>
          </a:p>
        </p:txBody>
      </p:sp>
      <p:sp>
        <p:nvSpPr>
          <p:cNvPr id="19" name="TextBox 18"/>
          <p:cNvSpPr txBox="1"/>
          <p:nvPr/>
        </p:nvSpPr>
        <p:spPr>
          <a:xfrm>
            <a:off x="9875520" y="2350008"/>
            <a:ext cx="1554480" cy="274320"/>
          </a:xfrm>
          <a:prstGeom prst="rect">
            <a:avLst/>
          </a:prstGeom>
          <a:noFill/>
        </p:spPr>
        <p:txBody>
          <a:bodyPr wrap="square">
            <a:spAutoFit/>
          </a:bodyPr>
          <a:lstStyle/>
          <a:p>
            <a:pPr algn="r">
              <a:lnSpc>
                <a:spcPts val="1430"/>
              </a:lnSpc>
              <a:defRPr sz="1100" b="0">
                <a:solidFill>
                  <a:srgbClr val="ECF0F1"/>
                </a:solidFill>
              </a:defRPr>
            </a:pPr>
            <a:r>
              <a:t>Mar 2026</a:t>
            </a:r>
          </a:p>
        </p:txBody>
      </p:sp>
      <p:sp>
        <p:nvSpPr>
          <p:cNvPr id="20" name="Rounded Rectangle 19"/>
          <p:cNvSpPr/>
          <p:nvPr/>
        </p:nvSpPr>
        <p:spPr>
          <a:xfrm>
            <a:off x="5760720" y="2962656"/>
            <a:ext cx="5943600" cy="685800"/>
          </a:xfrm>
          <a:prstGeom prst="roundRect">
            <a:avLst/>
          </a:prstGeom>
          <a:solidFill>
            <a:srgbClr val="13273F"/>
          </a:solidFill>
          <a:ln w="19050">
            <a:solidFill>
              <a:srgbClr val="F3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97880" y="3099816"/>
            <a:ext cx="365760" cy="365760"/>
          </a:xfrm>
          <a:prstGeom prst="rect">
            <a:avLst/>
          </a:prstGeom>
          <a:noFill/>
        </p:spPr>
        <p:txBody>
          <a:bodyPr wrap="square">
            <a:spAutoFit/>
          </a:bodyPr>
          <a:lstStyle/>
          <a:p>
            <a:pPr algn="l">
              <a:lnSpc>
                <a:spcPts val="2340"/>
              </a:lnSpc>
              <a:defRPr sz="1800" b="0">
                <a:solidFill>
                  <a:srgbClr val="F3961C"/>
                </a:solidFill>
              </a:defRPr>
            </a:pPr>
            <a:r>
              <a:t>🔄</a:t>
            </a:r>
          </a:p>
        </p:txBody>
      </p:sp>
      <p:sp>
        <p:nvSpPr>
          <p:cNvPr id="22" name="TextBox 21"/>
          <p:cNvSpPr txBox="1"/>
          <p:nvPr/>
        </p:nvSpPr>
        <p:spPr>
          <a:xfrm>
            <a:off x="6309360" y="3035808"/>
            <a:ext cx="1097280" cy="274320"/>
          </a:xfrm>
          <a:prstGeom prst="rect">
            <a:avLst/>
          </a:prstGeom>
          <a:noFill/>
        </p:spPr>
        <p:txBody>
          <a:bodyPr wrap="square">
            <a:spAutoFit/>
          </a:bodyPr>
          <a:lstStyle/>
          <a:p>
            <a:pPr algn="l">
              <a:lnSpc>
                <a:spcPts val="1690"/>
              </a:lnSpc>
              <a:defRPr sz="1300" b="1">
                <a:solidFill>
                  <a:srgbClr val="F3961C"/>
                </a:solidFill>
              </a:defRPr>
            </a:pPr>
            <a:r>
              <a:t>Phase 3</a:t>
            </a:r>
          </a:p>
        </p:txBody>
      </p:sp>
      <p:sp>
        <p:nvSpPr>
          <p:cNvPr id="23" name="TextBox 22"/>
          <p:cNvSpPr txBox="1"/>
          <p:nvPr/>
        </p:nvSpPr>
        <p:spPr>
          <a:xfrm>
            <a:off x="6309360" y="3310128"/>
            <a:ext cx="2743200" cy="274320"/>
          </a:xfrm>
          <a:prstGeom prst="rect">
            <a:avLst/>
          </a:prstGeom>
          <a:noFill/>
        </p:spPr>
        <p:txBody>
          <a:bodyPr wrap="square">
            <a:spAutoFit/>
          </a:bodyPr>
          <a:lstStyle/>
          <a:p>
            <a:pPr algn="l">
              <a:lnSpc>
                <a:spcPts val="1430"/>
              </a:lnSpc>
              <a:defRPr sz="1100" b="0">
                <a:solidFill>
                  <a:srgbClr val="F8F9FA"/>
                </a:solidFill>
              </a:defRPr>
            </a:pPr>
            <a:r>
              <a:t>Firmware Development</a:t>
            </a:r>
          </a:p>
        </p:txBody>
      </p:sp>
      <p:sp>
        <p:nvSpPr>
          <p:cNvPr id="24" name="TextBox 23"/>
          <p:cNvSpPr txBox="1"/>
          <p:nvPr/>
        </p:nvSpPr>
        <p:spPr>
          <a:xfrm>
            <a:off x="9875520" y="3145536"/>
            <a:ext cx="1554480" cy="274320"/>
          </a:xfrm>
          <a:prstGeom prst="rect">
            <a:avLst/>
          </a:prstGeom>
          <a:noFill/>
        </p:spPr>
        <p:txBody>
          <a:bodyPr wrap="square">
            <a:spAutoFit/>
          </a:bodyPr>
          <a:lstStyle/>
          <a:p>
            <a:pPr algn="r">
              <a:lnSpc>
                <a:spcPts val="1430"/>
              </a:lnSpc>
              <a:defRPr sz="1100" b="0">
                <a:solidFill>
                  <a:srgbClr val="ECF0F1"/>
                </a:solidFill>
              </a:defRPr>
            </a:pPr>
            <a:r>
              <a:t>Mar–Apr 2026</a:t>
            </a:r>
          </a:p>
        </p:txBody>
      </p:sp>
      <p:sp>
        <p:nvSpPr>
          <p:cNvPr id="25" name="Rounded Rectangle 24"/>
          <p:cNvSpPr/>
          <p:nvPr/>
        </p:nvSpPr>
        <p:spPr>
          <a:xfrm>
            <a:off x="5760720" y="3758184"/>
            <a:ext cx="5943600" cy="685800"/>
          </a:xfrm>
          <a:prstGeom prst="roundRect">
            <a:avLst/>
          </a:prstGeom>
          <a:solidFill>
            <a:srgbClr val="13273F"/>
          </a:solidFill>
          <a:ln w="19050">
            <a:solidFill>
              <a:srgbClr val="ECF0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97880" y="3895344"/>
            <a:ext cx="365760" cy="365760"/>
          </a:xfrm>
          <a:prstGeom prst="rect">
            <a:avLst/>
          </a:prstGeom>
          <a:noFill/>
        </p:spPr>
        <p:txBody>
          <a:bodyPr wrap="square">
            <a:spAutoFit/>
          </a:bodyPr>
          <a:lstStyle/>
          <a:p>
            <a:pPr algn="l">
              <a:lnSpc>
                <a:spcPts val="2340"/>
              </a:lnSpc>
              <a:defRPr sz="1800" b="0">
                <a:solidFill>
                  <a:srgbClr val="ECF0F1"/>
                </a:solidFill>
              </a:defRPr>
            </a:pPr>
            <a:r>
              <a:t>📅</a:t>
            </a:r>
          </a:p>
        </p:txBody>
      </p:sp>
      <p:sp>
        <p:nvSpPr>
          <p:cNvPr id="27" name="TextBox 26"/>
          <p:cNvSpPr txBox="1"/>
          <p:nvPr/>
        </p:nvSpPr>
        <p:spPr>
          <a:xfrm>
            <a:off x="6309360" y="3831336"/>
            <a:ext cx="1097280" cy="274320"/>
          </a:xfrm>
          <a:prstGeom prst="rect">
            <a:avLst/>
          </a:prstGeom>
          <a:noFill/>
        </p:spPr>
        <p:txBody>
          <a:bodyPr wrap="square">
            <a:spAutoFit/>
          </a:bodyPr>
          <a:lstStyle/>
          <a:p>
            <a:pPr algn="l">
              <a:lnSpc>
                <a:spcPts val="1690"/>
              </a:lnSpc>
              <a:defRPr sz="1300" b="1">
                <a:solidFill>
                  <a:srgbClr val="ECF0F1"/>
                </a:solidFill>
              </a:defRPr>
            </a:pPr>
            <a:r>
              <a:t>Phase 4</a:t>
            </a:r>
          </a:p>
        </p:txBody>
      </p:sp>
      <p:sp>
        <p:nvSpPr>
          <p:cNvPr id="28" name="TextBox 27"/>
          <p:cNvSpPr txBox="1"/>
          <p:nvPr/>
        </p:nvSpPr>
        <p:spPr>
          <a:xfrm>
            <a:off x="6309360" y="4105656"/>
            <a:ext cx="2743200" cy="274320"/>
          </a:xfrm>
          <a:prstGeom prst="rect">
            <a:avLst/>
          </a:prstGeom>
          <a:noFill/>
        </p:spPr>
        <p:txBody>
          <a:bodyPr wrap="square">
            <a:spAutoFit/>
          </a:bodyPr>
          <a:lstStyle/>
          <a:p>
            <a:pPr algn="l">
              <a:lnSpc>
                <a:spcPts val="1430"/>
              </a:lnSpc>
              <a:defRPr sz="1100" b="0">
                <a:solidFill>
                  <a:srgbClr val="F8F9FA"/>
                </a:solidFill>
              </a:defRPr>
            </a:pPr>
            <a:r>
              <a:t>IoT Integration</a:t>
            </a:r>
          </a:p>
        </p:txBody>
      </p:sp>
      <p:sp>
        <p:nvSpPr>
          <p:cNvPr id="29" name="TextBox 28"/>
          <p:cNvSpPr txBox="1"/>
          <p:nvPr/>
        </p:nvSpPr>
        <p:spPr>
          <a:xfrm>
            <a:off x="9875520" y="3941064"/>
            <a:ext cx="1554480" cy="274320"/>
          </a:xfrm>
          <a:prstGeom prst="rect">
            <a:avLst/>
          </a:prstGeom>
          <a:noFill/>
        </p:spPr>
        <p:txBody>
          <a:bodyPr wrap="square">
            <a:spAutoFit/>
          </a:bodyPr>
          <a:lstStyle/>
          <a:p>
            <a:pPr algn="r">
              <a:lnSpc>
                <a:spcPts val="1430"/>
              </a:lnSpc>
              <a:defRPr sz="1100" b="0">
                <a:solidFill>
                  <a:srgbClr val="ECF0F1"/>
                </a:solidFill>
              </a:defRPr>
            </a:pPr>
            <a:r>
              <a:t>Apr 2026</a:t>
            </a:r>
          </a:p>
        </p:txBody>
      </p:sp>
      <p:sp>
        <p:nvSpPr>
          <p:cNvPr id="30" name="Rounded Rectangle 29"/>
          <p:cNvSpPr/>
          <p:nvPr/>
        </p:nvSpPr>
        <p:spPr>
          <a:xfrm>
            <a:off x="5760720" y="4553712"/>
            <a:ext cx="5943600" cy="685800"/>
          </a:xfrm>
          <a:prstGeom prst="roundRect">
            <a:avLst/>
          </a:prstGeom>
          <a:solidFill>
            <a:srgbClr val="13273F"/>
          </a:solidFill>
          <a:ln w="19050">
            <a:solidFill>
              <a:srgbClr val="ECF0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97880" y="4690872"/>
            <a:ext cx="365760" cy="365760"/>
          </a:xfrm>
          <a:prstGeom prst="rect">
            <a:avLst/>
          </a:prstGeom>
          <a:noFill/>
        </p:spPr>
        <p:txBody>
          <a:bodyPr wrap="square">
            <a:spAutoFit/>
          </a:bodyPr>
          <a:lstStyle/>
          <a:p>
            <a:pPr algn="l">
              <a:lnSpc>
                <a:spcPts val="2340"/>
              </a:lnSpc>
              <a:defRPr sz="1800" b="0">
                <a:solidFill>
                  <a:srgbClr val="ECF0F1"/>
                </a:solidFill>
              </a:defRPr>
            </a:pPr>
            <a:r>
              <a:t>📅</a:t>
            </a:r>
          </a:p>
        </p:txBody>
      </p:sp>
      <p:sp>
        <p:nvSpPr>
          <p:cNvPr id="32" name="TextBox 31"/>
          <p:cNvSpPr txBox="1"/>
          <p:nvPr/>
        </p:nvSpPr>
        <p:spPr>
          <a:xfrm>
            <a:off x="6309360" y="4626864"/>
            <a:ext cx="1097280" cy="274320"/>
          </a:xfrm>
          <a:prstGeom prst="rect">
            <a:avLst/>
          </a:prstGeom>
          <a:noFill/>
        </p:spPr>
        <p:txBody>
          <a:bodyPr wrap="square">
            <a:spAutoFit/>
          </a:bodyPr>
          <a:lstStyle/>
          <a:p>
            <a:pPr algn="l">
              <a:lnSpc>
                <a:spcPts val="1690"/>
              </a:lnSpc>
              <a:defRPr sz="1300" b="1">
                <a:solidFill>
                  <a:srgbClr val="ECF0F1"/>
                </a:solidFill>
              </a:defRPr>
            </a:pPr>
            <a:r>
              <a:t>Phase 5</a:t>
            </a:r>
          </a:p>
        </p:txBody>
      </p:sp>
      <p:sp>
        <p:nvSpPr>
          <p:cNvPr id="33" name="TextBox 32"/>
          <p:cNvSpPr txBox="1"/>
          <p:nvPr/>
        </p:nvSpPr>
        <p:spPr>
          <a:xfrm>
            <a:off x="6309360" y="4901184"/>
            <a:ext cx="2743200" cy="274320"/>
          </a:xfrm>
          <a:prstGeom prst="rect">
            <a:avLst/>
          </a:prstGeom>
          <a:noFill/>
        </p:spPr>
        <p:txBody>
          <a:bodyPr wrap="square">
            <a:spAutoFit/>
          </a:bodyPr>
          <a:lstStyle/>
          <a:p>
            <a:pPr algn="l">
              <a:lnSpc>
                <a:spcPts val="1430"/>
              </a:lnSpc>
              <a:defRPr sz="1100" b="0">
                <a:solidFill>
                  <a:srgbClr val="F8F9FA"/>
                </a:solidFill>
              </a:defRPr>
            </a:pPr>
            <a:r>
              <a:t>Testing &amp; Validation</a:t>
            </a:r>
          </a:p>
        </p:txBody>
      </p:sp>
      <p:sp>
        <p:nvSpPr>
          <p:cNvPr id="34" name="TextBox 33"/>
          <p:cNvSpPr txBox="1"/>
          <p:nvPr/>
        </p:nvSpPr>
        <p:spPr>
          <a:xfrm>
            <a:off x="9875520" y="4736592"/>
            <a:ext cx="1554480" cy="274320"/>
          </a:xfrm>
          <a:prstGeom prst="rect">
            <a:avLst/>
          </a:prstGeom>
          <a:noFill/>
        </p:spPr>
        <p:txBody>
          <a:bodyPr wrap="square">
            <a:spAutoFit/>
          </a:bodyPr>
          <a:lstStyle/>
          <a:p>
            <a:pPr algn="r">
              <a:lnSpc>
                <a:spcPts val="1430"/>
              </a:lnSpc>
              <a:defRPr sz="1100" b="0">
                <a:solidFill>
                  <a:srgbClr val="ECF0F1"/>
                </a:solidFill>
              </a:defRPr>
            </a:pPr>
            <a:r>
              <a:t>Apr–May 2026</a:t>
            </a:r>
          </a:p>
        </p:txBody>
      </p:sp>
      <p:sp>
        <p:nvSpPr>
          <p:cNvPr id="35" name="Rounded Rectangle 34"/>
          <p:cNvSpPr/>
          <p:nvPr/>
        </p:nvSpPr>
        <p:spPr>
          <a:xfrm>
            <a:off x="5760720" y="5349240"/>
            <a:ext cx="5943600" cy="685800"/>
          </a:xfrm>
          <a:prstGeom prst="roundRect">
            <a:avLst/>
          </a:prstGeom>
          <a:solidFill>
            <a:srgbClr val="13273F"/>
          </a:solidFill>
          <a:ln w="19050">
            <a:solidFill>
              <a:srgbClr val="ECF0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97880" y="5486400"/>
            <a:ext cx="365760" cy="365760"/>
          </a:xfrm>
          <a:prstGeom prst="rect">
            <a:avLst/>
          </a:prstGeom>
          <a:noFill/>
        </p:spPr>
        <p:txBody>
          <a:bodyPr wrap="square">
            <a:spAutoFit/>
          </a:bodyPr>
          <a:lstStyle/>
          <a:p>
            <a:pPr algn="l">
              <a:lnSpc>
                <a:spcPts val="2340"/>
              </a:lnSpc>
              <a:defRPr sz="1800" b="0">
                <a:solidFill>
                  <a:srgbClr val="ECF0F1"/>
                </a:solidFill>
              </a:defRPr>
            </a:pPr>
            <a:r>
              <a:t>📅</a:t>
            </a:r>
          </a:p>
        </p:txBody>
      </p:sp>
      <p:sp>
        <p:nvSpPr>
          <p:cNvPr id="37" name="TextBox 36"/>
          <p:cNvSpPr txBox="1"/>
          <p:nvPr/>
        </p:nvSpPr>
        <p:spPr>
          <a:xfrm>
            <a:off x="6309360" y="5422392"/>
            <a:ext cx="1097280" cy="274320"/>
          </a:xfrm>
          <a:prstGeom prst="rect">
            <a:avLst/>
          </a:prstGeom>
          <a:noFill/>
        </p:spPr>
        <p:txBody>
          <a:bodyPr wrap="square">
            <a:spAutoFit/>
          </a:bodyPr>
          <a:lstStyle/>
          <a:p>
            <a:pPr algn="l">
              <a:lnSpc>
                <a:spcPts val="1690"/>
              </a:lnSpc>
              <a:defRPr sz="1300" b="1">
                <a:solidFill>
                  <a:srgbClr val="ECF0F1"/>
                </a:solidFill>
              </a:defRPr>
            </a:pPr>
            <a:r>
              <a:t>Phase 6</a:t>
            </a:r>
          </a:p>
        </p:txBody>
      </p:sp>
      <p:sp>
        <p:nvSpPr>
          <p:cNvPr id="38" name="TextBox 37"/>
          <p:cNvSpPr txBox="1"/>
          <p:nvPr/>
        </p:nvSpPr>
        <p:spPr>
          <a:xfrm>
            <a:off x="6309360" y="5696712"/>
            <a:ext cx="2743200" cy="274320"/>
          </a:xfrm>
          <a:prstGeom prst="rect">
            <a:avLst/>
          </a:prstGeom>
          <a:noFill/>
        </p:spPr>
        <p:txBody>
          <a:bodyPr wrap="square">
            <a:spAutoFit/>
          </a:bodyPr>
          <a:lstStyle/>
          <a:p>
            <a:pPr algn="l">
              <a:lnSpc>
                <a:spcPts val="1430"/>
              </a:lnSpc>
              <a:defRPr sz="1100" b="0">
                <a:solidFill>
                  <a:srgbClr val="F8F9FA"/>
                </a:solidFill>
              </a:defRPr>
            </a:pPr>
            <a:r>
              <a:t>Final Documentation</a:t>
            </a:r>
          </a:p>
        </p:txBody>
      </p:sp>
      <p:sp>
        <p:nvSpPr>
          <p:cNvPr id="39" name="TextBox 38"/>
          <p:cNvSpPr txBox="1"/>
          <p:nvPr/>
        </p:nvSpPr>
        <p:spPr>
          <a:xfrm>
            <a:off x="9875520" y="5532120"/>
            <a:ext cx="1554480" cy="274320"/>
          </a:xfrm>
          <a:prstGeom prst="rect">
            <a:avLst/>
          </a:prstGeom>
          <a:noFill/>
        </p:spPr>
        <p:txBody>
          <a:bodyPr wrap="square">
            <a:spAutoFit/>
          </a:bodyPr>
          <a:lstStyle/>
          <a:p>
            <a:pPr algn="r">
              <a:lnSpc>
                <a:spcPts val="1430"/>
              </a:lnSpc>
              <a:defRPr sz="1100" b="0">
                <a:solidFill>
                  <a:srgbClr val="ECF0F1"/>
                </a:solidFill>
              </a:defRPr>
            </a:pPr>
            <a:r>
              <a:t>May 2026</a:t>
            </a:r>
          </a:p>
        </p:txBody>
      </p:sp>
      <p:sp>
        <p:nvSpPr>
          <p:cNvPr id="40" name="TextBox 39"/>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RESEARCH METHODOLOGY</a:t>
            </a:r>
          </a:p>
        </p:txBody>
      </p:sp>
      <p:sp>
        <p:nvSpPr>
          <p:cNvPr id="5" name="TextBox 4"/>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System Architecture &amp; Component Design</a:t>
            </a:r>
          </a:p>
        </p:txBody>
      </p:sp>
      <p:sp>
        <p:nvSpPr>
          <p:cNvPr id="6" name="Rectangle 5"/>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645920"/>
            <a:ext cx="2194560" cy="1097280"/>
          </a:xfrm>
          <a:prstGeom prst="roundRect">
            <a:avLst/>
          </a:prstGeom>
          <a:solidFill>
            <a:srgbClr val="13273F"/>
          </a:solidFill>
          <a:ln w="19050">
            <a:solidFill>
              <a:srgbClr val="F3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800"/>
            <a:ext cx="2011680" cy="320040"/>
          </a:xfrm>
          <a:prstGeom prst="rect">
            <a:avLst/>
          </a:prstGeom>
          <a:noFill/>
        </p:spPr>
        <p:txBody>
          <a:bodyPr wrap="square">
            <a:spAutoFit/>
          </a:bodyPr>
          <a:lstStyle/>
          <a:p>
            <a:pPr algn="ctr">
              <a:lnSpc>
                <a:spcPts val="1690"/>
              </a:lnSpc>
              <a:defRPr sz="1300" b="1">
                <a:solidFill>
                  <a:srgbClr val="F3961C"/>
                </a:solidFill>
              </a:defRPr>
            </a:pPr>
            <a:r>
              <a:t>DC Power Supply</a:t>
            </a:r>
          </a:p>
        </p:txBody>
      </p:sp>
      <p:sp>
        <p:nvSpPr>
          <p:cNvPr id="9" name="TextBox 8"/>
          <p:cNvSpPr txBox="1"/>
          <p:nvPr/>
        </p:nvSpPr>
        <p:spPr>
          <a:xfrm>
            <a:off x="548640" y="2148840"/>
            <a:ext cx="2011680" cy="320040"/>
          </a:xfrm>
          <a:prstGeom prst="rect">
            <a:avLst/>
          </a:prstGeom>
          <a:noFill/>
        </p:spPr>
        <p:txBody>
          <a:bodyPr wrap="square">
            <a:spAutoFit/>
          </a:bodyPr>
          <a:lstStyle/>
          <a:p>
            <a:pPr algn="ctr">
              <a:lnSpc>
                <a:spcPts val="1300"/>
              </a:lnSpc>
              <a:defRPr sz="1000" b="0">
                <a:solidFill>
                  <a:srgbClr val="ECF0F1"/>
                </a:solidFill>
              </a:defRPr>
            </a:pPr>
            <a:r>
              <a:t>(5V–12V Solar Sim)</a:t>
            </a:r>
          </a:p>
        </p:txBody>
      </p:sp>
      <p:sp>
        <p:nvSpPr>
          <p:cNvPr id="10" name="Rounded Rectangle 9"/>
          <p:cNvSpPr/>
          <p:nvPr/>
        </p:nvSpPr>
        <p:spPr>
          <a:xfrm>
            <a:off x="3200400" y="1645920"/>
            <a:ext cx="2194560" cy="1097280"/>
          </a:xfrm>
          <a:prstGeom prst="roundRect">
            <a:avLst/>
          </a:prstGeom>
          <a:solidFill>
            <a:srgbClr val="13273F"/>
          </a:solidFill>
          <a:ln w="19050">
            <a:solidFill>
              <a:srgbClr val="418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828800"/>
            <a:ext cx="2011680" cy="320040"/>
          </a:xfrm>
          <a:prstGeom prst="rect">
            <a:avLst/>
          </a:prstGeom>
          <a:noFill/>
        </p:spPr>
        <p:txBody>
          <a:bodyPr wrap="square">
            <a:spAutoFit/>
          </a:bodyPr>
          <a:lstStyle/>
          <a:p>
            <a:pPr algn="ctr">
              <a:lnSpc>
                <a:spcPts val="1690"/>
              </a:lnSpc>
              <a:defRPr sz="1300" b="1">
                <a:solidFill>
                  <a:srgbClr val="418FDE"/>
                </a:solidFill>
              </a:defRPr>
            </a:pPr>
            <a:r>
              <a:t>DC-DC Converter</a:t>
            </a:r>
          </a:p>
        </p:txBody>
      </p:sp>
      <p:sp>
        <p:nvSpPr>
          <p:cNvPr id="12" name="TextBox 11"/>
          <p:cNvSpPr txBox="1"/>
          <p:nvPr/>
        </p:nvSpPr>
        <p:spPr>
          <a:xfrm>
            <a:off x="3291840" y="2148840"/>
            <a:ext cx="2011680" cy="320040"/>
          </a:xfrm>
          <a:prstGeom prst="rect">
            <a:avLst/>
          </a:prstGeom>
          <a:noFill/>
        </p:spPr>
        <p:txBody>
          <a:bodyPr wrap="square">
            <a:spAutoFit/>
          </a:bodyPr>
          <a:lstStyle/>
          <a:p>
            <a:pPr algn="ctr">
              <a:lnSpc>
                <a:spcPts val="1300"/>
              </a:lnSpc>
              <a:defRPr sz="1000" b="0">
                <a:solidFill>
                  <a:srgbClr val="ECF0F1"/>
                </a:solidFill>
              </a:defRPr>
            </a:pPr>
            <a:r>
              <a:t>(PWM Controlled)</a:t>
            </a:r>
          </a:p>
        </p:txBody>
      </p:sp>
      <p:sp>
        <p:nvSpPr>
          <p:cNvPr id="13" name="Rounded Rectangle 12"/>
          <p:cNvSpPr/>
          <p:nvPr/>
        </p:nvSpPr>
        <p:spPr>
          <a:xfrm>
            <a:off x="5943600" y="1645920"/>
            <a:ext cx="2194560" cy="1097280"/>
          </a:xfrm>
          <a:prstGeom prst="roundRect">
            <a:avLst/>
          </a:prstGeom>
          <a:solidFill>
            <a:srgbClr val="13273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1828800"/>
            <a:ext cx="2011680" cy="320040"/>
          </a:xfrm>
          <a:prstGeom prst="rect">
            <a:avLst/>
          </a:prstGeom>
          <a:noFill/>
        </p:spPr>
        <p:txBody>
          <a:bodyPr wrap="square">
            <a:spAutoFit/>
          </a:bodyPr>
          <a:lstStyle/>
          <a:p>
            <a:pPr algn="ctr">
              <a:lnSpc>
                <a:spcPts val="1690"/>
              </a:lnSpc>
              <a:defRPr sz="1300" b="1">
                <a:solidFill>
                  <a:srgbClr val="2ECC71"/>
                </a:solidFill>
              </a:defRPr>
            </a:pPr>
            <a:r>
              <a:t>Supercapacitor</a:t>
            </a:r>
          </a:p>
        </p:txBody>
      </p:sp>
      <p:sp>
        <p:nvSpPr>
          <p:cNvPr id="15" name="TextBox 14"/>
          <p:cNvSpPr txBox="1"/>
          <p:nvPr/>
        </p:nvSpPr>
        <p:spPr>
          <a:xfrm>
            <a:off x="6035040" y="2148840"/>
            <a:ext cx="2011680" cy="320040"/>
          </a:xfrm>
          <a:prstGeom prst="rect">
            <a:avLst/>
          </a:prstGeom>
          <a:noFill/>
        </p:spPr>
        <p:txBody>
          <a:bodyPr wrap="square">
            <a:spAutoFit/>
          </a:bodyPr>
          <a:lstStyle/>
          <a:p>
            <a:pPr algn="ctr">
              <a:lnSpc>
                <a:spcPts val="1300"/>
              </a:lnSpc>
              <a:defRPr sz="1000" b="0">
                <a:solidFill>
                  <a:srgbClr val="ECF0F1"/>
                </a:solidFill>
              </a:defRPr>
            </a:pPr>
            <a:r>
              <a:t>(Energy Buffer)</a:t>
            </a:r>
          </a:p>
        </p:txBody>
      </p:sp>
      <p:sp>
        <p:nvSpPr>
          <p:cNvPr id="16" name="Rounded Rectangle 15"/>
          <p:cNvSpPr/>
          <p:nvPr/>
        </p:nvSpPr>
        <p:spPr>
          <a:xfrm>
            <a:off x="8686800" y="1645920"/>
            <a:ext cx="2194560" cy="1097280"/>
          </a:xfrm>
          <a:prstGeom prst="roundRect">
            <a:avLst/>
          </a:prstGeom>
          <a:solidFill>
            <a:srgbClr val="13273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1828800"/>
            <a:ext cx="2011680" cy="320040"/>
          </a:xfrm>
          <a:prstGeom prst="rect">
            <a:avLst/>
          </a:prstGeom>
          <a:noFill/>
        </p:spPr>
        <p:txBody>
          <a:bodyPr wrap="square">
            <a:spAutoFit/>
          </a:bodyPr>
          <a:lstStyle/>
          <a:p>
            <a:pPr algn="ctr">
              <a:lnSpc>
                <a:spcPts val="1690"/>
              </a:lnSpc>
              <a:defRPr sz="1300" b="1">
                <a:solidFill>
                  <a:srgbClr val="00B4D8"/>
                </a:solidFill>
              </a:defRPr>
            </a:pPr>
            <a:r>
              <a:t>Battery / Load</a:t>
            </a:r>
          </a:p>
        </p:txBody>
      </p:sp>
      <p:sp>
        <p:nvSpPr>
          <p:cNvPr id="18" name="TextBox 17"/>
          <p:cNvSpPr txBox="1"/>
          <p:nvPr/>
        </p:nvSpPr>
        <p:spPr>
          <a:xfrm>
            <a:off x="8778240" y="2148840"/>
            <a:ext cx="2011680" cy="320040"/>
          </a:xfrm>
          <a:prstGeom prst="rect">
            <a:avLst/>
          </a:prstGeom>
          <a:noFill/>
        </p:spPr>
        <p:txBody>
          <a:bodyPr wrap="square">
            <a:spAutoFit/>
          </a:bodyPr>
          <a:lstStyle/>
          <a:p>
            <a:pPr algn="ctr">
              <a:lnSpc>
                <a:spcPts val="1300"/>
              </a:lnSpc>
              <a:defRPr sz="1000" b="0">
                <a:solidFill>
                  <a:srgbClr val="ECF0F1"/>
                </a:solidFill>
              </a:defRPr>
            </a:pPr>
            <a:r>
              <a:t>(Charging Target)</a:t>
            </a:r>
          </a:p>
        </p:txBody>
      </p:sp>
      <p:sp>
        <p:nvSpPr>
          <p:cNvPr id="19" name="Right Arrow 18"/>
          <p:cNvSpPr/>
          <p:nvPr/>
        </p:nvSpPr>
        <p:spPr>
          <a:xfrm>
            <a:off x="2651760" y="1965960"/>
            <a:ext cx="548640" cy="365760"/>
          </a:xfrm>
          <a:prstGeom prst="rightArrow">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5394960" y="1965960"/>
            <a:ext cx="548640" cy="365760"/>
          </a:xfrm>
          <a:prstGeom prst="rightArrow">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8138160" y="1965960"/>
            <a:ext cx="548640" cy="365760"/>
          </a:xfrm>
          <a:prstGeom prst="rightArrow">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57200" y="3108960"/>
            <a:ext cx="5029200" cy="1463040"/>
          </a:xfrm>
          <a:prstGeom prst="roundRect">
            <a:avLst/>
          </a:prstGeom>
          <a:solidFill>
            <a:srgbClr val="13273F"/>
          </a:solidFill>
          <a:ln w="19050">
            <a:solidFill>
              <a:srgbClr val="418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200400"/>
            <a:ext cx="4572000" cy="274320"/>
          </a:xfrm>
          <a:prstGeom prst="rect">
            <a:avLst/>
          </a:prstGeom>
          <a:noFill/>
        </p:spPr>
        <p:txBody>
          <a:bodyPr wrap="square">
            <a:spAutoFit/>
          </a:bodyPr>
          <a:lstStyle/>
          <a:p>
            <a:pPr algn="l">
              <a:lnSpc>
                <a:spcPts val="1560"/>
              </a:lnSpc>
              <a:defRPr sz="1200" b="1">
                <a:solidFill>
                  <a:srgbClr val="418FDE"/>
                </a:solidFill>
              </a:defRPr>
            </a:pPr>
            <a:r>
              <a:t>STM32F446RE — SENSING &amp; CONTROL</a:t>
            </a:r>
          </a:p>
        </p:txBody>
      </p:sp>
      <p:sp>
        <p:nvSpPr>
          <p:cNvPr id="24" name="TextBox 23"/>
          <p:cNvSpPr txBox="1"/>
          <p:nvPr/>
        </p:nvSpPr>
        <p:spPr>
          <a:xfrm>
            <a:off x="731520" y="3520440"/>
            <a:ext cx="4572000" cy="1005840"/>
          </a:xfrm>
          <a:prstGeom prst="rect">
            <a:avLst/>
          </a:prstGeom>
          <a:noFill/>
        </p:spPr>
        <p:txBody>
          <a:bodyPr wrap="square">
            <a:spAutoFit/>
          </a:bodyPr>
          <a:lstStyle/>
          <a:p>
            <a:pPr>
              <a:lnSpc>
                <a:spcPts val="1650"/>
              </a:lnSpc>
              <a:defRPr sz="1100">
                <a:solidFill>
                  <a:srgbClr val="F8F9FA"/>
                </a:solidFill>
              </a:defRPr>
            </a:pPr>
            <a:r>
              <a:rPr>
                <a:solidFill>
                  <a:srgbClr val="418FDE"/>
                </a:solidFill>
              </a:rPr>
              <a:t>▸  ADC: Voltage &amp; current sensing (12-bit, 1 kHz, DMA)</a:t>
            </a:r>
          </a:p>
          <a:p>
            <a:pPr>
              <a:lnSpc>
                <a:spcPts val="1650"/>
              </a:lnSpc>
              <a:defRPr sz="1100">
                <a:solidFill>
                  <a:srgbClr val="F8F9FA"/>
                </a:solidFill>
              </a:defRPr>
            </a:pPr>
            <a:r>
              <a:rPr>
                <a:solidFill>
                  <a:srgbClr val="418FDE"/>
                </a:solidFill>
              </a:rPr>
              <a:t>▸  PWM: DC-DC converter control (TIM1, 20 kHz)</a:t>
            </a:r>
          </a:p>
          <a:p>
            <a:pPr>
              <a:lnSpc>
                <a:spcPts val="1650"/>
              </a:lnSpc>
              <a:defRPr sz="1100">
                <a:solidFill>
                  <a:srgbClr val="F8F9FA"/>
                </a:solidFill>
              </a:defRPr>
            </a:pPr>
            <a:r>
              <a:rPr>
                <a:solidFill>
                  <a:srgbClr val="418FDE"/>
                </a:solidFill>
              </a:rPr>
              <a:t>▸  Computation: P=V×I, Energy integration, SoC tracking</a:t>
            </a:r>
          </a:p>
          <a:p>
            <a:pPr>
              <a:lnSpc>
                <a:spcPts val="1650"/>
              </a:lnSpc>
              <a:defRPr sz="1100">
                <a:solidFill>
                  <a:srgbClr val="F8F9FA"/>
                </a:solidFill>
              </a:defRPr>
            </a:pPr>
            <a:r>
              <a:rPr>
                <a:solidFill>
                  <a:srgbClr val="418FDE"/>
                </a:solidFill>
              </a:rPr>
              <a:t>▸  Protection: 3-level hierarchy (Warning → Soft → Hard fault)</a:t>
            </a:r>
          </a:p>
        </p:txBody>
      </p:sp>
      <p:sp>
        <p:nvSpPr>
          <p:cNvPr id="25" name="Rounded Rectangle 24"/>
          <p:cNvSpPr/>
          <p:nvPr/>
        </p:nvSpPr>
        <p:spPr>
          <a:xfrm>
            <a:off x="5760720" y="3108960"/>
            <a:ext cx="5669280" cy="1463040"/>
          </a:xfrm>
          <a:prstGeom prst="roundRect">
            <a:avLst/>
          </a:prstGeom>
          <a:solidFill>
            <a:srgbClr val="13273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3200400"/>
            <a:ext cx="4572000" cy="274320"/>
          </a:xfrm>
          <a:prstGeom prst="rect">
            <a:avLst/>
          </a:prstGeom>
          <a:noFill/>
        </p:spPr>
        <p:txBody>
          <a:bodyPr wrap="square">
            <a:spAutoFit/>
          </a:bodyPr>
          <a:lstStyle/>
          <a:p>
            <a:pPr algn="l">
              <a:lnSpc>
                <a:spcPts val="1560"/>
              </a:lnSpc>
              <a:defRPr sz="1200" b="1">
                <a:solidFill>
                  <a:srgbClr val="00B4D8"/>
                </a:solidFill>
              </a:defRPr>
            </a:pPr>
            <a:r>
              <a:t>ESP8266 + CLOUD — IoT LAYER</a:t>
            </a:r>
          </a:p>
        </p:txBody>
      </p:sp>
      <p:sp>
        <p:nvSpPr>
          <p:cNvPr id="27" name="TextBox 26"/>
          <p:cNvSpPr txBox="1"/>
          <p:nvPr/>
        </p:nvSpPr>
        <p:spPr>
          <a:xfrm>
            <a:off x="6035040" y="3520440"/>
            <a:ext cx="5029200" cy="1005840"/>
          </a:xfrm>
          <a:prstGeom prst="rect">
            <a:avLst/>
          </a:prstGeom>
          <a:noFill/>
        </p:spPr>
        <p:txBody>
          <a:bodyPr wrap="square">
            <a:spAutoFit/>
          </a:bodyPr>
          <a:lstStyle/>
          <a:p>
            <a:pPr>
              <a:lnSpc>
                <a:spcPts val="1650"/>
              </a:lnSpc>
              <a:defRPr sz="1100">
                <a:solidFill>
                  <a:srgbClr val="F8F9FA"/>
                </a:solidFill>
              </a:defRPr>
            </a:pPr>
            <a:r>
              <a:rPr>
                <a:solidFill>
                  <a:srgbClr val="00B4D8"/>
                </a:solidFill>
              </a:rPr>
              <a:t>▸  UART reception of JSON data from STM32 @ 115200 baud</a:t>
            </a:r>
          </a:p>
          <a:p>
            <a:pPr>
              <a:lnSpc>
                <a:spcPts val="1650"/>
              </a:lnSpc>
              <a:defRPr sz="1100">
                <a:solidFill>
                  <a:srgbClr val="F8F9FA"/>
                </a:solidFill>
              </a:defRPr>
            </a:pPr>
            <a:r>
              <a:rPr>
                <a:solidFill>
                  <a:srgbClr val="00B4D8"/>
                </a:solidFill>
              </a:rPr>
              <a:t>▸  WiFi gateway → HTTP REST to cloud backend</a:t>
            </a:r>
          </a:p>
          <a:p>
            <a:pPr>
              <a:lnSpc>
                <a:spcPts val="1650"/>
              </a:lnSpc>
              <a:defRPr sz="1100">
                <a:solidFill>
                  <a:srgbClr val="F8F9FA"/>
                </a:solidFill>
              </a:defRPr>
            </a:pPr>
            <a:r>
              <a:rPr>
                <a:solidFill>
                  <a:srgbClr val="00B4D8"/>
                </a:solidFill>
              </a:rPr>
              <a:t>▸  React.js dashboard with real-time Chart.js visualization</a:t>
            </a:r>
          </a:p>
          <a:p>
            <a:pPr>
              <a:lnSpc>
                <a:spcPts val="1650"/>
              </a:lnSpc>
              <a:defRPr sz="1100">
                <a:solidFill>
                  <a:srgbClr val="F8F9FA"/>
                </a:solidFill>
              </a:defRPr>
            </a:pPr>
            <a:r>
              <a:rPr>
                <a:solidFill>
                  <a:srgbClr val="00B4D8"/>
                </a:solidFill>
              </a:rPr>
              <a:t>▸  Local SPIFFS buffering when offline</a:t>
            </a:r>
          </a:p>
        </p:txBody>
      </p:sp>
      <p:sp>
        <p:nvSpPr>
          <p:cNvPr id="28" name="Rounded Rectangle 27"/>
          <p:cNvSpPr/>
          <p:nvPr/>
        </p:nvSpPr>
        <p:spPr>
          <a:xfrm>
            <a:off x="457200" y="4846320"/>
            <a:ext cx="10972800" cy="137160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892040"/>
            <a:ext cx="2743200" cy="274320"/>
          </a:xfrm>
          <a:prstGeom prst="rect">
            <a:avLst/>
          </a:prstGeom>
          <a:noFill/>
        </p:spPr>
        <p:txBody>
          <a:bodyPr wrap="square">
            <a:spAutoFit/>
          </a:bodyPr>
          <a:lstStyle/>
          <a:p>
            <a:pPr algn="l">
              <a:lnSpc>
                <a:spcPts val="1430"/>
              </a:lnSpc>
              <a:defRPr sz="1100" b="1">
                <a:solidFill>
                  <a:srgbClr val="00B4D8"/>
                </a:solidFill>
              </a:defRPr>
            </a:pPr>
            <a:r>
              <a:t>KEY COMPONENTS</a:t>
            </a:r>
          </a:p>
        </p:txBody>
      </p:sp>
      <p:sp>
        <p:nvSpPr>
          <p:cNvPr id="30" name="TextBox 29"/>
          <p:cNvSpPr txBox="1"/>
          <p:nvPr/>
        </p:nvSpPr>
        <p:spPr>
          <a:xfrm>
            <a:off x="640080" y="5257800"/>
            <a:ext cx="2011680" cy="228600"/>
          </a:xfrm>
          <a:prstGeom prst="rect">
            <a:avLst/>
          </a:prstGeom>
          <a:noFill/>
        </p:spPr>
        <p:txBody>
          <a:bodyPr wrap="square">
            <a:spAutoFit/>
          </a:bodyPr>
          <a:lstStyle/>
          <a:p>
            <a:pPr algn="l">
              <a:lnSpc>
                <a:spcPts val="1300"/>
              </a:lnSpc>
              <a:defRPr sz="1000" b="1">
                <a:solidFill>
                  <a:srgbClr val="00B4D8"/>
                </a:solidFill>
              </a:defRPr>
            </a:pPr>
            <a:r>
              <a:t>▪ STM32F446RE Nucleo</a:t>
            </a:r>
          </a:p>
        </p:txBody>
      </p:sp>
      <p:sp>
        <p:nvSpPr>
          <p:cNvPr id="31" name="TextBox 30"/>
          <p:cNvSpPr txBox="1"/>
          <p:nvPr/>
        </p:nvSpPr>
        <p:spPr>
          <a:xfrm>
            <a:off x="640080" y="5458968"/>
            <a:ext cx="2011680" cy="228600"/>
          </a:xfrm>
          <a:prstGeom prst="rect">
            <a:avLst/>
          </a:prstGeom>
          <a:noFill/>
        </p:spPr>
        <p:txBody>
          <a:bodyPr wrap="square">
            <a:spAutoFit/>
          </a:bodyPr>
          <a:lstStyle/>
          <a:p>
            <a:pPr algn="l">
              <a:lnSpc>
                <a:spcPts val="1170"/>
              </a:lnSpc>
              <a:defRPr sz="900" b="0">
                <a:solidFill>
                  <a:srgbClr val="ECF0F1"/>
                </a:solidFill>
              </a:defRPr>
            </a:pPr>
            <a:r>
              <a:t>Central Processing</a:t>
            </a:r>
          </a:p>
        </p:txBody>
      </p:sp>
      <p:sp>
        <p:nvSpPr>
          <p:cNvPr id="32" name="TextBox 31"/>
          <p:cNvSpPr txBox="1"/>
          <p:nvPr/>
        </p:nvSpPr>
        <p:spPr>
          <a:xfrm>
            <a:off x="2834640" y="5257800"/>
            <a:ext cx="2011680" cy="228600"/>
          </a:xfrm>
          <a:prstGeom prst="rect">
            <a:avLst/>
          </a:prstGeom>
          <a:noFill/>
        </p:spPr>
        <p:txBody>
          <a:bodyPr wrap="square">
            <a:spAutoFit/>
          </a:bodyPr>
          <a:lstStyle/>
          <a:p>
            <a:pPr algn="l">
              <a:lnSpc>
                <a:spcPts val="1300"/>
              </a:lnSpc>
              <a:defRPr sz="1000" b="1">
                <a:solidFill>
                  <a:srgbClr val="00B4D8"/>
                </a:solidFill>
              </a:defRPr>
            </a:pPr>
            <a:r>
              <a:t>▪ ESP8266 NodeMCU</a:t>
            </a:r>
          </a:p>
        </p:txBody>
      </p:sp>
      <p:sp>
        <p:nvSpPr>
          <p:cNvPr id="33" name="TextBox 32"/>
          <p:cNvSpPr txBox="1"/>
          <p:nvPr/>
        </p:nvSpPr>
        <p:spPr>
          <a:xfrm>
            <a:off x="2834640" y="5458968"/>
            <a:ext cx="2011680" cy="228600"/>
          </a:xfrm>
          <a:prstGeom prst="rect">
            <a:avLst/>
          </a:prstGeom>
          <a:noFill/>
        </p:spPr>
        <p:txBody>
          <a:bodyPr wrap="square">
            <a:spAutoFit/>
          </a:bodyPr>
          <a:lstStyle/>
          <a:p>
            <a:pPr algn="l">
              <a:lnSpc>
                <a:spcPts val="1170"/>
              </a:lnSpc>
              <a:defRPr sz="900" b="0">
                <a:solidFill>
                  <a:srgbClr val="ECF0F1"/>
                </a:solidFill>
              </a:defRPr>
            </a:pPr>
            <a:r>
              <a:t>WiFi IoT Gateway</a:t>
            </a:r>
          </a:p>
        </p:txBody>
      </p:sp>
      <p:sp>
        <p:nvSpPr>
          <p:cNvPr id="34" name="TextBox 33"/>
          <p:cNvSpPr txBox="1"/>
          <p:nvPr/>
        </p:nvSpPr>
        <p:spPr>
          <a:xfrm>
            <a:off x="5029200" y="5257800"/>
            <a:ext cx="2011680" cy="228600"/>
          </a:xfrm>
          <a:prstGeom prst="rect">
            <a:avLst/>
          </a:prstGeom>
          <a:noFill/>
        </p:spPr>
        <p:txBody>
          <a:bodyPr wrap="square">
            <a:spAutoFit/>
          </a:bodyPr>
          <a:lstStyle/>
          <a:p>
            <a:pPr algn="l">
              <a:lnSpc>
                <a:spcPts val="1300"/>
              </a:lnSpc>
              <a:defRPr sz="1000" b="1">
                <a:solidFill>
                  <a:srgbClr val="00B4D8"/>
                </a:solidFill>
              </a:defRPr>
            </a:pPr>
            <a:r>
              <a:t>▪ DC-DC Buck/Boost</a:t>
            </a:r>
          </a:p>
        </p:txBody>
      </p:sp>
      <p:sp>
        <p:nvSpPr>
          <p:cNvPr id="35" name="TextBox 34"/>
          <p:cNvSpPr txBox="1"/>
          <p:nvPr/>
        </p:nvSpPr>
        <p:spPr>
          <a:xfrm>
            <a:off x="5029200" y="5458968"/>
            <a:ext cx="2011680" cy="228600"/>
          </a:xfrm>
          <a:prstGeom prst="rect">
            <a:avLst/>
          </a:prstGeom>
          <a:noFill/>
        </p:spPr>
        <p:txBody>
          <a:bodyPr wrap="square">
            <a:spAutoFit/>
          </a:bodyPr>
          <a:lstStyle/>
          <a:p>
            <a:pPr algn="l">
              <a:lnSpc>
                <a:spcPts val="1170"/>
              </a:lnSpc>
              <a:defRPr sz="900" b="0">
                <a:solidFill>
                  <a:srgbClr val="ECF0F1"/>
                </a:solidFill>
              </a:defRPr>
            </a:pPr>
            <a:r>
              <a:t>Voltage Regulation</a:t>
            </a:r>
          </a:p>
        </p:txBody>
      </p:sp>
      <p:sp>
        <p:nvSpPr>
          <p:cNvPr id="36" name="TextBox 35"/>
          <p:cNvSpPr txBox="1"/>
          <p:nvPr/>
        </p:nvSpPr>
        <p:spPr>
          <a:xfrm>
            <a:off x="7223760" y="5257800"/>
            <a:ext cx="2011680" cy="228600"/>
          </a:xfrm>
          <a:prstGeom prst="rect">
            <a:avLst/>
          </a:prstGeom>
          <a:noFill/>
        </p:spPr>
        <p:txBody>
          <a:bodyPr wrap="square">
            <a:spAutoFit/>
          </a:bodyPr>
          <a:lstStyle/>
          <a:p>
            <a:pPr algn="l">
              <a:lnSpc>
                <a:spcPts val="1300"/>
              </a:lnSpc>
              <a:defRPr sz="1000" b="1">
                <a:solidFill>
                  <a:srgbClr val="00B4D8"/>
                </a:solidFill>
              </a:defRPr>
            </a:pPr>
            <a:r>
              <a:t>▪ Supercap 2.7V/10-100F</a:t>
            </a:r>
          </a:p>
        </p:txBody>
      </p:sp>
      <p:sp>
        <p:nvSpPr>
          <p:cNvPr id="37" name="TextBox 36"/>
          <p:cNvSpPr txBox="1"/>
          <p:nvPr/>
        </p:nvSpPr>
        <p:spPr>
          <a:xfrm>
            <a:off x="7223760" y="5458968"/>
            <a:ext cx="2011680" cy="228600"/>
          </a:xfrm>
          <a:prstGeom prst="rect">
            <a:avLst/>
          </a:prstGeom>
          <a:noFill/>
        </p:spPr>
        <p:txBody>
          <a:bodyPr wrap="square">
            <a:spAutoFit/>
          </a:bodyPr>
          <a:lstStyle/>
          <a:p>
            <a:pPr algn="l">
              <a:lnSpc>
                <a:spcPts val="1170"/>
              </a:lnSpc>
              <a:defRPr sz="900" b="0">
                <a:solidFill>
                  <a:srgbClr val="ECF0F1"/>
                </a:solidFill>
              </a:defRPr>
            </a:pPr>
            <a:r>
              <a:t>Energy Buffering</a:t>
            </a:r>
          </a:p>
        </p:txBody>
      </p:sp>
      <p:sp>
        <p:nvSpPr>
          <p:cNvPr id="38" name="TextBox 37"/>
          <p:cNvSpPr txBox="1"/>
          <p:nvPr/>
        </p:nvSpPr>
        <p:spPr>
          <a:xfrm>
            <a:off x="9418320" y="5257800"/>
            <a:ext cx="2011680" cy="228600"/>
          </a:xfrm>
          <a:prstGeom prst="rect">
            <a:avLst/>
          </a:prstGeom>
          <a:noFill/>
        </p:spPr>
        <p:txBody>
          <a:bodyPr wrap="square">
            <a:spAutoFit/>
          </a:bodyPr>
          <a:lstStyle/>
          <a:p>
            <a:pPr algn="l">
              <a:lnSpc>
                <a:spcPts val="1300"/>
              </a:lnSpc>
              <a:defRPr sz="1000" b="1">
                <a:solidFill>
                  <a:srgbClr val="00B4D8"/>
                </a:solidFill>
              </a:defRPr>
            </a:pPr>
            <a:r>
              <a:t>▪ ACS712 / INA219</a:t>
            </a:r>
          </a:p>
        </p:txBody>
      </p:sp>
      <p:sp>
        <p:nvSpPr>
          <p:cNvPr id="39" name="TextBox 38"/>
          <p:cNvSpPr txBox="1"/>
          <p:nvPr/>
        </p:nvSpPr>
        <p:spPr>
          <a:xfrm>
            <a:off x="9418320" y="5458968"/>
            <a:ext cx="2011680" cy="228600"/>
          </a:xfrm>
          <a:prstGeom prst="rect">
            <a:avLst/>
          </a:prstGeom>
          <a:noFill/>
        </p:spPr>
        <p:txBody>
          <a:bodyPr wrap="square">
            <a:spAutoFit/>
          </a:bodyPr>
          <a:lstStyle/>
          <a:p>
            <a:pPr algn="l">
              <a:lnSpc>
                <a:spcPts val="1170"/>
              </a:lnSpc>
              <a:defRPr sz="900" b="0">
                <a:solidFill>
                  <a:srgbClr val="ECF0F1"/>
                </a:solidFill>
              </a:defRPr>
            </a:pPr>
            <a:r>
              <a:t>Current Sensing</a:t>
            </a:r>
          </a:p>
        </p:txBody>
      </p:sp>
      <p:sp>
        <p:nvSpPr>
          <p:cNvPr id="40" name="TextBox 39"/>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DATA COLLECTION</a:t>
            </a:r>
          </a:p>
        </p:txBody>
      </p:sp>
      <p:sp>
        <p:nvSpPr>
          <p:cNvPr id="5" name="TextBox 4"/>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Data Collection Plan &amp; Current Progress</a:t>
            </a:r>
          </a:p>
        </p:txBody>
      </p:sp>
      <p:sp>
        <p:nvSpPr>
          <p:cNvPr id="6" name="Rectangle 5"/>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371600"/>
            <a:ext cx="5486400" cy="256032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08760"/>
            <a:ext cx="4572000" cy="274320"/>
          </a:xfrm>
          <a:prstGeom prst="rect">
            <a:avLst/>
          </a:prstGeom>
          <a:noFill/>
        </p:spPr>
        <p:txBody>
          <a:bodyPr wrap="square">
            <a:spAutoFit/>
          </a:bodyPr>
          <a:lstStyle/>
          <a:p>
            <a:pPr algn="l">
              <a:lnSpc>
                <a:spcPts val="1560"/>
              </a:lnSpc>
              <a:defRPr sz="1200" b="1">
                <a:solidFill>
                  <a:srgbClr val="00B4D8"/>
                </a:solidFill>
              </a:defRPr>
            </a:pPr>
            <a:r>
              <a:t>DATA COLLECTION STRATEGY</a:t>
            </a:r>
          </a:p>
        </p:txBody>
      </p:sp>
      <p:sp>
        <p:nvSpPr>
          <p:cNvPr id="9" name="TextBox 8"/>
          <p:cNvSpPr txBox="1"/>
          <p:nvPr/>
        </p:nvSpPr>
        <p:spPr>
          <a:xfrm>
            <a:off x="731520" y="1920240"/>
            <a:ext cx="1371600" cy="228600"/>
          </a:xfrm>
          <a:prstGeom prst="rect">
            <a:avLst/>
          </a:prstGeom>
          <a:noFill/>
        </p:spPr>
        <p:txBody>
          <a:bodyPr wrap="square">
            <a:spAutoFit/>
          </a:bodyPr>
          <a:lstStyle/>
          <a:p>
            <a:pPr algn="l">
              <a:lnSpc>
                <a:spcPts val="1300"/>
              </a:lnSpc>
              <a:defRPr sz="1000" b="1">
                <a:solidFill>
                  <a:srgbClr val="00B4D8"/>
                </a:solidFill>
              </a:defRPr>
            </a:pPr>
            <a:r>
              <a:t>Parameter</a:t>
            </a:r>
          </a:p>
        </p:txBody>
      </p:sp>
      <p:sp>
        <p:nvSpPr>
          <p:cNvPr id="10" name="TextBox 9"/>
          <p:cNvSpPr txBox="1"/>
          <p:nvPr/>
        </p:nvSpPr>
        <p:spPr>
          <a:xfrm>
            <a:off x="2926080" y="1920240"/>
            <a:ext cx="1371600" cy="228600"/>
          </a:xfrm>
          <a:prstGeom prst="rect">
            <a:avLst/>
          </a:prstGeom>
          <a:noFill/>
        </p:spPr>
        <p:txBody>
          <a:bodyPr wrap="square">
            <a:spAutoFit/>
          </a:bodyPr>
          <a:lstStyle/>
          <a:p>
            <a:pPr algn="l">
              <a:lnSpc>
                <a:spcPts val="1300"/>
              </a:lnSpc>
              <a:defRPr sz="1000" b="1">
                <a:solidFill>
                  <a:srgbClr val="00B4D8"/>
                </a:solidFill>
              </a:defRPr>
            </a:pPr>
            <a:r>
              <a:t>Rate</a:t>
            </a:r>
          </a:p>
        </p:txBody>
      </p:sp>
      <p:sp>
        <p:nvSpPr>
          <p:cNvPr id="11" name="TextBox 10"/>
          <p:cNvSpPr txBox="1"/>
          <p:nvPr/>
        </p:nvSpPr>
        <p:spPr>
          <a:xfrm>
            <a:off x="3931920" y="1920240"/>
            <a:ext cx="1371600" cy="228600"/>
          </a:xfrm>
          <a:prstGeom prst="rect">
            <a:avLst/>
          </a:prstGeom>
          <a:noFill/>
        </p:spPr>
        <p:txBody>
          <a:bodyPr wrap="square">
            <a:spAutoFit/>
          </a:bodyPr>
          <a:lstStyle/>
          <a:p>
            <a:pPr algn="l">
              <a:lnSpc>
                <a:spcPts val="1300"/>
              </a:lnSpc>
              <a:defRPr sz="1000" b="1">
                <a:solidFill>
                  <a:srgbClr val="00B4D8"/>
                </a:solidFill>
              </a:defRPr>
            </a:pPr>
            <a:r>
              <a:t>Method</a:t>
            </a:r>
          </a:p>
        </p:txBody>
      </p:sp>
      <p:sp>
        <p:nvSpPr>
          <p:cNvPr id="12" name="TextBox 11"/>
          <p:cNvSpPr txBox="1"/>
          <p:nvPr/>
        </p:nvSpPr>
        <p:spPr>
          <a:xfrm>
            <a:off x="731520" y="2194560"/>
            <a:ext cx="2011680" cy="228600"/>
          </a:xfrm>
          <a:prstGeom prst="rect">
            <a:avLst/>
          </a:prstGeom>
          <a:noFill/>
        </p:spPr>
        <p:txBody>
          <a:bodyPr wrap="square">
            <a:spAutoFit/>
          </a:bodyPr>
          <a:lstStyle/>
          <a:p>
            <a:pPr algn="l">
              <a:lnSpc>
                <a:spcPts val="1300"/>
              </a:lnSpc>
              <a:defRPr sz="1000" b="0">
                <a:solidFill>
                  <a:srgbClr val="F8F9FA"/>
                </a:solidFill>
              </a:defRPr>
            </a:pPr>
            <a:r>
              <a:t>Input Voltage</a:t>
            </a:r>
          </a:p>
        </p:txBody>
      </p:sp>
      <p:sp>
        <p:nvSpPr>
          <p:cNvPr id="13" name="TextBox 12"/>
          <p:cNvSpPr txBox="1"/>
          <p:nvPr/>
        </p:nvSpPr>
        <p:spPr>
          <a:xfrm>
            <a:off x="2926080" y="2194560"/>
            <a:ext cx="914400" cy="228600"/>
          </a:xfrm>
          <a:prstGeom prst="rect">
            <a:avLst/>
          </a:prstGeom>
          <a:noFill/>
        </p:spPr>
        <p:txBody>
          <a:bodyPr wrap="square">
            <a:spAutoFit/>
          </a:bodyPr>
          <a:lstStyle/>
          <a:p>
            <a:pPr algn="l">
              <a:lnSpc>
                <a:spcPts val="1300"/>
              </a:lnSpc>
              <a:defRPr sz="1000" b="0">
                <a:solidFill>
                  <a:srgbClr val="2ECC71"/>
                </a:solidFill>
              </a:defRPr>
            </a:pPr>
            <a:r>
              <a:t>1 kHz</a:t>
            </a:r>
          </a:p>
        </p:txBody>
      </p:sp>
      <p:sp>
        <p:nvSpPr>
          <p:cNvPr id="14" name="TextBox 13"/>
          <p:cNvSpPr txBox="1"/>
          <p:nvPr/>
        </p:nvSpPr>
        <p:spPr>
          <a:xfrm>
            <a:off x="3931920" y="2194560"/>
            <a:ext cx="1828800" cy="228600"/>
          </a:xfrm>
          <a:prstGeom prst="rect">
            <a:avLst/>
          </a:prstGeom>
          <a:noFill/>
        </p:spPr>
        <p:txBody>
          <a:bodyPr wrap="square">
            <a:spAutoFit/>
          </a:bodyPr>
          <a:lstStyle/>
          <a:p>
            <a:pPr algn="l">
              <a:lnSpc>
                <a:spcPts val="1300"/>
              </a:lnSpc>
              <a:defRPr sz="1000" b="0">
                <a:solidFill>
                  <a:srgbClr val="ECF0F1"/>
                </a:solidFill>
              </a:defRPr>
            </a:pPr>
            <a:r>
              <a:t>STM32 ADC + DMA</a:t>
            </a:r>
          </a:p>
        </p:txBody>
      </p:sp>
      <p:sp>
        <p:nvSpPr>
          <p:cNvPr id="15" name="TextBox 14"/>
          <p:cNvSpPr txBox="1"/>
          <p:nvPr/>
        </p:nvSpPr>
        <p:spPr>
          <a:xfrm>
            <a:off x="731520" y="2450592"/>
            <a:ext cx="2011680" cy="228600"/>
          </a:xfrm>
          <a:prstGeom prst="rect">
            <a:avLst/>
          </a:prstGeom>
          <a:noFill/>
        </p:spPr>
        <p:txBody>
          <a:bodyPr wrap="square">
            <a:spAutoFit/>
          </a:bodyPr>
          <a:lstStyle/>
          <a:p>
            <a:pPr algn="l">
              <a:lnSpc>
                <a:spcPts val="1300"/>
              </a:lnSpc>
              <a:defRPr sz="1000" b="0">
                <a:solidFill>
                  <a:srgbClr val="F8F9FA"/>
                </a:solidFill>
              </a:defRPr>
            </a:pPr>
            <a:r>
              <a:t>Input Current</a:t>
            </a:r>
          </a:p>
        </p:txBody>
      </p:sp>
      <p:sp>
        <p:nvSpPr>
          <p:cNvPr id="16" name="TextBox 15"/>
          <p:cNvSpPr txBox="1"/>
          <p:nvPr/>
        </p:nvSpPr>
        <p:spPr>
          <a:xfrm>
            <a:off x="2926080" y="2450592"/>
            <a:ext cx="914400" cy="228600"/>
          </a:xfrm>
          <a:prstGeom prst="rect">
            <a:avLst/>
          </a:prstGeom>
          <a:noFill/>
        </p:spPr>
        <p:txBody>
          <a:bodyPr wrap="square">
            <a:spAutoFit/>
          </a:bodyPr>
          <a:lstStyle/>
          <a:p>
            <a:pPr algn="l">
              <a:lnSpc>
                <a:spcPts val="1300"/>
              </a:lnSpc>
              <a:defRPr sz="1000" b="0">
                <a:solidFill>
                  <a:srgbClr val="2ECC71"/>
                </a:solidFill>
              </a:defRPr>
            </a:pPr>
            <a:r>
              <a:t>1 kHz</a:t>
            </a:r>
          </a:p>
        </p:txBody>
      </p:sp>
      <p:sp>
        <p:nvSpPr>
          <p:cNvPr id="17" name="TextBox 16"/>
          <p:cNvSpPr txBox="1"/>
          <p:nvPr/>
        </p:nvSpPr>
        <p:spPr>
          <a:xfrm>
            <a:off x="3931920" y="2450592"/>
            <a:ext cx="1828800" cy="228600"/>
          </a:xfrm>
          <a:prstGeom prst="rect">
            <a:avLst/>
          </a:prstGeom>
          <a:noFill/>
        </p:spPr>
        <p:txBody>
          <a:bodyPr wrap="square">
            <a:spAutoFit/>
          </a:bodyPr>
          <a:lstStyle/>
          <a:p>
            <a:pPr algn="l">
              <a:lnSpc>
                <a:spcPts val="1300"/>
              </a:lnSpc>
              <a:defRPr sz="1000" b="0">
                <a:solidFill>
                  <a:srgbClr val="ECF0F1"/>
                </a:solidFill>
              </a:defRPr>
            </a:pPr>
            <a:r>
              <a:t>STM32 ADC + DMA</a:t>
            </a:r>
          </a:p>
        </p:txBody>
      </p:sp>
      <p:sp>
        <p:nvSpPr>
          <p:cNvPr id="18" name="TextBox 17"/>
          <p:cNvSpPr txBox="1"/>
          <p:nvPr/>
        </p:nvSpPr>
        <p:spPr>
          <a:xfrm>
            <a:off x="731520" y="2706624"/>
            <a:ext cx="2011680" cy="228600"/>
          </a:xfrm>
          <a:prstGeom prst="rect">
            <a:avLst/>
          </a:prstGeom>
          <a:noFill/>
        </p:spPr>
        <p:txBody>
          <a:bodyPr wrap="square">
            <a:spAutoFit/>
          </a:bodyPr>
          <a:lstStyle/>
          <a:p>
            <a:pPr algn="l">
              <a:lnSpc>
                <a:spcPts val="1300"/>
              </a:lnSpc>
              <a:defRPr sz="1000" b="0">
                <a:solidFill>
                  <a:srgbClr val="F8F9FA"/>
                </a:solidFill>
              </a:defRPr>
            </a:pPr>
            <a:r>
              <a:t>Supercap Voltage</a:t>
            </a:r>
          </a:p>
        </p:txBody>
      </p:sp>
      <p:sp>
        <p:nvSpPr>
          <p:cNvPr id="19" name="TextBox 18"/>
          <p:cNvSpPr txBox="1"/>
          <p:nvPr/>
        </p:nvSpPr>
        <p:spPr>
          <a:xfrm>
            <a:off x="2926080" y="2706624"/>
            <a:ext cx="914400" cy="228600"/>
          </a:xfrm>
          <a:prstGeom prst="rect">
            <a:avLst/>
          </a:prstGeom>
          <a:noFill/>
        </p:spPr>
        <p:txBody>
          <a:bodyPr wrap="square">
            <a:spAutoFit/>
          </a:bodyPr>
          <a:lstStyle/>
          <a:p>
            <a:pPr algn="l">
              <a:lnSpc>
                <a:spcPts val="1300"/>
              </a:lnSpc>
              <a:defRPr sz="1000" b="0">
                <a:solidFill>
                  <a:srgbClr val="2ECC71"/>
                </a:solidFill>
              </a:defRPr>
            </a:pPr>
            <a:r>
              <a:t>1 kHz</a:t>
            </a:r>
          </a:p>
        </p:txBody>
      </p:sp>
      <p:sp>
        <p:nvSpPr>
          <p:cNvPr id="20" name="TextBox 19"/>
          <p:cNvSpPr txBox="1"/>
          <p:nvPr/>
        </p:nvSpPr>
        <p:spPr>
          <a:xfrm>
            <a:off x="3931920" y="2706624"/>
            <a:ext cx="1828800" cy="228600"/>
          </a:xfrm>
          <a:prstGeom prst="rect">
            <a:avLst/>
          </a:prstGeom>
          <a:noFill/>
        </p:spPr>
        <p:txBody>
          <a:bodyPr wrap="square">
            <a:spAutoFit/>
          </a:bodyPr>
          <a:lstStyle/>
          <a:p>
            <a:pPr algn="l">
              <a:lnSpc>
                <a:spcPts val="1300"/>
              </a:lnSpc>
              <a:defRPr sz="1000" b="0">
                <a:solidFill>
                  <a:srgbClr val="ECF0F1"/>
                </a:solidFill>
              </a:defRPr>
            </a:pPr>
            <a:r>
              <a:t>STM32 ADC + DMA</a:t>
            </a:r>
          </a:p>
        </p:txBody>
      </p:sp>
      <p:sp>
        <p:nvSpPr>
          <p:cNvPr id="21" name="TextBox 20"/>
          <p:cNvSpPr txBox="1"/>
          <p:nvPr/>
        </p:nvSpPr>
        <p:spPr>
          <a:xfrm>
            <a:off x="731520" y="2962656"/>
            <a:ext cx="2011680" cy="228600"/>
          </a:xfrm>
          <a:prstGeom prst="rect">
            <a:avLst/>
          </a:prstGeom>
          <a:noFill/>
        </p:spPr>
        <p:txBody>
          <a:bodyPr wrap="square">
            <a:spAutoFit/>
          </a:bodyPr>
          <a:lstStyle/>
          <a:p>
            <a:pPr algn="l">
              <a:lnSpc>
                <a:spcPts val="1300"/>
              </a:lnSpc>
              <a:defRPr sz="1000" b="0">
                <a:solidFill>
                  <a:srgbClr val="F8F9FA"/>
                </a:solidFill>
              </a:defRPr>
            </a:pPr>
            <a:r>
              <a:t>Battery Voltage</a:t>
            </a:r>
          </a:p>
        </p:txBody>
      </p:sp>
      <p:sp>
        <p:nvSpPr>
          <p:cNvPr id="22" name="TextBox 21"/>
          <p:cNvSpPr txBox="1"/>
          <p:nvPr/>
        </p:nvSpPr>
        <p:spPr>
          <a:xfrm>
            <a:off x="2926080" y="2962656"/>
            <a:ext cx="914400" cy="228600"/>
          </a:xfrm>
          <a:prstGeom prst="rect">
            <a:avLst/>
          </a:prstGeom>
          <a:noFill/>
        </p:spPr>
        <p:txBody>
          <a:bodyPr wrap="square">
            <a:spAutoFit/>
          </a:bodyPr>
          <a:lstStyle/>
          <a:p>
            <a:pPr algn="l">
              <a:lnSpc>
                <a:spcPts val="1300"/>
              </a:lnSpc>
              <a:defRPr sz="1000" b="0">
                <a:solidFill>
                  <a:srgbClr val="2ECC71"/>
                </a:solidFill>
              </a:defRPr>
            </a:pPr>
            <a:r>
              <a:t>100 Hz</a:t>
            </a:r>
          </a:p>
        </p:txBody>
      </p:sp>
      <p:sp>
        <p:nvSpPr>
          <p:cNvPr id="23" name="TextBox 22"/>
          <p:cNvSpPr txBox="1"/>
          <p:nvPr/>
        </p:nvSpPr>
        <p:spPr>
          <a:xfrm>
            <a:off x="3931920" y="2962656"/>
            <a:ext cx="1828800" cy="228600"/>
          </a:xfrm>
          <a:prstGeom prst="rect">
            <a:avLst/>
          </a:prstGeom>
          <a:noFill/>
        </p:spPr>
        <p:txBody>
          <a:bodyPr wrap="square">
            <a:spAutoFit/>
          </a:bodyPr>
          <a:lstStyle/>
          <a:p>
            <a:pPr algn="l">
              <a:lnSpc>
                <a:spcPts val="1300"/>
              </a:lnSpc>
              <a:defRPr sz="1000" b="0">
                <a:solidFill>
                  <a:srgbClr val="ECF0F1"/>
                </a:solidFill>
              </a:defRPr>
            </a:pPr>
            <a:r>
              <a:t>Polled ADC</a:t>
            </a:r>
          </a:p>
        </p:txBody>
      </p:sp>
      <p:sp>
        <p:nvSpPr>
          <p:cNvPr id="24" name="TextBox 23"/>
          <p:cNvSpPr txBox="1"/>
          <p:nvPr/>
        </p:nvSpPr>
        <p:spPr>
          <a:xfrm>
            <a:off x="731520" y="3218688"/>
            <a:ext cx="2011680" cy="228600"/>
          </a:xfrm>
          <a:prstGeom prst="rect">
            <a:avLst/>
          </a:prstGeom>
          <a:noFill/>
        </p:spPr>
        <p:txBody>
          <a:bodyPr wrap="square">
            <a:spAutoFit/>
          </a:bodyPr>
          <a:lstStyle/>
          <a:p>
            <a:pPr algn="l">
              <a:lnSpc>
                <a:spcPts val="1300"/>
              </a:lnSpc>
              <a:defRPr sz="1000" b="0">
                <a:solidFill>
                  <a:srgbClr val="F8F9FA"/>
                </a:solidFill>
              </a:defRPr>
            </a:pPr>
            <a:r>
              <a:t>Cloud Transmission</a:t>
            </a:r>
          </a:p>
        </p:txBody>
      </p:sp>
      <p:sp>
        <p:nvSpPr>
          <p:cNvPr id="25" name="TextBox 24"/>
          <p:cNvSpPr txBox="1"/>
          <p:nvPr/>
        </p:nvSpPr>
        <p:spPr>
          <a:xfrm>
            <a:off x="2926080" y="3218688"/>
            <a:ext cx="914400" cy="228600"/>
          </a:xfrm>
          <a:prstGeom prst="rect">
            <a:avLst/>
          </a:prstGeom>
          <a:noFill/>
        </p:spPr>
        <p:txBody>
          <a:bodyPr wrap="square">
            <a:spAutoFit/>
          </a:bodyPr>
          <a:lstStyle/>
          <a:p>
            <a:pPr algn="l">
              <a:lnSpc>
                <a:spcPts val="1300"/>
              </a:lnSpc>
              <a:defRPr sz="1000" b="0">
                <a:solidFill>
                  <a:srgbClr val="2ECC71"/>
                </a:solidFill>
              </a:defRPr>
            </a:pPr>
            <a:r>
              <a:t>1 Hz</a:t>
            </a:r>
          </a:p>
        </p:txBody>
      </p:sp>
      <p:sp>
        <p:nvSpPr>
          <p:cNvPr id="26" name="TextBox 25"/>
          <p:cNvSpPr txBox="1"/>
          <p:nvPr/>
        </p:nvSpPr>
        <p:spPr>
          <a:xfrm>
            <a:off x="3931920" y="3218688"/>
            <a:ext cx="1828800" cy="228600"/>
          </a:xfrm>
          <a:prstGeom prst="rect">
            <a:avLst/>
          </a:prstGeom>
          <a:noFill/>
        </p:spPr>
        <p:txBody>
          <a:bodyPr wrap="square">
            <a:spAutoFit/>
          </a:bodyPr>
          <a:lstStyle/>
          <a:p>
            <a:pPr algn="l">
              <a:lnSpc>
                <a:spcPts val="1300"/>
              </a:lnSpc>
              <a:defRPr sz="1000" b="0">
                <a:solidFill>
                  <a:srgbClr val="ECF0F1"/>
                </a:solidFill>
              </a:defRPr>
            </a:pPr>
            <a:r>
              <a:t>UART → ESP8266 → WiFi</a:t>
            </a:r>
          </a:p>
        </p:txBody>
      </p:sp>
      <p:sp>
        <p:nvSpPr>
          <p:cNvPr id="27" name="Rounded Rectangle 26"/>
          <p:cNvSpPr/>
          <p:nvPr/>
        </p:nvSpPr>
        <p:spPr>
          <a:xfrm>
            <a:off x="457200" y="4114800"/>
            <a:ext cx="5486400" cy="228600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206240"/>
            <a:ext cx="4572000" cy="274320"/>
          </a:xfrm>
          <a:prstGeom prst="rect">
            <a:avLst/>
          </a:prstGeom>
          <a:noFill/>
        </p:spPr>
        <p:txBody>
          <a:bodyPr wrap="square">
            <a:spAutoFit/>
          </a:bodyPr>
          <a:lstStyle/>
          <a:p>
            <a:pPr algn="l">
              <a:lnSpc>
                <a:spcPts val="1430"/>
              </a:lnSpc>
              <a:defRPr sz="1100" b="1">
                <a:solidFill>
                  <a:srgbClr val="F3961C"/>
                </a:solidFill>
              </a:defRPr>
            </a:pPr>
            <a:r>
              <a:t>SAMPLE IoT DATA PACKET (JSON)</a:t>
            </a:r>
          </a:p>
        </p:txBody>
      </p:sp>
      <p:sp>
        <p:nvSpPr>
          <p:cNvPr id="29" name="TextBox 28"/>
          <p:cNvSpPr txBox="1"/>
          <p:nvPr/>
        </p:nvSpPr>
        <p:spPr>
          <a:xfrm>
            <a:off x="731520" y="4572000"/>
            <a:ext cx="5029200" cy="1645920"/>
          </a:xfrm>
          <a:prstGeom prst="rect">
            <a:avLst/>
          </a:prstGeom>
          <a:noFill/>
        </p:spPr>
        <p:txBody>
          <a:bodyPr wrap="square">
            <a:spAutoFit/>
          </a:bodyPr>
          <a:lstStyle/>
          <a:p>
            <a:pPr algn="l">
              <a:lnSpc>
                <a:spcPts val="1430"/>
              </a:lnSpc>
              <a:defRPr sz="1100" b="0">
                <a:solidFill>
                  <a:srgbClr val="2ECC71"/>
                </a:solidFill>
              </a:defRPr>
            </a:pPr>
            <a:r>
              <a:t>{ "voltage_in": 11.45, "current_in": 1.23,</a:t>
            </a:r>
            <a:br/>
            <a:r>
              <a:t>  "power_in": 14.08, "efficiency_pct": 69.3,</a:t>
            </a:r>
            <a:br/>
            <a:r>
              <a:t>  "supercap_soc_pct": 85.2,</a:t>
            </a:r>
            <a:br/>
            <a:r>
              <a:t>  "system_state": "CHARGING" }</a:t>
            </a:r>
          </a:p>
        </p:txBody>
      </p:sp>
      <p:sp>
        <p:nvSpPr>
          <p:cNvPr id="30" name="Rounded Rectangle 29"/>
          <p:cNvSpPr/>
          <p:nvPr/>
        </p:nvSpPr>
        <p:spPr>
          <a:xfrm>
            <a:off x="6217920" y="1371600"/>
            <a:ext cx="5303520" cy="502920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1508760"/>
            <a:ext cx="4572000" cy="274320"/>
          </a:xfrm>
          <a:prstGeom prst="rect">
            <a:avLst/>
          </a:prstGeom>
          <a:noFill/>
        </p:spPr>
        <p:txBody>
          <a:bodyPr wrap="square">
            <a:spAutoFit/>
          </a:bodyPr>
          <a:lstStyle/>
          <a:p>
            <a:pPr algn="l">
              <a:lnSpc>
                <a:spcPts val="1560"/>
              </a:lnSpc>
              <a:defRPr sz="1200" b="1">
                <a:solidFill>
                  <a:srgbClr val="2ECC71"/>
                </a:solidFill>
              </a:defRPr>
            </a:pPr>
            <a:r>
              <a:t>CURRENT PROGRESS</a:t>
            </a:r>
          </a:p>
        </p:txBody>
      </p:sp>
      <p:sp>
        <p:nvSpPr>
          <p:cNvPr id="32" name="TextBox 31"/>
          <p:cNvSpPr txBox="1"/>
          <p:nvPr/>
        </p:nvSpPr>
        <p:spPr>
          <a:xfrm>
            <a:off x="6492240" y="1920240"/>
            <a:ext cx="4846320" cy="274320"/>
          </a:xfrm>
          <a:prstGeom prst="rect">
            <a:avLst/>
          </a:prstGeom>
          <a:noFill/>
        </p:spPr>
        <p:txBody>
          <a:bodyPr wrap="square">
            <a:spAutoFit/>
          </a:bodyPr>
          <a:lstStyle/>
          <a:p>
            <a:pPr algn="l">
              <a:lnSpc>
                <a:spcPts val="1560"/>
              </a:lnSpc>
              <a:defRPr sz="1200" b="0">
                <a:solidFill>
                  <a:srgbClr val="2ECC71"/>
                </a:solidFill>
              </a:defRPr>
            </a:pPr>
            <a:r>
              <a:t>✅  System architecture finalized</a:t>
            </a:r>
          </a:p>
        </p:txBody>
      </p:sp>
      <p:sp>
        <p:nvSpPr>
          <p:cNvPr id="33" name="TextBox 32"/>
          <p:cNvSpPr txBox="1"/>
          <p:nvPr/>
        </p:nvSpPr>
        <p:spPr>
          <a:xfrm>
            <a:off x="6492240" y="2212848"/>
            <a:ext cx="4846320" cy="274320"/>
          </a:xfrm>
          <a:prstGeom prst="rect">
            <a:avLst/>
          </a:prstGeom>
          <a:noFill/>
        </p:spPr>
        <p:txBody>
          <a:bodyPr wrap="square">
            <a:spAutoFit/>
          </a:bodyPr>
          <a:lstStyle/>
          <a:p>
            <a:pPr algn="l">
              <a:lnSpc>
                <a:spcPts val="1560"/>
              </a:lnSpc>
              <a:defRPr sz="1200" b="0">
                <a:solidFill>
                  <a:srgbClr val="2ECC71"/>
                </a:solidFill>
              </a:defRPr>
            </a:pPr>
            <a:r>
              <a:t>✅  All components selected &amp; sourced</a:t>
            </a:r>
          </a:p>
        </p:txBody>
      </p:sp>
      <p:sp>
        <p:nvSpPr>
          <p:cNvPr id="34" name="TextBox 33"/>
          <p:cNvSpPr txBox="1"/>
          <p:nvPr/>
        </p:nvSpPr>
        <p:spPr>
          <a:xfrm>
            <a:off x="6492240" y="2505456"/>
            <a:ext cx="4846320" cy="274320"/>
          </a:xfrm>
          <a:prstGeom prst="rect">
            <a:avLst/>
          </a:prstGeom>
          <a:noFill/>
        </p:spPr>
        <p:txBody>
          <a:bodyPr wrap="square">
            <a:spAutoFit/>
          </a:bodyPr>
          <a:lstStyle/>
          <a:p>
            <a:pPr algn="l">
              <a:lnSpc>
                <a:spcPts val="1560"/>
              </a:lnSpc>
              <a:defRPr sz="1200" b="0">
                <a:solidFill>
                  <a:srgbClr val="2ECC71"/>
                </a:solidFill>
              </a:defRPr>
            </a:pPr>
            <a:r>
              <a:t>✅  Computation methodology documented</a:t>
            </a:r>
          </a:p>
        </p:txBody>
      </p:sp>
      <p:sp>
        <p:nvSpPr>
          <p:cNvPr id="35" name="TextBox 34"/>
          <p:cNvSpPr txBox="1"/>
          <p:nvPr/>
        </p:nvSpPr>
        <p:spPr>
          <a:xfrm>
            <a:off x="6492240" y="2798064"/>
            <a:ext cx="4846320" cy="274320"/>
          </a:xfrm>
          <a:prstGeom prst="rect">
            <a:avLst/>
          </a:prstGeom>
          <a:noFill/>
        </p:spPr>
        <p:txBody>
          <a:bodyPr wrap="square">
            <a:spAutoFit/>
          </a:bodyPr>
          <a:lstStyle/>
          <a:p>
            <a:pPr algn="l">
              <a:lnSpc>
                <a:spcPts val="1560"/>
              </a:lnSpc>
              <a:defRPr sz="1200" b="0">
                <a:solidFill>
                  <a:srgbClr val="2ECC71"/>
                </a:solidFill>
              </a:defRPr>
            </a:pPr>
            <a:r>
              <a:t>✅  Literature review completed (5 papers)</a:t>
            </a:r>
          </a:p>
        </p:txBody>
      </p:sp>
      <p:sp>
        <p:nvSpPr>
          <p:cNvPr id="36" name="TextBox 35"/>
          <p:cNvSpPr txBox="1"/>
          <p:nvPr/>
        </p:nvSpPr>
        <p:spPr>
          <a:xfrm>
            <a:off x="6492240" y="3090672"/>
            <a:ext cx="4846320" cy="274320"/>
          </a:xfrm>
          <a:prstGeom prst="rect">
            <a:avLst/>
          </a:prstGeom>
          <a:noFill/>
        </p:spPr>
        <p:txBody>
          <a:bodyPr wrap="square">
            <a:spAutoFit/>
          </a:bodyPr>
          <a:lstStyle/>
          <a:p>
            <a:pPr algn="l">
              <a:lnSpc>
                <a:spcPts val="1560"/>
              </a:lnSpc>
              <a:defRPr sz="1200" b="0">
                <a:solidFill>
                  <a:srgbClr val="2ECC71"/>
                </a:solidFill>
              </a:defRPr>
            </a:pPr>
            <a:r>
              <a:t>✅  Repository structure established</a:t>
            </a:r>
          </a:p>
        </p:txBody>
      </p:sp>
      <p:sp>
        <p:nvSpPr>
          <p:cNvPr id="37" name="TextBox 36"/>
          <p:cNvSpPr txBox="1"/>
          <p:nvPr/>
        </p:nvSpPr>
        <p:spPr>
          <a:xfrm>
            <a:off x="6492240" y="3383280"/>
            <a:ext cx="4846320" cy="274320"/>
          </a:xfrm>
          <a:prstGeom prst="rect">
            <a:avLst/>
          </a:prstGeom>
          <a:noFill/>
        </p:spPr>
        <p:txBody>
          <a:bodyPr wrap="square">
            <a:spAutoFit/>
          </a:bodyPr>
          <a:lstStyle/>
          <a:p>
            <a:pPr algn="l">
              <a:lnSpc>
                <a:spcPts val="1560"/>
              </a:lnSpc>
              <a:defRPr sz="1200" b="0">
                <a:solidFill>
                  <a:srgbClr val="2ECC71"/>
                </a:solidFill>
              </a:defRPr>
            </a:pPr>
            <a:r>
              <a:t>✅  Cloud dashboard design completed</a:t>
            </a:r>
          </a:p>
        </p:txBody>
      </p:sp>
      <p:sp>
        <p:nvSpPr>
          <p:cNvPr id="38" name="TextBox 37"/>
          <p:cNvSpPr txBox="1"/>
          <p:nvPr/>
        </p:nvSpPr>
        <p:spPr>
          <a:xfrm>
            <a:off x="6492240" y="3767328"/>
            <a:ext cx="4846320" cy="274320"/>
          </a:xfrm>
          <a:prstGeom prst="rect">
            <a:avLst/>
          </a:prstGeom>
          <a:noFill/>
        </p:spPr>
        <p:txBody>
          <a:bodyPr wrap="square">
            <a:spAutoFit/>
          </a:bodyPr>
          <a:lstStyle/>
          <a:p>
            <a:pPr algn="l">
              <a:lnSpc>
                <a:spcPts val="1560"/>
              </a:lnSpc>
              <a:defRPr sz="1200" b="0">
                <a:solidFill>
                  <a:srgbClr val="F3961C"/>
                </a:solidFill>
              </a:defRPr>
            </a:pPr>
            <a:r>
              <a:t>🔄  STM32 firmware: ADC &amp; PWM modules</a:t>
            </a:r>
          </a:p>
        </p:txBody>
      </p:sp>
      <p:sp>
        <p:nvSpPr>
          <p:cNvPr id="39" name="TextBox 38"/>
          <p:cNvSpPr txBox="1"/>
          <p:nvPr/>
        </p:nvSpPr>
        <p:spPr>
          <a:xfrm>
            <a:off x="6492240" y="4059936"/>
            <a:ext cx="4846320" cy="274320"/>
          </a:xfrm>
          <a:prstGeom prst="rect">
            <a:avLst/>
          </a:prstGeom>
          <a:noFill/>
        </p:spPr>
        <p:txBody>
          <a:bodyPr wrap="square">
            <a:spAutoFit/>
          </a:bodyPr>
          <a:lstStyle/>
          <a:p>
            <a:pPr algn="l">
              <a:lnSpc>
                <a:spcPts val="1560"/>
              </a:lnSpc>
              <a:defRPr sz="1200" b="0">
                <a:solidFill>
                  <a:srgbClr val="F3961C"/>
                </a:solidFill>
              </a:defRPr>
            </a:pPr>
            <a:r>
              <a:t>🔄  Hardware integration on breadboard</a:t>
            </a:r>
          </a:p>
        </p:txBody>
      </p:sp>
      <p:sp>
        <p:nvSpPr>
          <p:cNvPr id="40" name="TextBox 39"/>
          <p:cNvSpPr txBox="1"/>
          <p:nvPr/>
        </p:nvSpPr>
        <p:spPr>
          <a:xfrm>
            <a:off x="6492240" y="4443984"/>
            <a:ext cx="4846320" cy="274320"/>
          </a:xfrm>
          <a:prstGeom prst="rect">
            <a:avLst/>
          </a:prstGeom>
          <a:noFill/>
        </p:spPr>
        <p:txBody>
          <a:bodyPr wrap="square">
            <a:spAutoFit/>
          </a:bodyPr>
          <a:lstStyle/>
          <a:p>
            <a:pPr algn="l">
              <a:lnSpc>
                <a:spcPts val="1560"/>
              </a:lnSpc>
              <a:defRPr sz="1200" b="0">
                <a:solidFill>
                  <a:srgbClr val="ECF0F1"/>
                </a:solidFill>
              </a:defRPr>
            </a:pPr>
            <a:r>
              <a:t>📅  ESP8266 IoT gateway integration</a:t>
            </a:r>
          </a:p>
        </p:txBody>
      </p:sp>
      <p:sp>
        <p:nvSpPr>
          <p:cNvPr id="41" name="TextBox 40"/>
          <p:cNvSpPr txBox="1"/>
          <p:nvPr/>
        </p:nvSpPr>
        <p:spPr>
          <a:xfrm>
            <a:off x="6492240" y="4736592"/>
            <a:ext cx="4846320" cy="274320"/>
          </a:xfrm>
          <a:prstGeom prst="rect">
            <a:avLst/>
          </a:prstGeom>
          <a:noFill/>
        </p:spPr>
        <p:txBody>
          <a:bodyPr wrap="square">
            <a:spAutoFit/>
          </a:bodyPr>
          <a:lstStyle/>
          <a:p>
            <a:pPr algn="l">
              <a:lnSpc>
                <a:spcPts val="1560"/>
              </a:lnSpc>
              <a:defRPr sz="1200" b="0">
                <a:solidFill>
                  <a:srgbClr val="ECF0F1"/>
                </a:solidFill>
              </a:defRPr>
            </a:pPr>
            <a:r>
              <a:t>📅  End-to-end testing &amp; data logging</a:t>
            </a:r>
          </a:p>
        </p:txBody>
      </p:sp>
      <p:sp>
        <p:nvSpPr>
          <p:cNvPr id="42" name="TextBox 41"/>
          <p:cNvSpPr txBox="1"/>
          <p:nvPr/>
        </p:nvSpPr>
        <p:spPr>
          <a:xfrm>
            <a:off x="6492240" y="5029200"/>
            <a:ext cx="4846320" cy="274320"/>
          </a:xfrm>
          <a:prstGeom prst="rect">
            <a:avLst/>
          </a:prstGeom>
          <a:noFill/>
        </p:spPr>
        <p:txBody>
          <a:bodyPr wrap="square">
            <a:spAutoFit/>
          </a:bodyPr>
          <a:lstStyle/>
          <a:p>
            <a:pPr algn="l">
              <a:lnSpc>
                <a:spcPts val="1560"/>
              </a:lnSpc>
              <a:defRPr sz="1200" b="0">
                <a:solidFill>
                  <a:srgbClr val="ECF0F1"/>
                </a:solidFill>
              </a:defRPr>
            </a:pPr>
            <a:r>
              <a:t>📅  Buffered vs non-buffered experiments</a:t>
            </a:r>
          </a:p>
        </p:txBody>
      </p:sp>
      <p:sp>
        <p:nvSpPr>
          <p:cNvPr id="43" name="TextBox 42"/>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COMPUTATIONAL METRICS</a:t>
            </a:r>
          </a:p>
        </p:txBody>
      </p:sp>
      <p:sp>
        <p:nvSpPr>
          <p:cNvPr id="5" name="Rounded Rectangle 4"/>
          <p:cNvSpPr/>
          <p:nvPr/>
        </p:nvSpPr>
        <p:spPr>
          <a:xfrm>
            <a:off x="7772400" y="164592"/>
            <a:ext cx="3931920" cy="457200"/>
          </a:xfrm>
          <a:prstGeom prst="roundRect">
            <a:avLst/>
          </a:prstGeom>
          <a:solidFill>
            <a:srgbClr val="F3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201168"/>
            <a:ext cx="3566160" cy="320040"/>
          </a:xfrm>
          <a:prstGeom prst="rect">
            <a:avLst/>
          </a:prstGeom>
          <a:noFill/>
        </p:spPr>
        <p:txBody>
          <a:bodyPr wrap="square">
            <a:spAutoFit/>
          </a:bodyPr>
          <a:lstStyle/>
          <a:p>
            <a:pPr algn="ctr">
              <a:lnSpc>
                <a:spcPts val="1430"/>
              </a:lnSpc>
              <a:defRPr sz="1100" b="1">
                <a:solidFill>
                  <a:srgbClr val="FFFFFF"/>
                </a:solidFill>
              </a:defRPr>
            </a:pPr>
            <a:r>
              <a:t>📌  FACULTY FEEDBACK FOCUS</a:t>
            </a:r>
          </a:p>
        </p:txBody>
      </p:sp>
      <p:sp>
        <p:nvSpPr>
          <p:cNvPr id="7" name="TextBox 6"/>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Computational Metrics — What &amp; Why</a:t>
            </a:r>
          </a:p>
        </p:txBody>
      </p:sp>
      <p:sp>
        <p:nvSpPr>
          <p:cNvPr id="8" name="Rectangle 7"/>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 y="1371600"/>
            <a:ext cx="5486400" cy="2103120"/>
          </a:xfrm>
          <a:prstGeom prst="roundRect">
            <a:avLst/>
          </a:prstGeom>
          <a:solidFill>
            <a:srgbClr val="13273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5029200" cy="274320"/>
          </a:xfrm>
          <a:prstGeom prst="rect">
            <a:avLst/>
          </a:prstGeom>
          <a:noFill/>
        </p:spPr>
        <p:txBody>
          <a:bodyPr wrap="square">
            <a:spAutoFit/>
          </a:bodyPr>
          <a:lstStyle/>
          <a:p>
            <a:pPr algn="l">
              <a:lnSpc>
                <a:spcPts val="1690"/>
              </a:lnSpc>
              <a:defRPr sz="1300" b="1">
                <a:solidFill>
                  <a:srgbClr val="00B4D8"/>
                </a:solidFill>
              </a:defRPr>
            </a:pPr>
            <a:r>
              <a:t>WHAT ARE COMPUTATIONAL METRICS?</a:t>
            </a:r>
          </a:p>
        </p:txBody>
      </p:sp>
      <p:sp>
        <p:nvSpPr>
          <p:cNvPr id="11" name="TextBox 10"/>
          <p:cNvSpPr txBox="1"/>
          <p:nvPr/>
        </p:nvSpPr>
        <p:spPr>
          <a:xfrm>
            <a:off x="731520" y="1920240"/>
            <a:ext cx="5029200" cy="1371600"/>
          </a:xfrm>
          <a:prstGeom prst="rect">
            <a:avLst/>
          </a:prstGeom>
          <a:noFill/>
        </p:spPr>
        <p:txBody>
          <a:bodyPr wrap="square">
            <a:spAutoFit/>
          </a:bodyPr>
          <a:lstStyle/>
          <a:p>
            <a:pPr algn="l">
              <a:lnSpc>
                <a:spcPts val="1690"/>
              </a:lnSpc>
              <a:defRPr sz="1300" b="0">
                <a:solidFill>
                  <a:srgbClr val="F8F9FA"/>
                </a:solidFill>
              </a:defRPr>
            </a:pPr>
            <a:r>
              <a:t>Computational metrics are quantitative measurements derived from mathematical formulas that characterize the performance, efficiency, and behaviour of the charging system. They transform raw sensor data (voltage, current) into meaningful engineering parameters that enable real-time decision making, closed-loop control, and experimental validation.</a:t>
            </a:r>
          </a:p>
        </p:txBody>
      </p:sp>
      <p:sp>
        <p:nvSpPr>
          <p:cNvPr id="12" name="Rounded Rectangle 11"/>
          <p:cNvSpPr/>
          <p:nvPr/>
        </p:nvSpPr>
        <p:spPr>
          <a:xfrm>
            <a:off x="6217920" y="1371600"/>
            <a:ext cx="5486400" cy="2103120"/>
          </a:xfrm>
          <a:prstGeom prst="roundRect">
            <a:avLst/>
          </a:prstGeom>
          <a:solidFill>
            <a:srgbClr val="13273F"/>
          </a:solidFill>
          <a:ln w="19050">
            <a:solidFill>
              <a:srgbClr val="F3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5029200" cy="274320"/>
          </a:xfrm>
          <a:prstGeom prst="rect">
            <a:avLst/>
          </a:prstGeom>
          <a:noFill/>
        </p:spPr>
        <p:txBody>
          <a:bodyPr wrap="square">
            <a:spAutoFit/>
          </a:bodyPr>
          <a:lstStyle/>
          <a:p>
            <a:pPr algn="l">
              <a:lnSpc>
                <a:spcPts val="1690"/>
              </a:lnSpc>
              <a:defRPr sz="1300" b="1">
                <a:solidFill>
                  <a:srgbClr val="F3961C"/>
                </a:solidFill>
              </a:defRPr>
            </a:pPr>
            <a:r>
              <a:t>WHY ARE THEY NEEDED?</a:t>
            </a:r>
          </a:p>
        </p:txBody>
      </p:sp>
      <p:sp>
        <p:nvSpPr>
          <p:cNvPr id="14" name="TextBox 13"/>
          <p:cNvSpPr txBox="1"/>
          <p:nvPr/>
        </p:nvSpPr>
        <p:spPr>
          <a:xfrm>
            <a:off x="6492240" y="1920240"/>
            <a:ext cx="5029200" cy="1371600"/>
          </a:xfrm>
          <a:prstGeom prst="rect">
            <a:avLst/>
          </a:prstGeom>
          <a:noFill/>
        </p:spPr>
        <p:txBody>
          <a:bodyPr wrap="square">
            <a:spAutoFit/>
          </a:bodyPr>
          <a:lstStyle/>
          <a:p>
            <a:pPr>
              <a:lnSpc>
                <a:spcPts val="1620"/>
              </a:lnSpc>
              <a:defRPr sz="1200">
                <a:solidFill>
                  <a:srgbClr val="F8F9FA"/>
                </a:solidFill>
              </a:defRPr>
            </a:pPr>
            <a:r>
              <a:rPr>
                <a:solidFill>
                  <a:srgbClr val="F3961C"/>
                </a:solidFill>
              </a:rPr>
              <a:t>▸  Enable real-time system monitoring &amp; feedback control</a:t>
            </a:r>
          </a:p>
          <a:p>
            <a:pPr>
              <a:lnSpc>
                <a:spcPts val="1620"/>
              </a:lnSpc>
              <a:defRPr sz="1200">
                <a:solidFill>
                  <a:srgbClr val="F8F9FA"/>
                </a:solidFill>
              </a:defRPr>
            </a:pPr>
            <a:r>
              <a:rPr>
                <a:solidFill>
                  <a:srgbClr val="F3961C"/>
                </a:solidFill>
              </a:rPr>
              <a:t>▸  Quantify charging performance (efficiency, power, energy)</a:t>
            </a:r>
          </a:p>
          <a:p>
            <a:pPr>
              <a:lnSpc>
                <a:spcPts val="1620"/>
              </a:lnSpc>
              <a:defRPr sz="1200">
                <a:solidFill>
                  <a:srgbClr val="F8F9FA"/>
                </a:solidFill>
              </a:defRPr>
            </a:pPr>
            <a:r>
              <a:rPr>
                <a:solidFill>
                  <a:srgbClr val="F3961C"/>
                </a:solidFill>
              </a:rPr>
              <a:t>▸  Drive closed-loop PWM regulation for optimal charging</a:t>
            </a:r>
          </a:p>
          <a:p>
            <a:pPr>
              <a:lnSpc>
                <a:spcPts val="1620"/>
              </a:lnSpc>
              <a:defRPr sz="1200">
                <a:solidFill>
                  <a:srgbClr val="F8F9FA"/>
                </a:solidFill>
              </a:defRPr>
            </a:pPr>
            <a:r>
              <a:rPr>
                <a:solidFill>
                  <a:srgbClr val="F3961C"/>
                </a:solidFill>
              </a:rPr>
              <a:t>▸  Provide comparative data: buffered vs non-buffered</a:t>
            </a:r>
          </a:p>
          <a:p>
            <a:pPr>
              <a:lnSpc>
                <a:spcPts val="1620"/>
              </a:lnSpc>
              <a:defRPr sz="1200">
                <a:solidFill>
                  <a:srgbClr val="F8F9FA"/>
                </a:solidFill>
              </a:defRPr>
            </a:pPr>
            <a:r>
              <a:rPr>
                <a:solidFill>
                  <a:srgbClr val="F3961C"/>
                </a:solidFill>
              </a:rPr>
              <a:t>▸  Ensure safety via protection threshold calculations</a:t>
            </a:r>
          </a:p>
        </p:txBody>
      </p:sp>
      <p:sp>
        <p:nvSpPr>
          <p:cNvPr id="15" name="Rounded Rectangle 14"/>
          <p:cNvSpPr/>
          <p:nvPr/>
        </p:nvSpPr>
        <p:spPr>
          <a:xfrm>
            <a:off x="457200" y="3749039"/>
            <a:ext cx="3566160" cy="1371600"/>
          </a:xfrm>
          <a:prstGeom prst="roundRect">
            <a:avLst/>
          </a:prstGeom>
          <a:solidFill>
            <a:srgbClr val="13273F"/>
          </a:solidFill>
          <a:ln w="19050">
            <a:solidFill>
              <a:srgbClr val="418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6928" y="3858767"/>
            <a:ext cx="411480" cy="411480"/>
          </a:xfrm>
          <a:prstGeom prst="ellipse">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800" b="1">
                <a:solidFill>
                  <a:srgbClr val="FFFFFF"/>
                </a:solidFill>
              </a:defRPr>
            </a:pPr>
            <a:r>
              <a:t>⚡</a:t>
            </a:r>
          </a:p>
        </p:txBody>
      </p:sp>
      <p:sp>
        <p:nvSpPr>
          <p:cNvPr id="17" name="TextBox 16"/>
          <p:cNvSpPr txBox="1"/>
          <p:nvPr/>
        </p:nvSpPr>
        <p:spPr>
          <a:xfrm>
            <a:off x="1097280" y="3840479"/>
            <a:ext cx="2743200" cy="228600"/>
          </a:xfrm>
          <a:prstGeom prst="rect">
            <a:avLst/>
          </a:prstGeom>
          <a:noFill/>
        </p:spPr>
        <p:txBody>
          <a:bodyPr wrap="square">
            <a:spAutoFit/>
          </a:bodyPr>
          <a:lstStyle/>
          <a:p>
            <a:pPr algn="l">
              <a:lnSpc>
                <a:spcPts val="1690"/>
              </a:lnSpc>
              <a:defRPr sz="1300" b="1">
                <a:solidFill>
                  <a:srgbClr val="418FDE"/>
                </a:solidFill>
              </a:defRPr>
            </a:pPr>
            <a:r>
              <a:t>Power</a:t>
            </a:r>
          </a:p>
        </p:txBody>
      </p:sp>
      <p:sp>
        <p:nvSpPr>
          <p:cNvPr id="18" name="TextBox 17"/>
          <p:cNvSpPr txBox="1"/>
          <p:nvPr/>
        </p:nvSpPr>
        <p:spPr>
          <a:xfrm>
            <a:off x="1097280" y="4096511"/>
            <a:ext cx="2743200" cy="228600"/>
          </a:xfrm>
          <a:prstGeom prst="rect">
            <a:avLst/>
          </a:prstGeom>
          <a:noFill/>
        </p:spPr>
        <p:txBody>
          <a:bodyPr wrap="square">
            <a:spAutoFit/>
          </a:bodyPr>
          <a:lstStyle/>
          <a:p>
            <a:pPr algn="l">
              <a:lnSpc>
                <a:spcPts val="1430"/>
              </a:lnSpc>
              <a:defRPr sz="1100" b="1">
                <a:solidFill>
                  <a:srgbClr val="FFFFFF"/>
                </a:solidFill>
              </a:defRPr>
            </a:pPr>
            <a:r>
              <a:t>P = V × I</a:t>
            </a:r>
          </a:p>
        </p:txBody>
      </p:sp>
      <p:sp>
        <p:nvSpPr>
          <p:cNvPr id="19" name="TextBox 18"/>
          <p:cNvSpPr txBox="1"/>
          <p:nvPr/>
        </p:nvSpPr>
        <p:spPr>
          <a:xfrm>
            <a:off x="640080" y="4434839"/>
            <a:ext cx="3200400" cy="228600"/>
          </a:xfrm>
          <a:prstGeom prst="rect">
            <a:avLst/>
          </a:prstGeom>
          <a:noFill/>
        </p:spPr>
        <p:txBody>
          <a:bodyPr wrap="square">
            <a:spAutoFit/>
          </a:bodyPr>
          <a:lstStyle/>
          <a:p>
            <a:pPr algn="l">
              <a:lnSpc>
                <a:spcPts val="1300"/>
              </a:lnSpc>
              <a:defRPr sz="1000" b="0">
                <a:solidFill>
                  <a:srgbClr val="ECF0F1"/>
                </a:solidFill>
              </a:defRPr>
            </a:pPr>
            <a:r>
              <a:t>Instantaneous power from</a:t>
            </a:r>
          </a:p>
        </p:txBody>
      </p:sp>
      <p:sp>
        <p:nvSpPr>
          <p:cNvPr id="20" name="TextBox 19"/>
          <p:cNvSpPr txBox="1"/>
          <p:nvPr/>
        </p:nvSpPr>
        <p:spPr>
          <a:xfrm>
            <a:off x="640080" y="4645151"/>
            <a:ext cx="3200400" cy="228600"/>
          </a:xfrm>
          <a:prstGeom prst="rect">
            <a:avLst/>
          </a:prstGeom>
          <a:noFill/>
        </p:spPr>
        <p:txBody>
          <a:bodyPr wrap="square">
            <a:spAutoFit/>
          </a:bodyPr>
          <a:lstStyle/>
          <a:p>
            <a:pPr algn="l">
              <a:lnSpc>
                <a:spcPts val="1300"/>
              </a:lnSpc>
              <a:defRPr sz="1000" b="0">
                <a:solidFill>
                  <a:srgbClr val="ECF0F1"/>
                </a:solidFill>
              </a:defRPr>
            </a:pPr>
            <a:r>
              <a:t>voltage × current (Watts)</a:t>
            </a:r>
          </a:p>
        </p:txBody>
      </p:sp>
      <p:sp>
        <p:nvSpPr>
          <p:cNvPr id="21" name="Rounded Rectangle 20"/>
          <p:cNvSpPr/>
          <p:nvPr/>
        </p:nvSpPr>
        <p:spPr>
          <a:xfrm>
            <a:off x="4206240" y="3749039"/>
            <a:ext cx="3566160" cy="1371600"/>
          </a:xfrm>
          <a:prstGeom prst="roundRect">
            <a:avLst/>
          </a:prstGeom>
          <a:solidFill>
            <a:srgbClr val="13273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315968" y="3858767"/>
            <a:ext cx="411480" cy="41148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800" b="1">
                <a:solidFill>
                  <a:srgbClr val="FFFFFF"/>
                </a:solidFill>
              </a:defRPr>
            </a:pPr>
            <a:r>
              <a:t>🔋</a:t>
            </a:r>
          </a:p>
        </p:txBody>
      </p:sp>
      <p:sp>
        <p:nvSpPr>
          <p:cNvPr id="23" name="TextBox 22"/>
          <p:cNvSpPr txBox="1"/>
          <p:nvPr/>
        </p:nvSpPr>
        <p:spPr>
          <a:xfrm>
            <a:off x="4846320" y="3840479"/>
            <a:ext cx="2743200" cy="228600"/>
          </a:xfrm>
          <a:prstGeom prst="rect">
            <a:avLst/>
          </a:prstGeom>
          <a:noFill/>
        </p:spPr>
        <p:txBody>
          <a:bodyPr wrap="square">
            <a:spAutoFit/>
          </a:bodyPr>
          <a:lstStyle/>
          <a:p>
            <a:pPr algn="l">
              <a:lnSpc>
                <a:spcPts val="1690"/>
              </a:lnSpc>
              <a:defRPr sz="1300" b="1">
                <a:solidFill>
                  <a:srgbClr val="2ECC71"/>
                </a:solidFill>
              </a:defRPr>
            </a:pPr>
            <a:r>
              <a:t>Energy</a:t>
            </a:r>
          </a:p>
        </p:txBody>
      </p:sp>
      <p:sp>
        <p:nvSpPr>
          <p:cNvPr id="24" name="TextBox 23"/>
          <p:cNvSpPr txBox="1"/>
          <p:nvPr/>
        </p:nvSpPr>
        <p:spPr>
          <a:xfrm>
            <a:off x="4846320" y="4096511"/>
            <a:ext cx="2743200" cy="228600"/>
          </a:xfrm>
          <a:prstGeom prst="rect">
            <a:avLst/>
          </a:prstGeom>
          <a:noFill/>
        </p:spPr>
        <p:txBody>
          <a:bodyPr wrap="square">
            <a:spAutoFit/>
          </a:bodyPr>
          <a:lstStyle/>
          <a:p>
            <a:pPr algn="l">
              <a:lnSpc>
                <a:spcPts val="1430"/>
              </a:lnSpc>
              <a:defRPr sz="1100" b="1">
                <a:solidFill>
                  <a:srgbClr val="FFFFFF"/>
                </a:solidFill>
              </a:defRPr>
            </a:pPr>
            <a:r>
              <a:t>E = Σ(P × Δt)</a:t>
            </a:r>
          </a:p>
        </p:txBody>
      </p:sp>
      <p:sp>
        <p:nvSpPr>
          <p:cNvPr id="25" name="TextBox 24"/>
          <p:cNvSpPr txBox="1"/>
          <p:nvPr/>
        </p:nvSpPr>
        <p:spPr>
          <a:xfrm>
            <a:off x="4389120" y="4434839"/>
            <a:ext cx="3200400" cy="228600"/>
          </a:xfrm>
          <a:prstGeom prst="rect">
            <a:avLst/>
          </a:prstGeom>
          <a:noFill/>
        </p:spPr>
        <p:txBody>
          <a:bodyPr wrap="square">
            <a:spAutoFit/>
          </a:bodyPr>
          <a:lstStyle/>
          <a:p>
            <a:pPr algn="l">
              <a:lnSpc>
                <a:spcPts val="1300"/>
              </a:lnSpc>
              <a:defRPr sz="1000" b="0">
                <a:solidFill>
                  <a:srgbClr val="ECF0F1"/>
                </a:solidFill>
              </a:defRPr>
            </a:pPr>
            <a:r>
              <a:t>Cumulative energy over time</a:t>
            </a:r>
          </a:p>
        </p:txBody>
      </p:sp>
      <p:sp>
        <p:nvSpPr>
          <p:cNvPr id="26" name="TextBox 25"/>
          <p:cNvSpPr txBox="1"/>
          <p:nvPr/>
        </p:nvSpPr>
        <p:spPr>
          <a:xfrm>
            <a:off x="4389120" y="4645151"/>
            <a:ext cx="3200400" cy="228600"/>
          </a:xfrm>
          <a:prstGeom prst="rect">
            <a:avLst/>
          </a:prstGeom>
          <a:noFill/>
        </p:spPr>
        <p:txBody>
          <a:bodyPr wrap="square">
            <a:spAutoFit/>
          </a:bodyPr>
          <a:lstStyle/>
          <a:p>
            <a:pPr algn="l">
              <a:lnSpc>
                <a:spcPts val="1300"/>
              </a:lnSpc>
              <a:defRPr sz="1000" b="0">
                <a:solidFill>
                  <a:srgbClr val="ECF0F1"/>
                </a:solidFill>
              </a:defRPr>
            </a:pPr>
            <a:r>
              <a:t>in Watt-hours</a:t>
            </a:r>
          </a:p>
        </p:txBody>
      </p:sp>
      <p:sp>
        <p:nvSpPr>
          <p:cNvPr id="27" name="Rounded Rectangle 26"/>
          <p:cNvSpPr/>
          <p:nvPr/>
        </p:nvSpPr>
        <p:spPr>
          <a:xfrm>
            <a:off x="7955280" y="3749039"/>
            <a:ext cx="3566160" cy="1371600"/>
          </a:xfrm>
          <a:prstGeom prst="roundRect">
            <a:avLst/>
          </a:prstGeom>
          <a:solidFill>
            <a:srgbClr val="13273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65008" y="3858767"/>
            <a:ext cx="411480" cy="4114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800" b="1">
                <a:solidFill>
                  <a:srgbClr val="FFFFFF"/>
                </a:solidFill>
              </a:defRPr>
            </a:pPr>
            <a:r>
              <a:t>📈</a:t>
            </a:r>
          </a:p>
        </p:txBody>
      </p:sp>
      <p:sp>
        <p:nvSpPr>
          <p:cNvPr id="29" name="TextBox 28"/>
          <p:cNvSpPr txBox="1"/>
          <p:nvPr/>
        </p:nvSpPr>
        <p:spPr>
          <a:xfrm>
            <a:off x="8595360" y="3840479"/>
            <a:ext cx="2743200" cy="228600"/>
          </a:xfrm>
          <a:prstGeom prst="rect">
            <a:avLst/>
          </a:prstGeom>
          <a:noFill/>
        </p:spPr>
        <p:txBody>
          <a:bodyPr wrap="square">
            <a:spAutoFit/>
          </a:bodyPr>
          <a:lstStyle/>
          <a:p>
            <a:pPr algn="l">
              <a:lnSpc>
                <a:spcPts val="1690"/>
              </a:lnSpc>
              <a:defRPr sz="1300" b="1">
                <a:solidFill>
                  <a:srgbClr val="00B4D8"/>
                </a:solidFill>
              </a:defRPr>
            </a:pPr>
            <a:r>
              <a:t>Efficiency</a:t>
            </a:r>
          </a:p>
        </p:txBody>
      </p:sp>
      <p:sp>
        <p:nvSpPr>
          <p:cNvPr id="30" name="TextBox 29"/>
          <p:cNvSpPr txBox="1"/>
          <p:nvPr/>
        </p:nvSpPr>
        <p:spPr>
          <a:xfrm>
            <a:off x="8595360" y="4096511"/>
            <a:ext cx="2743200" cy="228600"/>
          </a:xfrm>
          <a:prstGeom prst="rect">
            <a:avLst/>
          </a:prstGeom>
          <a:noFill/>
        </p:spPr>
        <p:txBody>
          <a:bodyPr wrap="square">
            <a:spAutoFit/>
          </a:bodyPr>
          <a:lstStyle/>
          <a:p>
            <a:pPr algn="l">
              <a:lnSpc>
                <a:spcPts val="1430"/>
              </a:lnSpc>
              <a:defRPr sz="1100" b="1">
                <a:solidFill>
                  <a:srgbClr val="FFFFFF"/>
                </a:solidFill>
              </a:defRPr>
            </a:pPr>
            <a:r>
              <a:t>η = P_out/P_in × 100%</a:t>
            </a:r>
          </a:p>
        </p:txBody>
      </p:sp>
      <p:sp>
        <p:nvSpPr>
          <p:cNvPr id="31" name="TextBox 30"/>
          <p:cNvSpPr txBox="1"/>
          <p:nvPr/>
        </p:nvSpPr>
        <p:spPr>
          <a:xfrm>
            <a:off x="8138160" y="4434839"/>
            <a:ext cx="3200400" cy="228600"/>
          </a:xfrm>
          <a:prstGeom prst="rect">
            <a:avLst/>
          </a:prstGeom>
          <a:noFill/>
        </p:spPr>
        <p:txBody>
          <a:bodyPr wrap="square">
            <a:spAutoFit/>
          </a:bodyPr>
          <a:lstStyle/>
          <a:p>
            <a:pPr algn="l">
              <a:lnSpc>
                <a:spcPts val="1300"/>
              </a:lnSpc>
              <a:defRPr sz="1000" b="0">
                <a:solidFill>
                  <a:srgbClr val="ECF0F1"/>
                </a:solidFill>
              </a:defRPr>
            </a:pPr>
            <a:r>
              <a:t>Ratio of useful output</a:t>
            </a:r>
          </a:p>
        </p:txBody>
      </p:sp>
      <p:sp>
        <p:nvSpPr>
          <p:cNvPr id="32" name="TextBox 31"/>
          <p:cNvSpPr txBox="1"/>
          <p:nvPr/>
        </p:nvSpPr>
        <p:spPr>
          <a:xfrm>
            <a:off x="8138160" y="4645151"/>
            <a:ext cx="3200400" cy="228600"/>
          </a:xfrm>
          <a:prstGeom prst="rect">
            <a:avLst/>
          </a:prstGeom>
          <a:noFill/>
        </p:spPr>
        <p:txBody>
          <a:bodyPr wrap="square">
            <a:spAutoFit/>
          </a:bodyPr>
          <a:lstStyle/>
          <a:p>
            <a:pPr algn="l">
              <a:lnSpc>
                <a:spcPts val="1300"/>
              </a:lnSpc>
              <a:defRPr sz="1000" b="0">
                <a:solidFill>
                  <a:srgbClr val="ECF0F1"/>
                </a:solidFill>
              </a:defRPr>
            </a:pPr>
            <a:r>
              <a:t>to total input power</a:t>
            </a:r>
          </a:p>
        </p:txBody>
      </p:sp>
      <p:sp>
        <p:nvSpPr>
          <p:cNvPr id="33" name="Rounded Rectangle 32"/>
          <p:cNvSpPr/>
          <p:nvPr/>
        </p:nvSpPr>
        <p:spPr>
          <a:xfrm>
            <a:off x="457200" y="5257799"/>
            <a:ext cx="3566160" cy="1371600"/>
          </a:xfrm>
          <a:prstGeom prst="roundRect">
            <a:avLst/>
          </a:prstGeom>
          <a:solidFill>
            <a:srgbClr val="13273F"/>
          </a:solidFill>
          <a:ln w="19050">
            <a:solidFill>
              <a:srgbClr val="F3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66928" y="5367527"/>
            <a:ext cx="411480" cy="411480"/>
          </a:xfrm>
          <a:prstGeom prst="ellipse">
            <a:avLst/>
          </a:prstGeom>
          <a:solidFill>
            <a:srgbClr val="F3961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800" b="1">
                <a:solidFill>
                  <a:srgbClr val="FFFFFF"/>
                </a:solidFill>
              </a:defRPr>
            </a:pPr>
            <a:r>
              <a:t>🔌</a:t>
            </a:r>
          </a:p>
        </p:txBody>
      </p:sp>
      <p:sp>
        <p:nvSpPr>
          <p:cNvPr id="35" name="TextBox 34"/>
          <p:cNvSpPr txBox="1"/>
          <p:nvPr/>
        </p:nvSpPr>
        <p:spPr>
          <a:xfrm>
            <a:off x="1097280" y="5349239"/>
            <a:ext cx="2743200" cy="228600"/>
          </a:xfrm>
          <a:prstGeom prst="rect">
            <a:avLst/>
          </a:prstGeom>
          <a:noFill/>
        </p:spPr>
        <p:txBody>
          <a:bodyPr wrap="square">
            <a:spAutoFit/>
          </a:bodyPr>
          <a:lstStyle/>
          <a:p>
            <a:pPr algn="l">
              <a:lnSpc>
                <a:spcPts val="1690"/>
              </a:lnSpc>
              <a:defRPr sz="1300" b="1">
                <a:solidFill>
                  <a:srgbClr val="F3961C"/>
                </a:solidFill>
              </a:defRPr>
            </a:pPr>
            <a:r>
              <a:t>Supercap SoC</a:t>
            </a:r>
          </a:p>
        </p:txBody>
      </p:sp>
      <p:sp>
        <p:nvSpPr>
          <p:cNvPr id="36" name="TextBox 35"/>
          <p:cNvSpPr txBox="1"/>
          <p:nvPr/>
        </p:nvSpPr>
        <p:spPr>
          <a:xfrm>
            <a:off x="1097280" y="5605271"/>
            <a:ext cx="2743200" cy="228600"/>
          </a:xfrm>
          <a:prstGeom prst="rect">
            <a:avLst/>
          </a:prstGeom>
          <a:noFill/>
        </p:spPr>
        <p:txBody>
          <a:bodyPr wrap="square">
            <a:spAutoFit/>
          </a:bodyPr>
          <a:lstStyle/>
          <a:p>
            <a:pPr algn="l">
              <a:lnSpc>
                <a:spcPts val="1430"/>
              </a:lnSpc>
              <a:defRPr sz="1100" b="1">
                <a:solidFill>
                  <a:srgbClr val="FFFFFF"/>
                </a:solidFill>
              </a:defRPr>
            </a:pPr>
            <a:r>
              <a:t>SoC = (V²-V²min)/(V²max-V²min)</a:t>
            </a:r>
          </a:p>
        </p:txBody>
      </p:sp>
      <p:sp>
        <p:nvSpPr>
          <p:cNvPr id="37" name="TextBox 36"/>
          <p:cNvSpPr txBox="1"/>
          <p:nvPr/>
        </p:nvSpPr>
        <p:spPr>
          <a:xfrm>
            <a:off x="640080" y="5943599"/>
            <a:ext cx="3200400" cy="228600"/>
          </a:xfrm>
          <a:prstGeom prst="rect">
            <a:avLst/>
          </a:prstGeom>
          <a:noFill/>
        </p:spPr>
        <p:txBody>
          <a:bodyPr wrap="square">
            <a:spAutoFit/>
          </a:bodyPr>
          <a:lstStyle/>
          <a:p>
            <a:pPr algn="l">
              <a:lnSpc>
                <a:spcPts val="1300"/>
              </a:lnSpc>
              <a:defRPr sz="1000" b="0">
                <a:solidFill>
                  <a:srgbClr val="ECF0F1"/>
                </a:solidFill>
              </a:defRPr>
            </a:pPr>
            <a:r>
              <a:t>Energy-based state of charge</a:t>
            </a:r>
          </a:p>
        </p:txBody>
      </p:sp>
      <p:sp>
        <p:nvSpPr>
          <p:cNvPr id="38" name="TextBox 37"/>
          <p:cNvSpPr txBox="1"/>
          <p:nvPr/>
        </p:nvSpPr>
        <p:spPr>
          <a:xfrm>
            <a:off x="640080" y="6153911"/>
            <a:ext cx="3200400" cy="228600"/>
          </a:xfrm>
          <a:prstGeom prst="rect">
            <a:avLst/>
          </a:prstGeom>
          <a:noFill/>
        </p:spPr>
        <p:txBody>
          <a:bodyPr wrap="square">
            <a:spAutoFit/>
          </a:bodyPr>
          <a:lstStyle/>
          <a:p>
            <a:pPr algn="l">
              <a:lnSpc>
                <a:spcPts val="1300"/>
              </a:lnSpc>
              <a:defRPr sz="1000" b="0">
                <a:solidFill>
                  <a:srgbClr val="ECF0F1"/>
                </a:solidFill>
              </a:defRPr>
            </a:pPr>
            <a:r>
              <a:t>(proportional to V²)</a:t>
            </a:r>
          </a:p>
        </p:txBody>
      </p:sp>
      <p:sp>
        <p:nvSpPr>
          <p:cNvPr id="39" name="Rounded Rectangle 38"/>
          <p:cNvSpPr/>
          <p:nvPr/>
        </p:nvSpPr>
        <p:spPr>
          <a:xfrm>
            <a:off x="4206240" y="5257799"/>
            <a:ext cx="3566160" cy="1371600"/>
          </a:xfrm>
          <a:prstGeom prst="roundRect">
            <a:avLst/>
          </a:prstGeom>
          <a:solidFill>
            <a:srgbClr val="13273F"/>
          </a:solidFill>
          <a:ln w="19050">
            <a:solidFill>
              <a:srgbClr val="418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315968" y="5367527"/>
            <a:ext cx="411480" cy="411480"/>
          </a:xfrm>
          <a:prstGeom prst="ellipse">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800" b="1">
                <a:solidFill>
                  <a:srgbClr val="FFFFFF"/>
                </a:solidFill>
              </a:defRPr>
            </a:pPr>
            <a:r>
              <a:t>⚙️</a:t>
            </a:r>
          </a:p>
        </p:txBody>
      </p:sp>
      <p:sp>
        <p:nvSpPr>
          <p:cNvPr id="41" name="TextBox 40"/>
          <p:cNvSpPr txBox="1"/>
          <p:nvPr/>
        </p:nvSpPr>
        <p:spPr>
          <a:xfrm>
            <a:off x="4846320" y="5349239"/>
            <a:ext cx="2743200" cy="228600"/>
          </a:xfrm>
          <a:prstGeom prst="rect">
            <a:avLst/>
          </a:prstGeom>
          <a:noFill/>
        </p:spPr>
        <p:txBody>
          <a:bodyPr wrap="square">
            <a:spAutoFit/>
          </a:bodyPr>
          <a:lstStyle/>
          <a:p>
            <a:pPr algn="l">
              <a:lnSpc>
                <a:spcPts val="1690"/>
              </a:lnSpc>
              <a:defRPr sz="1300" b="1">
                <a:solidFill>
                  <a:srgbClr val="418FDE"/>
                </a:solidFill>
              </a:defRPr>
            </a:pPr>
            <a:r>
              <a:t>PWM Duty Cycle</a:t>
            </a:r>
          </a:p>
        </p:txBody>
      </p:sp>
      <p:sp>
        <p:nvSpPr>
          <p:cNvPr id="42" name="TextBox 41"/>
          <p:cNvSpPr txBox="1"/>
          <p:nvPr/>
        </p:nvSpPr>
        <p:spPr>
          <a:xfrm>
            <a:off x="4846320" y="5605271"/>
            <a:ext cx="2743200" cy="228600"/>
          </a:xfrm>
          <a:prstGeom prst="rect">
            <a:avLst/>
          </a:prstGeom>
          <a:noFill/>
        </p:spPr>
        <p:txBody>
          <a:bodyPr wrap="square">
            <a:spAutoFit/>
          </a:bodyPr>
          <a:lstStyle/>
          <a:p>
            <a:pPr algn="l">
              <a:lnSpc>
                <a:spcPts val="1430"/>
              </a:lnSpc>
              <a:defRPr sz="1100" b="1">
                <a:solidFill>
                  <a:srgbClr val="FFFFFF"/>
                </a:solidFill>
              </a:defRPr>
            </a:pPr>
            <a:r>
              <a:t>D = V_out/V_in × 100%</a:t>
            </a:r>
          </a:p>
        </p:txBody>
      </p:sp>
      <p:sp>
        <p:nvSpPr>
          <p:cNvPr id="43" name="TextBox 42"/>
          <p:cNvSpPr txBox="1"/>
          <p:nvPr/>
        </p:nvSpPr>
        <p:spPr>
          <a:xfrm>
            <a:off x="4389120" y="5943599"/>
            <a:ext cx="3200400" cy="228600"/>
          </a:xfrm>
          <a:prstGeom prst="rect">
            <a:avLst/>
          </a:prstGeom>
          <a:noFill/>
        </p:spPr>
        <p:txBody>
          <a:bodyPr wrap="square">
            <a:spAutoFit/>
          </a:bodyPr>
          <a:lstStyle/>
          <a:p>
            <a:pPr algn="l">
              <a:lnSpc>
                <a:spcPts val="1300"/>
              </a:lnSpc>
              <a:defRPr sz="1000" b="0">
                <a:solidFill>
                  <a:srgbClr val="ECF0F1"/>
                </a:solidFill>
              </a:defRPr>
            </a:pPr>
            <a:r>
              <a:t>Controls DC-DC converter</a:t>
            </a:r>
          </a:p>
        </p:txBody>
      </p:sp>
      <p:sp>
        <p:nvSpPr>
          <p:cNvPr id="44" name="TextBox 43"/>
          <p:cNvSpPr txBox="1"/>
          <p:nvPr/>
        </p:nvSpPr>
        <p:spPr>
          <a:xfrm>
            <a:off x="4389120" y="6153911"/>
            <a:ext cx="3200400" cy="228600"/>
          </a:xfrm>
          <a:prstGeom prst="rect">
            <a:avLst/>
          </a:prstGeom>
          <a:noFill/>
        </p:spPr>
        <p:txBody>
          <a:bodyPr wrap="square">
            <a:spAutoFit/>
          </a:bodyPr>
          <a:lstStyle/>
          <a:p>
            <a:pPr algn="l">
              <a:lnSpc>
                <a:spcPts val="1300"/>
              </a:lnSpc>
              <a:defRPr sz="1000" b="0">
                <a:solidFill>
                  <a:srgbClr val="ECF0F1"/>
                </a:solidFill>
              </a:defRPr>
            </a:pPr>
            <a:r>
              <a:t>output voltage level</a:t>
            </a:r>
          </a:p>
        </p:txBody>
      </p:sp>
      <p:sp>
        <p:nvSpPr>
          <p:cNvPr id="45" name="Rounded Rectangle 44"/>
          <p:cNvSpPr/>
          <p:nvPr/>
        </p:nvSpPr>
        <p:spPr>
          <a:xfrm>
            <a:off x="7955280" y="5257799"/>
            <a:ext cx="3566160" cy="1371600"/>
          </a:xfrm>
          <a:prstGeom prst="roundRect">
            <a:avLst/>
          </a:prstGeom>
          <a:solidFill>
            <a:srgbClr val="13273F"/>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065008" y="5367527"/>
            <a:ext cx="411480" cy="41148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800" b="1">
                <a:solidFill>
                  <a:srgbClr val="FFFFFF"/>
                </a:solidFill>
              </a:defRPr>
            </a:pPr>
            <a:r>
              <a:t>📊</a:t>
            </a:r>
          </a:p>
        </p:txBody>
      </p:sp>
      <p:sp>
        <p:nvSpPr>
          <p:cNvPr id="47" name="TextBox 46"/>
          <p:cNvSpPr txBox="1"/>
          <p:nvPr/>
        </p:nvSpPr>
        <p:spPr>
          <a:xfrm>
            <a:off x="8595360" y="5349239"/>
            <a:ext cx="2743200" cy="228600"/>
          </a:xfrm>
          <a:prstGeom prst="rect">
            <a:avLst/>
          </a:prstGeom>
          <a:noFill/>
        </p:spPr>
        <p:txBody>
          <a:bodyPr wrap="square">
            <a:spAutoFit/>
          </a:bodyPr>
          <a:lstStyle/>
          <a:p>
            <a:pPr algn="l">
              <a:lnSpc>
                <a:spcPts val="1690"/>
              </a:lnSpc>
              <a:defRPr sz="1300" b="1">
                <a:solidFill>
                  <a:srgbClr val="E74C3C"/>
                </a:solidFill>
              </a:defRPr>
            </a:pPr>
            <a:r>
              <a:t>Error Analysis</a:t>
            </a:r>
          </a:p>
        </p:txBody>
      </p:sp>
      <p:sp>
        <p:nvSpPr>
          <p:cNvPr id="48" name="TextBox 47"/>
          <p:cNvSpPr txBox="1"/>
          <p:nvPr/>
        </p:nvSpPr>
        <p:spPr>
          <a:xfrm>
            <a:off x="8595360" y="5605271"/>
            <a:ext cx="2743200" cy="228600"/>
          </a:xfrm>
          <a:prstGeom prst="rect">
            <a:avLst/>
          </a:prstGeom>
          <a:noFill/>
        </p:spPr>
        <p:txBody>
          <a:bodyPr wrap="square">
            <a:spAutoFit/>
          </a:bodyPr>
          <a:lstStyle/>
          <a:p>
            <a:pPr algn="l">
              <a:lnSpc>
                <a:spcPts val="1430"/>
              </a:lnSpc>
              <a:defRPr sz="1100" b="1">
                <a:solidFill>
                  <a:srgbClr val="FFFFFF"/>
                </a:solidFill>
              </a:defRPr>
            </a:pPr>
            <a:r>
              <a:t>±2.06% total error</a:t>
            </a:r>
          </a:p>
        </p:txBody>
      </p:sp>
      <p:sp>
        <p:nvSpPr>
          <p:cNvPr id="49" name="TextBox 48"/>
          <p:cNvSpPr txBox="1"/>
          <p:nvPr/>
        </p:nvSpPr>
        <p:spPr>
          <a:xfrm>
            <a:off x="8138160" y="5943599"/>
            <a:ext cx="3200400" cy="228600"/>
          </a:xfrm>
          <a:prstGeom prst="rect">
            <a:avLst/>
          </a:prstGeom>
          <a:noFill/>
        </p:spPr>
        <p:txBody>
          <a:bodyPr wrap="square">
            <a:spAutoFit/>
          </a:bodyPr>
          <a:lstStyle/>
          <a:p>
            <a:pPr algn="l">
              <a:lnSpc>
                <a:spcPts val="1300"/>
              </a:lnSpc>
              <a:defRPr sz="1000" b="0">
                <a:solidFill>
                  <a:srgbClr val="ECF0F1"/>
                </a:solidFill>
              </a:defRPr>
            </a:pPr>
            <a:r>
              <a:t>ADC quantization + sensor</a:t>
            </a:r>
          </a:p>
        </p:txBody>
      </p:sp>
      <p:sp>
        <p:nvSpPr>
          <p:cNvPr id="50" name="TextBox 49"/>
          <p:cNvSpPr txBox="1"/>
          <p:nvPr/>
        </p:nvSpPr>
        <p:spPr>
          <a:xfrm>
            <a:off x="8138160" y="6153911"/>
            <a:ext cx="3200400" cy="228600"/>
          </a:xfrm>
          <a:prstGeom prst="rect">
            <a:avLst/>
          </a:prstGeom>
          <a:noFill/>
        </p:spPr>
        <p:txBody>
          <a:bodyPr wrap="square">
            <a:spAutoFit/>
          </a:bodyPr>
          <a:lstStyle/>
          <a:p>
            <a:pPr algn="l">
              <a:lnSpc>
                <a:spcPts val="1300"/>
              </a:lnSpc>
              <a:defRPr sz="1000" b="0">
                <a:solidFill>
                  <a:srgbClr val="ECF0F1"/>
                </a:solidFill>
              </a:defRPr>
            </a:pPr>
            <a:r>
              <a:t>accuracy combined</a:t>
            </a:r>
          </a:p>
        </p:txBody>
      </p:sp>
      <p:sp>
        <p:nvSpPr>
          <p:cNvPr id="51" name="TextBox 50"/>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COMPUTATIONAL METRICS</a:t>
            </a:r>
          </a:p>
        </p:txBody>
      </p:sp>
      <p:sp>
        <p:nvSpPr>
          <p:cNvPr id="5" name="Rounded Rectangle 4"/>
          <p:cNvSpPr/>
          <p:nvPr/>
        </p:nvSpPr>
        <p:spPr>
          <a:xfrm>
            <a:off x="7772400" y="164592"/>
            <a:ext cx="3931920" cy="457200"/>
          </a:xfrm>
          <a:prstGeom prst="roundRect">
            <a:avLst/>
          </a:prstGeom>
          <a:solidFill>
            <a:srgbClr val="F3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201168"/>
            <a:ext cx="3566160" cy="320040"/>
          </a:xfrm>
          <a:prstGeom prst="rect">
            <a:avLst/>
          </a:prstGeom>
          <a:noFill/>
        </p:spPr>
        <p:txBody>
          <a:bodyPr wrap="square">
            <a:spAutoFit/>
          </a:bodyPr>
          <a:lstStyle/>
          <a:p>
            <a:pPr algn="ctr">
              <a:lnSpc>
                <a:spcPts val="1430"/>
              </a:lnSpc>
              <a:defRPr sz="1100" b="1">
                <a:solidFill>
                  <a:srgbClr val="FFFFFF"/>
                </a:solidFill>
              </a:defRPr>
            </a:pPr>
            <a:r>
              <a:t>📌  FACULTY FEEDBACK FOCUS</a:t>
            </a:r>
          </a:p>
        </p:txBody>
      </p:sp>
      <p:sp>
        <p:nvSpPr>
          <p:cNvPr id="7" name="TextBox 6"/>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Key Formulas &amp; Practical Application</a:t>
            </a:r>
          </a:p>
        </p:txBody>
      </p:sp>
      <p:sp>
        <p:nvSpPr>
          <p:cNvPr id="8" name="Rectangle 7"/>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 y="1325880"/>
            <a:ext cx="5577840" cy="1097280"/>
          </a:xfrm>
          <a:prstGeom prst="roundRect">
            <a:avLst/>
          </a:prstGeom>
          <a:solidFill>
            <a:srgbClr val="13273F"/>
          </a:solidFill>
          <a:ln w="19050">
            <a:solidFill>
              <a:srgbClr val="418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71600"/>
            <a:ext cx="2743200" cy="182880"/>
          </a:xfrm>
          <a:prstGeom prst="rect">
            <a:avLst/>
          </a:prstGeom>
          <a:noFill/>
        </p:spPr>
        <p:txBody>
          <a:bodyPr wrap="square">
            <a:spAutoFit/>
          </a:bodyPr>
          <a:lstStyle/>
          <a:p>
            <a:pPr algn="l">
              <a:lnSpc>
                <a:spcPts val="1300"/>
              </a:lnSpc>
              <a:defRPr sz="1000" b="1">
                <a:solidFill>
                  <a:srgbClr val="418FDE"/>
                </a:solidFill>
              </a:defRPr>
            </a:pPr>
            <a:r>
              <a:t>1. POWER CALCULATION</a:t>
            </a:r>
          </a:p>
        </p:txBody>
      </p:sp>
      <p:sp>
        <p:nvSpPr>
          <p:cNvPr id="11" name="TextBox 10"/>
          <p:cNvSpPr txBox="1"/>
          <p:nvPr/>
        </p:nvSpPr>
        <p:spPr>
          <a:xfrm>
            <a:off x="594360" y="1581912"/>
            <a:ext cx="2286000" cy="274320"/>
          </a:xfrm>
          <a:prstGeom prst="rect">
            <a:avLst/>
          </a:prstGeom>
          <a:noFill/>
        </p:spPr>
        <p:txBody>
          <a:bodyPr wrap="square">
            <a:spAutoFit/>
          </a:bodyPr>
          <a:lstStyle/>
          <a:p>
            <a:pPr algn="l">
              <a:lnSpc>
                <a:spcPts val="2080"/>
              </a:lnSpc>
              <a:defRPr sz="1600" b="1">
                <a:solidFill>
                  <a:srgbClr val="FFFFFF"/>
                </a:solidFill>
              </a:defRPr>
            </a:pPr>
            <a:r>
              <a:t>P = V × I</a:t>
            </a:r>
          </a:p>
        </p:txBody>
      </p:sp>
      <p:sp>
        <p:nvSpPr>
          <p:cNvPr id="12" name="TextBox 11"/>
          <p:cNvSpPr txBox="1"/>
          <p:nvPr/>
        </p:nvSpPr>
        <p:spPr>
          <a:xfrm>
            <a:off x="2926080" y="1371600"/>
            <a:ext cx="2926080" cy="274320"/>
          </a:xfrm>
          <a:prstGeom prst="rect">
            <a:avLst/>
          </a:prstGeom>
          <a:noFill/>
        </p:spPr>
        <p:txBody>
          <a:bodyPr wrap="square">
            <a:spAutoFit/>
          </a:bodyPr>
          <a:lstStyle/>
          <a:p>
            <a:pPr algn="l">
              <a:lnSpc>
                <a:spcPts val="1430"/>
              </a:lnSpc>
              <a:defRPr sz="1100" b="1">
                <a:solidFill>
                  <a:srgbClr val="F1C40F"/>
                </a:solidFill>
              </a:defRPr>
            </a:pPr>
            <a:r>
              <a:t>Example: V=12V, I=3A → P = 36W</a:t>
            </a:r>
          </a:p>
        </p:txBody>
      </p:sp>
      <p:sp>
        <p:nvSpPr>
          <p:cNvPr id="13" name="TextBox 12"/>
          <p:cNvSpPr txBox="1"/>
          <p:nvPr/>
        </p:nvSpPr>
        <p:spPr>
          <a:xfrm>
            <a:off x="594360" y="1920240"/>
            <a:ext cx="5303520" cy="457200"/>
          </a:xfrm>
          <a:prstGeom prst="rect">
            <a:avLst/>
          </a:prstGeom>
          <a:noFill/>
        </p:spPr>
        <p:txBody>
          <a:bodyPr wrap="square">
            <a:spAutoFit/>
          </a:bodyPr>
          <a:lstStyle/>
          <a:p>
            <a:pPr algn="l">
              <a:lnSpc>
                <a:spcPts val="1300"/>
              </a:lnSpc>
              <a:defRPr sz="1000" b="0">
                <a:solidFill>
                  <a:srgbClr val="ECF0F1"/>
                </a:solidFill>
              </a:defRPr>
            </a:pPr>
            <a:r>
              <a:t>STM32 computes this every 1ms from ADC readings. If solar panel outputs 12V at 3A, system delivers 36W.</a:t>
            </a:r>
          </a:p>
        </p:txBody>
      </p:sp>
      <p:sp>
        <p:nvSpPr>
          <p:cNvPr id="14" name="Rounded Rectangle 13"/>
          <p:cNvSpPr/>
          <p:nvPr/>
        </p:nvSpPr>
        <p:spPr>
          <a:xfrm>
            <a:off x="457200" y="2560320"/>
            <a:ext cx="5577840" cy="1097280"/>
          </a:xfrm>
          <a:prstGeom prst="roundRect">
            <a:avLst/>
          </a:prstGeom>
          <a:solidFill>
            <a:srgbClr val="13273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606040"/>
            <a:ext cx="2743200" cy="182880"/>
          </a:xfrm>
          <a:prstGeom prst="rect">
            <a:avLst/>
          </a:prstGeom>
          <a:noFill/>
        </p:spPr>
        <p:txBody>
          <a:bodyPr wrap="square">
            <a:spAutoFit/>
          </a:bodyPr>
          <a:lstStyle/>
          <a:p>
            <a:pPr algn="l">
              <a:lnSpc>
                <a:spcPts val="1300"/>
              </a:lnSpc>
              <a:defRPr sz="1000" b="1">
                <a:solidFill>
                  <a:srgbClr val="2ECC71"/>
                </a:solidFill>
              </a:defRPr>
            </a:pPr>
            <a:r>
              <a:t>2. ENERGY INTEGRATION</a:t>
            </a:r>
          </a:p>
        </p:txBody>
      </p:sp>
      <p:sp>
        <p:nvSpPr>
          <p:cNvPr id="16" name="TextBox 15"/>
          <p:cNvSpPr txBox="1"/>
          <p:nvPr/>
        </p:nvSpPr>
        <p:spPr>
          <a:xfrm>
            <a:off x="594360" y="2816352"/>
            <a:ext cx="2286000" cy="274320"/>
          </a:xfrm>
          <a:prstGeom prst="rect">
            <a:avLst/>
          </a:prstGeom>
          <a:noFill/>
        </p:spPr>
        <p:txBody>
          <a:bodyPr wrap="square">
            <a:spAutoFit/>
          </a:bodyPr>
          <a:lstStyle/>
          <a:p>
            <a:pPr algn="l">
              <a:lnSpc>
                <a:spcPts val="2080"/>
              </a:lnSpc>
              <a:defRPr sz="1600" b="1">
                <a:solidFill>
                  <a:srgbClr val="FFFFFF"/>
                </a:solidFill>
              </a:defRPr>
            </a:pPr>
            <a:r>
              <a:t>E[n] = E[n-1] + P[n] × Δt</a:t>
            </a:r>
          </a:p>
        </p:txBody>
      </p:sp>
      <p:sp>
        <p:nvSpPr>
          <p:cNvPr id="17" name="TextBox 16"/>
          <p:cNvSpPr txBox="1"/>
          <p:nvPr/>
        </p:nvSpPr>
        <p:spPr>
          <a:xfrm>
            <a:off x="2926080" y="2606040"/>
            <a:ext cx="2926080" cy="274320"/>
          </a:xfrm>
          <a:prstGeom prst="rect">
            <a:avLst/>
          </a:prstGeom>
          <a:noFill/>
        </p:spPr>
        <p:txBody>
          <a:bodyPr wrap="square">
            <a:spAutoFit/>
          </a:bodyPr>
          <a:lstStyle/>
          <a:p>
            <a:pPr algn="l">
              <a:lnSpc>
                <a:spcPts val="1430"/>
              </a:lnSpc>
              <a:defRPr sz="1100" b="1">
                <a:solidFill>
                  <a:srgbClr val="F1C40F"/>
                </a:solidFill>
              </a:defRPr>
            </a:pPr>
            <a:r>
              <a:t>Example: 36W × 5h = 180 Wh</a:t>
            </a:r>
          </a:p>
        </p:txBody>
      </p:sp>
      <p:sp>
        <p:nvSpPr>
          <p:cNvPr id="18" name="TextBox 17"/>
          <p:cNvSpPr txBox="1"/>
          <p:nvPr/>
        </p:nvSpPr>
        <p:spPr>
          <a:xfrm>
            <a:off x="594360" y="3154680"/>
            <a:ext cx="5303520" cy="457200"/>
          </a:xfrm>
          <a:prstGeom prst="rect">
            <a:avLst/>
          </a:prstGeom>
          <a:noFill/>
        </p:spPr>
        <p:txBody>
          <a:bodyPr wrap="square">
            <a:spAutoFit/>
          </a:bodyPr>
          <a:lstStyle/>
          <a:p>
            <a:pPr algn="l">
              <a:lnSpc>
                <a:spcPts val="1300"/>
              </a:lnSpc>
              <a:defRPr sz="1000" b="0">
                <a:solidFill>
                  <a:srgbClr val="ECF0F1"/>
                </a:solidFill>
              </a:defRPr>
            </a:pPr>
            <a:r>
              <a:t>Cumulative energy tracked in real-time. Δt = 1ms at 1kHz sampling. Converted to Wh by ÷3600.</a:t>
            </a:r>
          </a:p>
        </p:txBody>
      </p:sp>
      <p:sp>
        <p:nvSpPr>
          <p:cNvPr id="19" name="Rounded Rectangle 18"/>
          <p:cNvSpPr/>
          <p:nvPr/>
        </p:nvSpPr>
        <p:spPr>
          <a:xfrm>
            <a:off x="6217920" y="1325880"/>
            <a:ext cx="5577840" cy="1097280"/>
          </a:xfrm>
          <a:prstGeom prst="roundRect">
            <a:avLst/>
          </a:prstGeom>
          <a:solidFill>
            <a:srgbClr val="13273F"/>
          </a:solidFill>
          <a:ln w="19050">
            <a:solidFill>
              <a:srgbClr val="F3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1371600"/>
            <a:ext cx="2743200" cy="182880"/>
          </a:xfrm>
          <a:prstGeom prst="rect">
            <a:avLst/>
          </a:prstGeom>
          <a:noFill/>
        </p:spPr>
        <p:txBody>
          <a:bodyPr wrap="square">
            <a:spAutoFit/>
          </a:bodyPr>
          <a:lstStyle/>
          <a:p>
            <a:pPr algn="l">
              <a:lnSpc>
                <a:spcPts val="1300"/>
              </a:lnSpc>
              <a:defRPr sz="1000" b="1">
                <a:solidFill>
                  <a:srgbClr val="F3961C"/>
                </a:solidFill>
              </a:defRPr>
            </a:pPr>
            <a:r>
              <a:t>3. SUPERCAPACITOR ENERGY</a:t>
            </a:r>
          </a:p>
        </p:txBody>
      </p:sp>
      <p:sp>
        <p:nvSpPr>
          <p:cNvPr id="21" name="TextBox 20"/>
          <p:cNvSpPr txBox="1"/>
          <p:nvPr/>
        </p:nvSpPr>
        <p:spPr>
          <a:xfrm>
            <a:off x="6355080" y="1581912"/>
            <a:ext cx="2286000" cy="274320"/>
          </a:xfrm>
          <a:prstGeom prst="rect">
            <a:avLst/>
          </a:prstGeom>
          <a:noFill/>
        </p:spPr>
        <p:txBody>
          <a:bodyPr wrap="square">
            <a:spAutoFit/>
          </a:bodyPr>
          <a:lstStyle/>
          <a:p>
            <a:pPr algn="l">
              <a:lnSpc>
                <a:spcPts val="2080"/>
              </a:lnSpc>
              <a:defRPr sz="1600" b="1">
                <a:solidFill>
                  <a:srgbClr val="FFFFFF"/>
                </a:solidFill>
              </a:defRPr>
            </a:pPr>
            <a:r>
              <a:t>E = ½ × C × V²</a:t>
            </a:r>
          </a:p>
        </p:txBody>
      </p:sp>
      <p:sp>
        <p:nvSpPr>
          <p:cNvPr id="22" name="TextBox 21"/>
          <p:cNvSpPr txBox="1"/>
          <p:nvPr/>
        </p:nvSpPr>
        <p:spPr>
          <a:xfrm>
            <a:off x="8686800" y="1371600"/>
            <a:ext cx="2926080" cy="274320"/>
          </a:xfrm>
          <a:prstGeom prst="rect">
            <a:avLst/>
          </a:prstGeom>
          <a:noFill/>
        </p:spPr>
        <p:txBody>
          <a:bodyPr wrap="square">
            <a:spAutoFit/>
          </a:bodyPr>
          <a:lstStyle/>
          <a:p>
            <a:pPr algn="l">
              <a:lnSpc>
                <a:spcPts val="1430"/>
              </a:lnSpc>
              <a:defRPr sz="1100" b="1">
                <a:solidFill>
                  <a:srgbClr val="F1C40F"/>
                </a:solidFill>
              </a:defRPr>
            </a:pPr>
            <a:r>
              <a:t>Example: C=100F, V=2.7V → E = 364.5 J</a:t>
            </a:r>
          </a:p>
        </p:txBody>
      </p:sp>
      <p:sp>
        <p:nvSpPr>
          <p:cNvPr id="23" name="TextBox 22"/>
          <p:cNvSpPr txBox="1"/>
          <p:nvPr/>
        </p:nvSpPr>
        <p:spPr>
          <a:xfrm>
            <a:off x="6355080" y="1920240"/>
            <a:ext cx="5303520" cy="457200"/>
          </a:xfrm>
          <a:prstGeom prst="rect">
            <a:avLst/>
          </a:prstGeom>
          <a:noFill/>
        </p:spPr>
        <p:txBody>
          <a:bodyPr wrap="square">
            <a:spAutoFit/>
          </a:bodyPr>
          <a:lstStyle/>
          <a:p>
            <a:pPr algn="l">
              <a:lnSpc>
                <a:spcPts val="1300"/>
              </a:lnSpc>
              <a:defRPr sz="1000" b="0">
                <a:solidFill>
                  <a:srgbClr val="ECF0F1"/>
                </a:solidFill>
              </a:defRPr>
            </a:pPr>
            <a:r>
              <a:t>Energy stored in supercap is proportional to V². This drives the SoC formula: SoC ∝ V².</a:t>
            </a:r>
          </a:p>
        </p:txBody>
      </p:sp>
      <p:sp>
        <p:nvSpPr>
          <p:cNvPr id="24" name="Rounded Rectangle 23"/>
          <p:cNvSpPr/>
          <p:nvPr/>
        </p:nvSpPr>
        <p:spPr>
          <a:xfrm>
            <a:off x="6217920" y="2560320"/>
            <a:ext cx="5577840" cy="1097280"/>
          </a:xfrm>
          <a:prstGeom prst="roundRect">
            <a:avLst/>
          </a:prstGeom>
          <a:solidFill>
            <a:srgbClr val="13273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606040"/>
            <a:ext cx="2743200" cy="182880"/>
          </a:xfrm>
          <a:prstGeom prst="rect">
            <a:avLst/>
          </a:prstGeom>
          <a:noFill/>
        </p:spPr>
        <p:txBody>
          <a:bodyPr wrap="square">
            <a:spAutoFit/>
          </a:bodyPr>
          <a:lstStyle/>
          <a:p>
            <a:pPr algn="l">
              <a:lnSpc>
                <a:spcPts val="1300"/>
              </a:lnSpc>
              <a:defRPr sz="1000" b="1">
                <a:solidFill>
                  <a:srgbClr val="00B4D8"/>
                </a:solidFill>
              </a:defRPr>
            </a:pPr>
            <a:r>
              <a:t>4. CHARGING EFFICIENCY</a:t>
            </a:r>
          </a:p>
        </p:txBody>
      </p:sp>
      <p:sp>
        <p:nvSpPr>
          <p:cNvPr id="26" name="TextBox 25"/>
          <p:cNvSpPr txBox="1"/>
          <p:nvPr/>
        </p:nvSpPr>
        <p:spPr>
          <a:xfrm>
            <a:off x="6355080" y="2816352"/>
            <a:ext cx="2286000" cy="274320"/>
          </a:xfrm>
          <a:prstGeom prst="rect">
            <a:avLst/>
          </a:prstGeom>
          <a:noFill/>
        </p:spPr>
        <p:txBody>
          <a:bodyPr wrap="square">
            <a:spAutoFit/>
          </a:bodyPr>
          <a:lstStyle/>
          <a:p>
            <a:pPr algn="l">
              <a:lnSpc>
                <a:spcPts val="2080"/>
              </a:lnSpc>
              <a:defRPr sz="1600" b="1">
                <a:solidFill>
                  <a:srgbClr val="FFFFFF"/>
                </a:solidFill>
              </a:defRPr>
            </a:pPr>
            <a:r>
              <a:t>η = (P_out / P_in) × 100%</a:t>
            </a:r>
          </a:p>
        </p:txBody>
      </p:sp>
      <p:sp>
        <p:nvSpPr>
          <p:cNvPr id="27" name="TextBox 26"/>
          <p:cNvSpPr txBox="1"/>
          <p:nvPr/>
        </p:nvSpPr>
        <p:spPr>
          <a:xfrm>
            <a:off x="8686800" y="2606040"/>
            <a:ext cx="2926080" cy="274320"/>
          </a:xfrm>
          <a:prstGeom prst="rect">
            <a:avLst/>
          </a:prstGeom>
          <a:noFill/>
        </p:spPr>
        <p:txBody>
          <a:bodyPr wrap="square">
            <a:spAutoFit/>
          </a:bodyPr>
          <a:lstStyle/>
          <a:p>
            <a:pPr algn="l">
              <a:lnSpc>
                <a:spcPts val="1430"/>
              </a:lnSpc>
              <a:defRPr sz="1100" b="1">
                <a:solidFill>
                  <a:srgbClr val="F1C40F"/>
                </a:solidFill>
              </a:defRPr>
            </a:pPr>
            <a:r>
              <a:t>Example: P_out=30W, P_in=36W → η = 83.3%</a:t>
            </a:r>
          </a:p>
        </p:txBody>
      </p:sp>
      <p:sp>
        <p:nvSpPr>
          <p:cNvPr id="28" name="TextBox 27"/>
          <p:cNvSpPr txBox="1"/>
          <p:nvPr/>
        </p:nvSpPr>
        <p:spPr>
          <a:xfrm>
            <a:off x="6355080" y="3154680"/>
            <a:ext cx="5303520" cy="457200"/>
          </a:xfrm>
          <a:prstGeom prst="rect">
            <a:avLst/>
          </a:prstGeom>
          <a:noFill/>
        </p:spPr>
        <p:txBody>
          <a:bodyPr wrap="square">
            <a:spAutoFit/>
          </a:bodyPr>
          <a:lstStyle/>
          <a:p>
            <a:pPr algn="l">
              <a:lnSpc>
                <a:spcPts val="1300"/>
              </a:lnSpc>
              <a:defRPr sz="1000" b="0">
                <a:solidFill>
                  <a:srgbClr val="ECF0F1"/>
                </a:solidFill>
              </a:defRPr>
            </a:pPr>
            <a:r>
              <a:t>Key comparison metric. Expected: buffered system achieves 15–25% higher efficiency than non-buffered.</a:t>
            </a:r>
          </a:p>
        </p:txBody>
      </p:sp>
      <p:sp>
        <p:nvSpPr>
          <p:cNvPr id="29" name="Rounded Rectangle 28"/>
          <p:cNvSpPr/>
          <p:nvPr/>
        </p:nvSpPr>
        <p:spPr>
          <a:xfrm>
            <a:off x="457200" y="3657600"/>
            <a:ext cx="11247120" cy="2926080"/>
          </a:xfrm>
          <a:prstGeom prst="roundRect">
            <a:avLst/>
          </a:prstGeom>
          <a:solidFill>
            <a:srgbClr val="13273F"/>
          </a:solidFill>
          <a:ln w="19050">
            <a:solidFill>
              <a:srgbClr val="418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749039"/>
            <a:ext cx="10058400" cy="274320"/>
          </a:xfrm>
          <a:prstGeom prst="rect">
            <a:avLst/>
          </a:prstGeom>
          <a:noFill/>
        </p:spPr>
        <p:txBody>
          <a:bodyPr wrap="square">
            <a:spAutoFit/>
          </a:bodyPr>
          <a:lstStyle/>
          <a:p>
            <a:pPr algn="l">
              <a:lnSpc>
                <a:spcPts val="1690"/>
              </a:lnSpc>
              <a:defRPr sz="1300" b="1">
                <a:solidFill>
                  <a:srgbClr val="418FDE"/>
                </a:solidFill>
              </a:defRPr>
            </a:pPr>
            <a:r>
              <a:t>REAL-WORLD CHARGING SCENARIO — HOW METRICS WORK TOGETHER</a:t>
            </a:r>
          </a:p>
        </p:txBody>
      </p:sp>
      <p:sp>
        <p:nvSpPr>
          <p:cNvPr id="31" name="Rounded Rectangle 30"/>
          <p:cNvSpPr/>
          <p:nvPr/>
        </p:nvSpPr>
        <p:spPr>
          <a:xfrm>
            <a:off x="640080" y="4160520"/>
            <a:ext cx="1691640" cy="1234440"/>
          </a:xfrm>
          <a:prstGeom prst="roundRect">
            <a:avLst/>
          </a:prstGeom>
          <a:solidFill>
            <a:srgbClr val="0D1B2A"/>
          </a:solidFill>
          <a:ln w="19050">
            <a:solidFill>
              <a:srgbClr val="418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206240"/>
            <a:ext cx="320040" cy="320040"/>
          </a:xfrm>
          <a:prstGeom prst="ellipse">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1</a:t>
            </a:r>
          </a:p>
        </p:txBody>
      </p:sp>
      <p:sp>
        <p:nvSpPr>
          <p:cNvPr id="33" name="TextBox 32"/>
          <p:cNvSpPr txBox="1"/>
          <p:nvPr/>
        </p:nvSpPr>
        <p:spPr>
          <a:xfrm>
            <a:off x="1097280" y="4233672"/>
            <a:ext cx="1097280" cy="228600"/>
          </a:xfrm>
          <a:prstGeom prst="rect">
            <a:avLst/>
          </a:prstGeom>
          <a:noFill/>
        </p:spPr>
        <p:txBody>
          <a:bodyPr wrap="square">
            <a:spAutoFit/>
          </a:bodyPr>
          <a:lstStyle/>
          <a:p>
            <a:pPr algn="l">
              <a:lnSpc>
                <a:spcPts val="1430"/>
              </a:lnSpc>
              <a:defRPr sz="1100" b="1">
                <a:solidFill>
                  <a:srgbClr val="418FDE"/>
                </a:solidFill>
              </a:defRPr>
            </a:pPr>
            <a:r>
              <a:t>SENSE</a:t>
            </a:r>
          </a:p>
        </p:txBody>
      </p:sp>
      <p:sp>
        <p:nvSpPr>
          <p:cNvPr id="34" name="TextBox 33"/>
          <p:cNvSpPr txBox="1"/>
          <p:nvPr/>
        </p:nvSpPr>
        <p:spPr>
          <a:xfrm>
            <a:off x="731520" y="4572000"/>
            <a:ext cx="1508760" cy="228600"/>
          </a:xfrm>
          <a:prstGeom prst="rect">
            <a:avLst/>
          </a:prstGeom>
          <a:noFill/>
        </p:spPr>
        <p:txBody>
          <a:bodyPr wrap="square">
            <a:spAutoFit/>
          </a:bodyPr>
          <a:lstStyle/>
          <a:p>
            <a:pPr algn="l">
              <a:lnSpc>
                <a:spcPts val="1300"/>
              </a:lnSpc>
              <a:defRPr sz="1000" b="0">
                <a:solidFill>
                  <a:srgbClr val="F8F9FA"/>
                </a:solidFill>
              </a:defRPr>
            </a:pPr>
            <a:r>
              <a:t>ADC reads V=11.5V,</a:t>
            </a:r>
          </a:p>
        </p:txBody>
      </p:sp>
      <p:sp>
        <p:nvSpPr>
          <p:cNvPr id="35" name="TextBox 34"/>
          <p:cNvSpPr txBox="1"/>
          <p:nvPr/>
        </p:nvSpPr>
        <p:spPr>
          <a:xfrm>
            <a:off x="731520" y="4800600"/>
            <a:ext cx="1508760" cy="228600"/>
          </a:xfrm>
          <a:prstGeom prst="rect">
            <a:avLst/>
          </a:prstGeom>
          <a:noFill/>
        </p:spPr>
        <p:txBody>
          <a:bodyPr wrap="square">
            <a:spAutoFit/>
          </a:bodyPr>
          <a:lstStyle/>
          <a:p>
            <a:pPr algn="l">
              <a:lnSpc>
                <a:spcPts val="1300"/>
              </a:lnSpc>
              <a:defRPr sz="1000" b="0">
                <a:solidFill>
                  <a:srgbClr val="F8F9FA"/>
                </a:solidFill>
              </a:defRPr>
            </a:pPr>
            <a:r>
              <a:t>I=1.23A every 1ms</a:t>
            </a:r>
          </a:p>
        </p:txBody>
      </p:sp>
      <p:sp>
        <p:nvSpPr>
          <p:cNvPr id="36" name="Rounded Rectangle 35"/>
          <p:cNvSpPr/>
          <p:nvPr/>
        </p:nvSpPr>
        <p:spPr>
          <a:xfrm>
            <a:off x="2468880" y="4160520"/>
            <a:ext cx="1691640" cy="1234440"/>
          </a:xfrm>
          <a:prstGeom prst="roundRect">
            <a:avLst/>
          </a:prstGeom>
          <a:solidFill>
            <a:srgbClr val="0D1B2A"/>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14600" y="4206240"/>
            <a:ext cx="320040" cy="32004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2</a:t>
            </a:r>
          </a:p>
        </p:txBody>
      </p:sp>
      <p:sp>
        <p:nvSpPr>
          <p:cNvPr id="38" name="TextBox 37"/>
          <p:cNvSpPr txBox="1"/>
          <p:nvPr/>
        </p:nvSpPr>
        <p:spPr>
          <a:xfrm>
            <a:off x="2926080" y="4233672"/>
            <a:ext cx="1097280" cy="228600"/>
          </a:xfrm>
          <a:prstGeom prst="rect">
            <a:avLst/>
          </a:prstGeom>
          <a:noFill/>
        </p:spPr>
        <p:txBody>
          <a:bodyPr wrap="square">
            <a:spAutoFit/>
          </a:bodyPr>
          <a:lstStyle/>
          <a:p>
            <a:pPr algn="l">
              <a:lnSpc>
                <a:spcPts val="1430"/>
              </a:lnSpc>
              <a:defRPr sz="1100" b="1">
                <a:solidFill>
                  <a:srgbClr val="2ECC71"/>
                </a:solidFill>
              </a:defRPr>
            </a:pPr>
            <a:r>
              <a:t>COMPUTE</a:t>
            </a:r>
          </a:p>
        </p:txBody>
      </p:sp>
      <p:sp>
        <p:nvSpPr>
          <p:cNvPr id="39" name="TextBox 38"/>
          <p:cNvSpPr txBox="1"/>
          <p:nvPr/>
        </p:nvSpPr>
        <p:spPr>
          <a:xfrm>
            <a:off x="2560320" y="4572000"/>
            <a:ext cx="1508760" cy="228600"/>
          </a:xfrm>
          <a:prstGeom prst="rect">
            <a:avLst/>
          </a:prstGeom>
          <a:noFill/>
        </p:spPr>
        <p:txBody>
          <a:bodyPr wrap="square">
            <a:spAutoFit/>
          </a:bodyPr>
          <a:lstStyle/>
          <a:p>
            <a:pPr algn="l">
              <a:lnSpc>
                <a:spcPts val="1300"/>
              </a:lnSpc>
              <a:defRPr sz="1000" b="0">
                <a:solidFill>
                  <a:srgbClr val="F8F9FA"/>
                </a:solidFill>
              </a:defRPr>
            </a:pPr>
            <a:r>
              <a:t>P = 11.5 × 1.23</a:t>
            </a:r>
          </a:p>
        </p:txBody>
      </p:sp>
      <p:sp>
        <p:nvSpPr>
          <p:cNvPr id="40" name="TextBox 39"/>
          <p:cNvSpPr txBox="1"/>
          <p:nvPr/>
        </p:nvSpPr>
        <p:spPr>
          <a:xfrm>
            <a:off x="2560320" y="4800600"/>
            <a:ext cx="1508760" cy="228600"/>
          </a:xfrm>
          <a:prstGeom prst="rect">
            <a:avLst/>
          </a:prstGeom>
          <a:noFill/>
        </p:spPr>
        <p:txBody>
          <a:bodyPr wrap="square">
            <a:spAutoFit/>
          </a:bodyPr>
          <a:lstStyle/>
          <a:p>
            <a:pPr algn="l">
              <a:lnSpc>
                <a:spcPts val="1300"/>
              </a:lnSpc>
              <a:defRPr sz="1000" b="0">
                <a:solidFill>
                  <a:srgbClr val="F8F9FA"/>
                </a:solidFill>
              </a:defRPr>
            </a:pPr>
            <a:r>
              <a:t>= 14.15W</a:t>
            </a:r>
          </a:p>
        </p:txBody>
      </p:sp>
      <p:sp>
        <p:nvSpPr>
          <p:cNvPr id="41" name="Rounded Rectangle 40"/>
          <p:cNvSpPr/>
          <p:nvPr/>
        </p:nvSpPr>
        <p:spPr>
          <a:xfrm>
            <a:off x="4297680" y="4160520"/>
            <a:ext cx="1691640" cy="1234440"/>
          </a:xfrm>
          <a:prstGeom prst="roundRect">
            <a:avLst/>
          </a:prstGeom>
          <a:solidFill>
            <a:srgbClr val="0D1B2A"/>
          </a:solidFill>
          <a:ln w="19050">
            <a:solidFill>
              <a:srgbClr val="F3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343400" y="4206240"/>
            <a:ext cx="320040" cy="320040"/>
          </a:xfrm>
          <a:prstGeom prst="ellipse">
            <a:avLst/>
          </a:prstGeom>
          <a:solidFill>
            <a:srgbClr val="F3961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3</a:t>
            </a:r>
          </a:p>
        </p:txBody>
      </p:sp>
      <p:sp>
        <p:nvSpPr>
          <p:cNvPr id="43" name="TextBox 42"/>
          <p:cNvSpPr txBox="1"/>
          <p:nvPr/>
        </p:nvSpPr>
        <p:spPr>
          <a:xfrm>
            <a:off x="4754880" y="4233672"/>
            <a:ext cx="1097280" cy="228600"/>
          </a:xfrm>
          <a:prstGeom prst="rect">
            <a:avLst/>
          </a:prstGeom>
          <a:noFill/>
        </p:spPr>
        <p:txBody>
          <a:bodyPr wrap="square">
            <a:spAutoFit/>
          </a:bodyPr>
          <a:lstStyle/>
          <a:p>
            <a:pPr algn="l">
              <a:lnSpc>
                <a:spcPts val="1430"/>
              </a:lnSpc>
              <a:defRPr sz="1100" b="1">
                <a:solidFill>
                  <a:srgbClr val="F3961C"/>
                </a:solidFill>
              </a:defRPr>
            </a:pPr>
            <a:r>
              <a:t>INTEGRATE</a:t>
            </a:r>
          </a:p>
        </p:txBody>
      </p:sp>
      <p:sp>
        <p:nvSpPr>
          <p:cNvPr id="44" name="TextBox 43"/>
          <p:cNvSpPr txBox="1"/>
          <p:nvPr/>
        </p:nvSpPr>
        <p:spPr>
          <a:xfrm>
            <a:off x="4389120" y="4572000"/>
            <a:ext cx="1508760" cy="228600"/>
          </a:xfrm>
          <a:prstGeom prst="rect">
            <a:avLst/>
          </a:prstGeom>
          <a:noFill/>
        </p:spPr>
        <p:txBody>
          <a:bodyPr wrap="square">
            <a:spAutoFit/>
          </a:bodyPr>
          <a:lstStyle/>
          <a:p>
            <a:pPr algn="l">
              <a:lnSpc>
                <a:spcPts val="1300"/>
              </a:lnSpc>
              <a:defRPr sz="1000" b="0">
                <a:solidFill>
                  <a:srgbClr val="F8F9FA"/>
                </a:solidFill>
              </a:defRPr>
            </a:pPr>
            <a:r>
              <a:t>E += 14.15W × 0.001s</a:t>
            </a:r>
          </a:p>
        </p:txBody>
      </p:sp>
      <p:sp>
        <p:nvSpPr>
          <p:cNvPr id="45" name="TextBox 44"/>
          <p:cNvSpPr txBox="1"/>
          <p:nvPr/>
        </p:nvSpPr>
        <p:spPr>
          <a:xfrm>
            <a:off x="4389120" y="4800600"/>
            <a:ext cx="1508760" cy="228600"/>
          </a:xfrm>
          <a:prstGeom prst="rect">
            <a:avLst/>
          </a:prstGeom>
          <a:noFill/>
        </p:spPr>
        <p:txBody>
          <a:bodyPr wrap="square">
            <a:spAutoFit/>
          </a:bodyPr>
          <a:lstStyle/>
          <a:p>
            <a:pPr algn="l">
              <a:lnSpc>
                <a:spcPts val="1300"/>
              </a:lnSpc>
              <a:defRPr sz="1000" b="0">
                <a:solidFill>
                  <a:srgbClr val="F8F9FA"/>
                </a:solidFill>
              </a:defRPr>
            </a:pPr>
            <a:r>
              <a:t>= 0.01415 J</a:t>
            </a:r>
          </a:p>
        </p:txBody>
      </p:sp>
      <p:sp>
        <p:nvSpPr>
          <p:cNvPr id="46" name="Rounded Rectangle 45"/>
          <p:cNvSpPr/>
          <p:nvPr/>
        </p:nvSpPr>
        <p:spPr>
          <a:xfrm>
            <a:off x="6126480" y="4160520"/>
            <a:ext cx="1691640" cy="1234440"/>
          </a:xfrm>
          <a:prstGeom prst="roundRect">
            <a:avLst/>
          </a:prstGeom>
          <a:solidFill>
            <a:srgbClr val="0D1B2A"/>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172200" y="4206240"/>
            <a:ext cx="320040" cy="3200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4</a:t>
            </a:r>
          </a:p>
        </p:txBody>
      </p:sp>
      <p:sp>
        <p:nvSpPr>
          <p:cNvPr id="48" name="TextBox 47"/>
          <p:cNvSpPr txBox="1"/>
          <p:nvPr/>
        </p:nvSpPr>
        <p:spPr>
          <a:xfrm>
            <a:off x="6583680" y="4233672"/>
            <a:ext cx="1097280" cy="228600"/>
          </a:xfrm>
          <a:prstGeom prst="rect">
            <a:avLst/>
          </a:prstGeom>
          <a:noFill/>
        </p:spPr>
        <p:txBody>
          <a:bodyPr wrap="square">
            <a:spAutoFit/>
          </a:bodyPr>
          <a:lstStyle/>
          <a:p>
            <a:pPr algn="l">
              <a:lnSpc>
                <a:spcPts val="1430"/>
              </a:lnSpc>
              <a:defRPr sz="1100" b="1">
                <a:solidFill>
                  <a:srgbClr val="00B4D8"/>
                </a:solidFill>
              </a:defRPr>
            </a:pPr>
            <a:r>
              <a:t>CONTROL</a:t>
            </a:r>
          </a:p>
        </p:txBody>
      </p:sp>
      <p:sp>
        <p:nvSpPr>
          <p:cNvPr id="49" name="TextBox 48"/>
          <p:cNvSpPr txBox="1"/>
          <p:nvPr/>
        </p:nvSpPr>
        <p:spPr>
          <a:xfrm>
            <a:off x="6217920" y="4572000"/>
            <a:ext cx="1508760" cy="228600"/>
          </a:xfrm>
          <a:prstGeom prst="rect">
            <a:avLst/>
          </a:prstGeom>
          <a:noFill/>
        </p:spPr>
        <p:txBody>
          <a:bodyPr wrap="square">
            <a:spAutoFit/>
          </a:bodyPr>
          <a:lstStyle/>
          <a:p>
            <a:pPr algn="l">
              <a:lnSpc>
                <a:spcPts val="1300"/>
              </a:lnSpc>
              <a:defRPr sz="1000" b="0">
                <a:solidFill>
                  <a:srgbClr val="F8F9FA"/>
                </a:solidFill>
              </a:defRPr>
            </a:pPr>
            <a:r>
              <a:t>PI controller adjusts</a:t>
            </a:r>
          </a:p>
        </p:txBody>
      </p:sp>
      <p:sp>
        <p:nvSpPr>
          <p:cNvPr id="50" name="TextBox 49"/>
          <p:cNvSpPr txBox="1"/>
          <p:nvPr/>
        </p:nvSpPr>
        <p:spPr>
          <a:xfrm>
            <a:off x="6217920" y="4800600"/>
            <a:ext cx="1508760" cy="228600"/>
          </a:xfrm>
          <a:prstGeom prst="rect">
            <a:avLst/>
          </a:prstGeom>
          <a:noFill/>
        </p:spPr>
        <p:txBody>
          <a:bodyPr wrap="square">
            <a:spAutoFit/>
          </a:bodyPr>
          <a:lstStyle/>
          <a:p>
            <a:pPr algn="l">
              <a:lnSpc>
                <a:spcPts val="1300"/>
              </a:lnSpc>
              <a:defRPr sz="1000" b="0">
                <a:solidFill>
                  <a:srgbClr val="F8F9FA"/>
                </a:solidFill>
              </a:defRPr>
            </a:pPr>
            <a:r>
              <a:t>PWM duty cycle</a:t>
            </a:r>
          </a:p>
        </p:txBody>
      </p:sp>
      <p:sp>
        <p:nvSpPr>
          <p:cNvPr id="51" name="Rounded Rectangle 50"/>
          <p:cNvSpPr/>
          <p:nvPr/>
        </p:nvSpPr>
        <p:spPr>
          <a:xfrm>
            <a:off x="7955280" y="4160520"/>
            <a:ext cx="1691640" cy="1234440"/>
          </a:xfrm>
          <a:prstGeom prst="roundRect">
            <a:avLst/>
          </a:prstGeom>
          <a:solidFill>
            <a:srgbClr val="0D1B2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001000" y="4206240"/>
            <a:ext cx="320040" cy="32004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5</a:t>
            </a:r>
          </a:p>
        </p:txBody>
      </p:sp>
      <p:sp>
        <p:nvSpPr>
          <p:cNvPr id="53" name="TextBox 52"/>
          <p:cNvSpPr txBox="1"/>
          <p:nvPr/>
        </p:nvSpPr>
        <p:spPr>
          <a:xfrm>
            <a:off x="8412480" y="4233672"/>
            <a:ext cx="1097280" cy="228600"/>
          </a:xfrm>
          <a:prstGeom prst="rect">
            <a:avLst/>
          </a:prstGeom>
          <a:noFill/>
        </p:spPr>
        <p:txBody>
          <a:bodyPr wrap="square">
            <a:spAutoFit/>
          </a:bodyPr>
          <a:lstStyle/>
          <a:p>
            <a:pPr algn="l">
              <a:lnSpc>
                <a:spcPts val="1430"/>
              </a:lnSpc>
              <a:defRPr sz="1100" b="1">
                <a:solidFill>
                  <a:srgbClr val="E74C3C"/>
                </a:solidFill>
              </a:defRPr>
            </a:pPr>
            <a:r>
              <a:t>PROTECT</a:t>
            </a:r>
          </a:p>
        </p:txBody>
      </p:sp>
      <p:sp>
        <p:nvSpPr>
          <p:cNvPr id="54" name="TextBox 53"/>
          <p:cNvSpPr txBox="1"/>
          <p:nvPr/>
        </p:nvSpPr>
        <p:spPr>
          <a:xfrm>
            <a:off x="8046720" y="4572000"/>
            <a:ext cx="1508760" cy="228600"/>
          </a:xfrm>
          <a:prstGeom prst="rect">
            <a:avLst/>
          </a:prstGeom>
          <a:noFill/>
        </p:spPr>
        <p:txBody>
          <a:bodyPr wrap="square">
            <a:spAutoFit/>
          </a:bodyPr>
          <a:lstStyle/>
          <a:p>
            <a:pPr algn="l">
              <a:lnSpc>
                <a:spcPts val="1300"/>
              </a:lnSpc>
              <a:defRPr sz="1000" b="0">
                <a:solidFill>
                  <a:srgbClr val="F8F9FA"/>
                </a:solidFill>
              </a:defRPr>
            </a:pPr>
            <a:r>
              <a:t>Check V, I against</a:t>
            </a:r>
          </a:p>
        </p:txBody>
      </p:sp>
      <p:sp>
        <p:nvSpPr>
          <p:cNvPr id="55" name="TextBox 54"/>
          <p:cNvSpPr txBox="1"/>
          <p:nvPr/>
        </p:nvSpPr>
        <p:spPr>
          <a:xfrm>
            <a:off x="8046720" y="4800600"/>
            <a:ext cx="1508760" cy="228600"/>
          </a:xfrm>
          <a:prstGeom prst="rect">
            <a:avLst/>
          </a:prstGeom>
          <a:noFill/>
        </p:spPr>
        <p:txBody>
          <a:bodyPr wrap="square">
            <a:spAutoFit/>
          </a:bodyPr>
          <a:lstStyle/>
          <a:p>
            <a:pPr algn="l">
              <a:lnSpc>
                <a:spcPts val="1300"/>
              </a:lnSpc>
              <a:defRPr sz="1000" b="0">
                <a:solidFill>
                  <a:srgbClr val="F8F9FA"/>
                </a:solidFill>
              </a:defRPr>
            </a:pPr>
            <a:r>
              <a:t>safety thresholds</a:t>
            </a:r>
          </a:p>
        </p:txBody>
      </p:sp>
      <p:sp>
        <p:nvSpPr>
          <p:cNvPr id="56" name="Rounded Rectangle 55"/>
          <p:cNvSpPr/>
          <p:nvPr/>
        </p:nvSpPr>
        <p:spPr>
          <a:xfrm>
            <a:off x="9784080" y="4160520"/>
            <a:ext cx="1691640" cy="1234440"/>
          </a:xfrm>
          <a:prstGeom prst="roundRect">
            <a:avLst/>
          </a:prstGeom>
          <a:solidFill>
            <a:srgbClr val="0D1B2A"/>
          </a:solidFill>
          <a:ln w="1905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829800" y="4206240"/>
            <a:ext cx="320040" cy="320040"/>
          </a:xfrm>
          <a:prstGeom prst="ellipse">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defRPr>
            </a:pPr>
            <a:r>
              <a:t>6</a:t>
            </a:r>
          </a:p>
        </p:txBody>
      </p:sp>
      <p:sp>
        <p:nvSpPr>
          <p:cNvPr id="58" name="TextBox 57"/>
          <p:cNvSpPr txBox="1"/>
          <p:nvPr/>
        </p:nvSpPr>
        <p:spPr>
          <a:xfrm>
            <a:off x="10241280" y="4233672"/>
            <a:ext cx="1097280" cy="228600"/>
          </a:xfrm>
          <a:prstGeom prst="rect">
            <a:avLst/>
          </a:prstGeom>
          <a:noFill/>
        </p:spPr>
        <p:txBody>
          <a:bodyPr wrap="square">
            <a:spAutoFit/>
          </a:bodyPr>
          <a:lstStyle/>
          <a:p>
            <a:pPr algn="l">
              <a:lnSpc>
                <a:spcPts val="1430"/>
              </a:lnSpc>
              <a:defRPr sz="1100" b="1">
                <a:solidFill>
                  <a:srgbClr val="F1C40F"/>
                </a:solidFill>
              </a:defRPr>
            </a:pPr>
            <a:r>
              <a:t>TRANSMIT</a:t>
            </a:r>
          </a:p>
        </p:txBody>
      </p:sp>
      <p:sp>
        <p:nvSpPr>
          <p:cNvPr id="59" name="TextBox 58"/>
          <p:cNvSpPr txBox="1"/>
          <p:nvPr/>
        </p:nvSpPr>
        <p:spPr>
          <a:xfrm>
            <a:off x="9875520" y="4572000"/>
            <a:ext cx="1508760" cy="228600"/>
          </a:xfrm>
          <a:prstGeom prst="rect">
            <a:avLst/>
          </a:prstGeom>
          <a:noFill/>
        </p:spPr>
        <p:txBody>
          <a:bodyPr wrap="square">
            <a:spAutoFit/>
          </a:bodyPr>
          <a:lstStyle/>
          <a:p>
            <a:pPr algn="l">
              <a:lnSpc>
                <a:spcPts val="1300"/>
              </a:lnSpc>
              <a:defRPr sz="1000" b="0">
                <a:solidFill>
                  <a:srgbClr val="F8F9FA"/>
                </a:solidFill>
              </a:defRPr>
            </a:pPr>
            <a:r>
              <a:t>JSON packet to ESP8266</a:t>
            </a:r>
          </a:p>
        </p:txBody>
      </p:sp>
      <p:sp>
        <p:nvSpPr>
          <p:cNvPr id="60" name="TextBox 59"/>
          <p:cNvSpPr txBox="1"/>
          <p:nvPr/>
        </p:nvSpPr>
        <p:spPr>
          <a:xfrm>
            <a:off x="9875520" y="4800600"/>
            <a:ext cx="1508760" cy="228600"/>
          </a:xfrm>
          <a:prstGeom prst="rect">
            <a:avLst/>
          </a:prstGeom>
          <a:noFill/>
        </p:spPr>
        <p:txBody>
          <a:bodyPr wrap="square">
            <a:spAutoFit/>
          </a:bodyPr>
          <a:lstStyle/>
          <a:p>
            <a:pPr algn="l">
              <a:lnSpc>
                <a:spcPts val="1300"/>
              </a:lnSpc>
              <a:defRPr sz="1000" b="0">
                <a:solidFill>
                  <a:srgbClr val="F8F9FA"/>
                </a:solidFill>
              </a:defRPr>
            </a:pPr>
            <a:r>
              <a:t>→ Cloud dashboard</a:t>
            </a:r>
          </a:p>
        </p:txBody>
      </p:sp>
      <p:sp>
        <p:nvSpPr>
          <p:cNvPr id="61" name="Rounded Rectangle 60"/>
          <p:cNvSpPr/>
          <p:nvPr/>
        </p:nvSpPr>
        <p:spPr>
          <a:xfrm>
            <a:off x="640080" y="5577840"/>
            <a:ext cx="10515600" cy="594360"/>
          </a:xfrm>
          <a:prstGeom prst="roundRect">
            <a:avLst/>
          </a:prstGeom>
          <a:solidFill>
            <a:srgbClr val="0A3D2E"/>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60" y="5650992"/>
            <a:ext cx="10241280" cy="365760"/>
          </a:xfrm>
          <a:prstGeom prst="rect">
            <a:avLst/>
          </a:prstGeom>
          <a:noFill/>
        </p:spPr>
        <p:txBody>
          <a:bodyPr wrap="square">
            <a:spAutoFit/>
          </a:bodyPr>
          <a:lstStyle/>
          <a:p>
            <a:pPr algn="ctr">
              <a:lnSpc>
                <a:spcPts val="1560"/>
              </a:lnSpc>
              <a:defRPr sz="1200" b="0">
                <a:solidFill>
                  <a:srgbClr val="FFFFFF"/>
                </a:solidFill>
              </a:defRPr>
            </a:pPr>
            <a:r>
              <a:t>⏱  COMPLETE CYCLE TIME: &lt; 10ms  |  SAMPLING: 1 kHz (1000 readings/sec)  |  CLOUD UPDATE: 1 Hz  |  MEASUREMENT ERROR: ±2.06%</a:t>
            </a:r>
          </a:p>
        </p:txBody>
      </p:sp>
      <p:sp>
        <p:nvSpPr>
          <p:cNvPr id="63" name="TextBox 62"/>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EXPECTED OUTCOMES</a:t>
            </a:r>
          </a:p>
        </p:txBody>
      </p:sp>
      <p:sp>
        <p:nvSpPr>
          <p:cNvPr id="5" name="TextBox 4"/>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Expected Outcomes &amp; Challenges</a:t>
            </a:r>
          </a:p>
        </p:txBody>
      </p:sp>
      <p:sp>
        <p:nvSpPr>
          <p:cNvPr id="6" name="Rectangle 5"/>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371600"/>
            <a:ext cx="6400800" cy="475488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08760"/>
            <a:ext cx="4572000" cy="274320"/>
          </a:xfrm>
          <a:prstGeom prst="rect">
            <a:avLst/>
          </a:prstGeom>
          <a:noFill/>
        </p:spPr>
        <p:txBody>
          <a:bodyPr wrap="square">
            <a:spAutoFit/>
          </a:bodyPr>
          <a:lstStyle/>
          <a:p>
            <a:pPr algn="l">
              <a:lnSpc>
                <a:spcPts val="1560"/>
              </a:lnSpc>
              <a:defRPr sz="1200" b="1">
                <a:solidFill>
                  <a:srgbClr val="2ECC71"/>
                </a:solidFill>
              </a:defRPr>
            </a:pPr>
            <a:r>
              <a:t>EXPECTED DELIVERABLES</a:t>
            </a:r>
          </a:p>
        </p:txBody>
      </p:sp>
      <p:sp>
        <p:nvSpPr>
          <p:cNvPr id="9" name="TextBox 8"/>
          <p:cNvSpPr txBox="1"/>
          <p:nvPr/>
        </p:nvSpPr>
        <p:spPr>
          <a:xfrm>
            <a:off x="777240" y="1920240"/>
            <a:ext cx="365760" cy="274320"/>
          </a:xfrm>
          <a:prstGeom prst="rect">
            <a:avLst/>
          </a:prstGeom>
          <a:noFill/>
        </p:spPr>
        <p:txBody>
          <a:bodyPr wrap="square">
            <a:spAutoFit/>
          </a:bodyPr>
          <a:lstStyle/>
          <a:p>
            <a:pPr algn="l">
              <a:lnSpc>
                <a:spcPts val="2080"/>
              </a:lnSpc>
              <a:defRPr sz="1600" b="0">
                <a:solidFill>
                  <a:srgbClr val="FFFFFF"/>
                </a:solidFill>
              </a:defRPr>
            </a:pPr>
            <a:r>
              <a:t>🔧</a:t>
            </a:r>
          </a:p>
        </p:txBody>
      </p:sp>
      <p:sp>
        <p:nvSpPr>
          <p:cNvPr id="10" name="TextBox 9"/>
          <p:cNvSpPr txBox="1"/>
          <p:nvPr/>
        </p:nvSpPr>
        <p:spPr>
          <a:xfrm>
            <a:off x="1234440" y="1901952"/>
            <a:ext cx="2286000" cy="228600"/>
          </a:xfrm>
          <a:prstGeom prst="rect">
            <a:avLst/>
          </a:prstGeom>
          <a:noFill/>
        </p:spPr>
        <p:txBody>
          <a:bodyPr wrap="square">
            <a:spAutoFit/>
          </a:bodyPr>
          <a:lstStyle/>
          <a:p>
            <a:pPr algn="l">
              <a:lnSpc>
                <a:spcPts val="1690"/>
              </a:lnSpc>
              <a:defRPr sz="1300" b="1">
                <a:solidFill>
                  <a:srgbClr val="00B4D8"/>
                </a:solidFill>
              </a:defRPr>
            </a:pPr>
            <a:r>
              <a:t>STM32 Firmware</a:t>
            </a:r>
          </a:p>
        </p:txBody>
      </p:sp>
      <p:sp>
        <p:nvSpPr>
          <p:cNvPr id="11" name="TextBox 10"/>
          <p:cNvSpPr txBox="1"/>
          <p:nvPr/>
        </p:nvSpPr>
        <p:spPr>
          <a:xfrm>
            <a:off x="1234440" y="2121408"/>
            <a:ext cx="5303520" cy="274320"/>
          </a:xfrm>
          <a:prstGeom prst="rect">
            <a:avLst/>
          </a:prstGeom>
          <a:noFill/>
        </p:spPr>
        <p:txBody>
          <a:bodyPr wrap="square">
            <a:spAutoFit/>
          </a:bodyPr>
          <a:lstStyle/>
          <a:p>
            <a:pPr algn="l">
              <a:lnSpc>
                <a:spcPts val="1430"/>
              </a:lnSpc>
              <a:defRPr sz="1100" b="0">
                <a:solidFill>
                  <a:srgbClr val="ECF0F1"/>
                </a:solidFill>
              </a:defRPr>
            </a:pPr>
            <a:r>
              <a:t>Sensor reading, PWM control, power calculation, UART comms</a:t>
            </a:r>
          </a:p>
        </p:txBody>
      </p:sp>
      <p:sp>
        <p:nvSpPr>
          <p:cNvPr id="12" name="TextBox 11"/>
          <p:cNvSpPr txBox="1"/>
          <p:nvPr/>
        </p:nvSpPr>
        <p:spPr>
          <a:xfrm>
            <a:off x="777240" y="2468880"/>
            <a:ext cx="365760" cy="274320"/>
          </a:xfrm>
          <a:prstGeom prst="rect">
            <a:avLst/>
          </a:prstGeom>
          <a:noFill/>
        </p:spPr>
        <p:txBody>
          <a:bodyPr wrap="square">
            <a:spAutoFit/>
          </a:bodyPr>
          <a:lstStyle/>
          <a:p>
            <a:pPr algn="l">
              <a:lnSpc>
                <a:spcPts val="2080"/>
              </a:lnSpc>
              <a:defRPr sz="1600" b="0">
                <a:solidFill>
                  <a:srgbClr val="FFFFFF"/>
                </a:solidFill>
              </a:defRPr>
            </a:pPr>
            <a:r>
              <a:t>🌐</a:t>
            </a:r>
          </a:p>
        </p:txBody>
      </p:sp>
      <p:sp>
        <p:nvSpPr>
          <p:cNvPr id="13" name="TextBox 12"/>
          <p:cNvSpPr txBox="1"/>
          <p:nvPr/>
        </p:nvSpPr>
        <p:spPr>
          <a:xfrm>
            <a:off x="1234440" y="2450592"/>
            <a:ext cx="2286000" cy="228600"/>
          </a:xfrm>
          <a:prstGeom prst="rect">
            <a:avLst/>
          </a:prstGeom>
          <a:noFill/>
        </p:spPr>
        <p:txBody>
          <a:bodyPr wrap="square">
            <a:spAutoFit/>
          </a:bodyPr>
          <a:lstStyle/>
          <a:p>
            <a:pPr algn="l">
              <a:lnSpc>
                <a:spcPts val="1690"/>
              </a:lnSpc>
              <a:defRPr sz="1300" b="1">
                <a:solidFill>
                  <a:srgbClr val="00B4D8"/>
                </a:solidFill>
              </a:defRPr>
            </a:pPr>
            <a:r>
              <a:t>ESP8266 IoT Gateway</a:t>
            </a:r>
          </a:p>
        </p:txBody>
      </p:sp>
      <p:sp>
        <p:nvSpPr>
          <p:cNvPr id="14" name="TextBox 13"/>
          <p:cNvSpPr txBox="1"/>
          <p:nvPr/>
        </p:nvSpPr>
        <p:spPr>
          <a:xfrm>
            <a:off x="1234440" y="2670048"/>
            <a:ext cx="5303520" cy="274320"/>
          </a:xfrm>
          <a:prstGeom prst="rect">
            <a:avLst/>
          </a:prstGeom>
          <a:noFill/>
        </p:spPr>
        <p:txBody>
          <a:bodyPr wrap="square">
            <a:spAutoFit/>
          </a:bodyPr>
          <a:lstStyle/>
          <a:p>
            <a:pPr algn="l">
              <a:lnSpc>
                <a:spcPts val="1430"/>
              </a:lnSpc>
              <a:defRPr sz="1100" b="0">
                <a:solidFill>
                  <a:srgbClr val="ECF0F1"/>
                </a:solidFill>
              </a:defRPr>
            </a:pPr>
            <a:r>
              <a:t>WiFi connectivity, cloud data transmission, local buffering</a:t>
            </a:r>
          </a:p>
        </p:txBody>
      </p:sp>
      <p:sp>
        <p:nvSpPr>
          <p:cNvPr id="15" name="TextBox 14"/>
          <p:cNvSpPr txBox="1"/>
          <p:nvPr/>
        </p:nvSpPr>
        <p:spPr>
          <a:xfrm>
            <a:off x="777240" y="3017520"/>
            <a:ext cx="365760" cy="274320"/>
          </a:xfrm>
          <a:prstGeom prst="rect">
            <a:avLst/>
          </a:prstGeom>
          <a:noFill/>
        </p:spPr>
        <p:txBody>
          <a:bodyPr wrap="square">
            <a:spAutoFit/>
          </a:bodyPr>
          <a:lstStyle/>
          <a:p>
            <a:pPr algn="l">
              <a:lnSpc>
                <a:spcPts val="2080"/>
              </a:lnSpc>
              <a:defRPr sz="1600" b="0">
                <a:solidFill>
                  <a:srgbClr val="FFFFFF"/>
                </a:solidFill>
              </a:defRPr>
            </a:pPr>
            <a:r>
              <a:t>📊</a:t>
            </a:r>
          </a:p>
        </p:txBody>
      </p:sp>
      <p:sp>
        <p:nvSpPr>
          <p:cNvPr id="16" name="TextBox 15"/>
          <p:cNvSpPr txBox="1"/>
          <p:nvPr/>
        </p:nvSpPr>
        <p:spPr>
          <a:xfrm>
            <a:off x="1234440" y="2999232"/>
            <a:ext cx="2286000" cy="228600"/>
          </a:xfrm>
          <a:prstGeom prst="rect">
            <a:avLst/>
          </a:prstGeom>
          <a:noFill/>
        </p:spPr>
        <p:txBody>
          <a:bodyPr wrap="square">
            <a:spAutoFit/>
          </a:bodyPr>
          <a:lstStyle/>
          <a:p>
            <a:pPr algn="l">
              <a:lnSpc>
                <a:spcPts val="1690"/>
              </a:lnSpc>
              <a:defRPr sz="1300" b="1">
                <a:solidFill>
                  <a:srgbClr val="00B4D8"/>
                </a:solidFill>
              </a:defRPr>
            </a:pPr>
            <a:r>
              <a:t>Cloud Dashboard</a:t>
            </a:r>
          </a:p>
        </p:txBody>
      </p:sp>
      <p:sp>
        <p:nvSpPr>
          <p:cNvPr id="17" name="TextBox 16"/>
          <p:cNvSpPr txBox="1"/>
          <p:nvPr/>
        </p:nvSpPr>
        <p:spPr>
          <a:xfrm>
            <a:off x="1234440" y="3218688"/>
            <a:ext cx="5303520" cy="274320"/>
          </a:xfrm>
          <a:prstGeom prst="rect">
            <a:avLst/>
          </a:prstGeom>
          <a:noFill/>
        </p:spPr>
        <p:txBody>
          <a:bodyPr wrap="square">
            <a:spAutoFit/>
          </a:bodyPr>
          <a:lstStyle/>
          <a:p>
            <a:pPr algn="l">
              <a:lnSpc>
                <a:spcPts val="1430"/>
              </a:lnSpc>
              <a:defRPr sz="1100" b="0">
                <a:solidFill>
                  <a:srgbClr val="ECF0F1"/>
                </a:solidFill>
              </a:defRPr>
            </a:pPr>
            <a:r>
              <a:t>Real-time charts, historical trends, system status via React.js</a:t>
            </a:r>
          </a:p>
        </p:txBody>
      </p:sp>
      <p:sp>
        <p:nvSpPr>
          <p:cNvPr id="18" name="TextBox 17"/>
          <p:cNvSpPr txBox="1"/>
          <p:nvPr/>
        </p:nvSpPr>
        <p:spPr>
          <a:xfrm>
            <a:off x="777240" y="3566160"/>
            <a:ext cx="365760" cy="274320"/>
          </a:xfrm>
          <a:prstGeom prst="rect">
            <a:avLst/>
          </a:prstGeom>
          <a:noFill/>
        </p:spPr>
        <p:txBody>
          <a:bodyPr wrap="square">
            <a:spAutoFit/>
          </a:bodyPr>
          <a:lstStyle/>
          <a:p>
            <a:pPr algn="l">
              <a:lnSpc>
                <a:spcPts val="2080"/>
              </a:lnSpc>
              <a:defRPr sz="1600" b="0">
                <a:solidFill>
                  <a:srgbClr val="FFFFFF"/>
                </a:solidFill>
              </a:defRPr>
            </a:pPr>
            <a:r>
              <a:t>📄</a:t>
            </a:r>
          </a:p>
        </p:txBody>
      </p:sp>
      <p:sp>
        <p:nvSpPr>
          <p:cNvPr id="19" name="TextBox 18"/>
          <p:cNvSpPr txBox="1"/>
          <p:nvPr/>
        </p:nvSpPr>
        <p:spPr>
          <a:xfrm>
            <a:off x="1234440" y="3547872"/>
            <a:ext cx="2286000" cy="228600"/>
          </a:xfrm>
          <a:prstGeom prst="rect">
            <a:avLst/>
          </a:prstGeom>
          <a:noFill/>
        </p:spPr>
        <p:txBody>
          <a:bodyPr wrap="square">
            <a:spAutoFit/>
          </a:bodyPr>
          <a:lstStyle/>
          <a:p>
            <a:pPr algn="l">
              <a:lnSpc>
                <a:spcPts val="1690"/>
              </a:lnSpc>
              <a:defRPr sz="1300" b="1">
                <a:solidFill>
                  <a:srgbClr val="00B4D8"/>
                </a:solidFill>
              </a:defRPr>
            </a:pPr>
            <a:r>
              <a:t>Technical Documentation</a:t>
            </a:r>
          </a:p>
        </p:txBody>
      </p:sp>
      <p:sp>
        <p:nvSpPr>
          <p:cNvPr id="20" name="TextBox 19"/>
          <p:cNvSpPr txBox="1"/>
          <p:nvPr/>
        </p:nvSpPr>
        <p:spPr>
          <a:xfrm>
            <a:off x="1234440" y="3767328"/>
            <a:ext cx="5303520" cy="274320"/>
          </a:xfrm>
          <a:prstGeom prst="rect">
            <a:avLst/>
          </a:prstGeom>
          <a:noFill/>
        </p:spPr>
        <p:txBody>
          <a:bodyPr wrap="square">
            <a:spAutoFit/>
          </a:bodyPr>
          <a:lstStyle/>
          <a:p>
            <a:pPr algn="l">
              <a:lnSpc>
                <a:spcPts val="1430"/>
              </a:lnSpc>
              <a:defRPr sz="1100" b="0">
                <a:solidFill>
                  <a:srgbClr val="ECF0F1"/>
                </a:solidFill>
              </a:defRPr>
            </a:pPr>
            <a:r>
              <a:t>Architecture, design rationale, computation methodology</a:t>
            </a:r>
          </a:p>
        </p:txBody>
      </p:sp>
      <p:sp>
        <p:nvSpPr>
          <p:cNvPr id="21" name="TextBox 20"/>
          <p:cNvSpPr txBox="1"/>
          <p:nvPr/>
        </p:nvSpPr>
        <p:spPr>
          <a:xfrm>
            <a:off x="777240" y="4114800"/>
            <a:ext cx="365760" cy="274320"/>
          </a:xfrm>
          <a:prstGeom prst="rect">
            <a:avLst/>
          </a:prstGeom>
          <a:noFill/>
        </p:spPr>
        <p:txBody>
          <a:bodyPr wrap="square">
            <a:spAutoFit/>
          </a:bodyPr>
          <a:lstStyle/>
          <a:p>
            <a:pPr algn="l">
              <a:lnSpc>
                <a:spcPts val="2080"/>
              </a:lnSpc>
              <a:defRPr sz="1600" b="0">
                <a:solidFill>
                  <a:srgbClr val="FFFFFF"/>
                </a:solidFill>
              </a:defRPr>
            </a:pPr>
            <a:r>
              <a:t>🧪</a:t>
            </a:r>
          </a:p>
        </p:txBody>
      </p:sp>
      <p:sp>
        <p:nvSpPr>
          <p:cNvPr id="22" name="TextBox 21"/>
          <p:cNvSpPr txBox="1"/>
          <p:nvPr/>
        </p:nvSpPr>
        <p:spPr>
          <a:xfrm>
            <a:off x="1234440" y="4096512"/>
            <a:ext cx="2286000" cy="228600"/>
          </a:xfrm>
          <a:prstGeom prst="rect">
            <a:avLst/>
          </a:prstGeom>
          <a:noFill/>
        </p:spPr>
        <p:txBody>
          <a:bodyPr wrap="square">
            <a:spAutoFit/>
          </a:bodyPr>
          <a:lstStyle/>
          <a:p>
            <a:pPr algn="l">
              <a:lnSpc>
                <a:spcPts val="1690"/>
              </a:lnSpc>
              <a:defRPr sz="1300" b="1">
                <a:solidFill>
                  <a:srgbClr val="00B4D8"/>
                </a:solidFill>
              </a:defRPr>
            </a:pPr>
            <a:r>
              <a:t>Experimental Results</a:t>
            </a:r>
          </a:p>
        </p:txBody>
      </p:sp>
      <p:sp>
        <p:nvSpPr>
          <p:cNvPr id="23" name="TextBox 22"/>
          <p:cNvSpPr txBox="1"/>
          <p:nvPr/>
        </p:nvSpPr>
        <p:spPr>
          <a:xfrm>
            <a:off x="1234440" y="4315968"/>
            <a:ext cx="5303520" cy="274320"/>
          </a:xfrm>
          <a:prstGeom prst="rect">
            <a:avLst/>
          </a:prstGeom>
          <a:noFill/>
        </p:spPr>
        <p:txBody>
          <a:bodyPr wrap="square">
            <a:spAutoFit/>
          </a:bodyPr>
          <a:lstStyle/>
          <a:p>
            <a:pPr algn="l">
              <a:lnSpc>
                <a:spcPts val="1430"/>
              </a:lnSpc>
              <a:defRPr sz="1100" b="0">
                <a:solidFill>
                  <a:srgbClr val="ECF0F1"/>
                </a:solidFill>
              </a:defRPr>
            </a:pPr>
            <a:r>
              <a:t>Buffered vs non-buffered performance analysis</a:t>
            </a:r>
          </a:p>
        </p:txBody>
      </p:sp>
      <p:sp>
        <p:nvSpPr>
          <p:cNvPr id="24" name="TextBox 23"/>
          <p:cNvSpPr txBox="1"/>
          <p:nvPr/>
        </p:nvSpPr>
        <p:spPr>
          <a:xfrm>
            <a:off x="777240" y="4663440"/>
            <a:ext cx="365760" cy="274320"/>
          </a:xfrm>
          <a:prstGeom prst="rect">
            <a:avLst/>
          </a:prstGeom>
          <a:noFill/>
        </p:spPr>
        <p:txBody>
          <a:bodyPr wrap="square">
            <a:spAutoFit/>
          </a:bodyPr>
          <a:lstStyle/>
          <a:p>
            <a:pPr algn="l">
              <a:lnSpc>
                <a:spcPts val="2080"/>
              </a:lnSpc>
              <a:defRPr sz="1600" b="0">
                <a:solidFill>
                  <a:srgbClr val="FFFFFF"/>
                </a:solidFill>
              </a:defRPr>
            </a:pPr>
            <a:r>
              <a:t>💻</a:t>
            </a:r>
          </a:p>
        </p:txBody>
      </p:sp>
      <p:sp>
        <p:nvSpPr>
          <p:cNvPr id="25" name="TextBox 24"/>
          <p:cNvSpPr txBox="1"/>
          <p:nvPr/>
        </p:nvSpPr>
        <p:spPr>
          <a:xfrm>
            <a:off x="1234440" y="4645152"/>
            <a:ext cx="2286000" cy="228600"/>
          </a:xfrm>
          <a:prstGeom prst="rect">
            <a:avLst/>
          </a:prstGeom>
          <a:noFill/>
        </p:spPr>
        <p:txBody>
          <a:bodyPr wrap="square">
            <a:spAutoFit/>
          </a:bodyPr>
          <a:lstStyle/>
          <a:p>
            <a:pPr algn="l">
              <a:lnSpc>
                <a:spcPts val="1690"/>
              </a:lnSpc>
              <a:defRPr sz="1300" b="1">
                <a:solidFill>
                  <a:srgbClr val="00B4D8"/>
                </a:solidFill>
              </a:defRPr>
            </a:pPr>
            <a:r>
              <a:t>GitHub Repository</a:t>
            </a:r>
          </a:p>
        </p:txBody>
      </p:sp>
      <p:sp>
        <p:nvSpPr>
          <p:cNvPr id="26" name="TextBox 25"/>
          <p:cNvSpPr txBox="1"/>
          <p:nvPr/>
        </p:nvSpPr>
        <p:spPr>
          <a:xfrm>
            <a:off x="1234440" y="4864608"/>
            <a:ext cx="5303520" cy="274320"/>
          </a:xfrm>
          <a:prstGeom prst="rect">
            <a:avLst/>
          </a:prstGeom>
          <a:noFill/>
        </p:spPr>
        <p:txBody>
          <a:bodyPr wrap="square">
            <a:spAutoFit/>
          </a:bodyPr>
          <a:lstStyle/>
          <a:p>
            <a:pPr algn="l">
              <a:lnSpc>
                <a:spcPts val="1430"/>
              </a:lnSpc>
              <a:defRPr sz="1100" b="0">
                <a:solidFill>
                  <a:srgbClr val="ECF0F1"/>
                </a:solidFill>
              </a:defRPr>
            </a:pPr>
            <a:r>
              <a:t>Full source code, data logs, and documentation</a:t>
            </a:r>
          </a:p>
        </p:txBody>
      </p:sp>
      <p:sp>
        <p:nvSpPr>
          <p:cNvPr id="27" name="TextBox 26"/>
          <p:cNvSpPr txBox="1"/>
          <p:nvPr/>
        </p:nvSpPr>
        <p:spPr>
          <a:xfrm>
            <a:off x="777240" y="5212080"/>
            <a:ext cx="365760" cy="274320"/>
          </a:xfrm>
          <a:prstGeom prst="rect">
            <a:avLst/>
          </a:prstGeom>
          <a:noFill/>
        </p:spPr>
        <p:txBody>
          <a:bodyPr wrap="square">
            <a:spAutoFit/>
          </a:bodyPr>
          <a:lstStyle/>
          <a:p>
            <a:pPr algn="l">
              <a:lnSpc>
                <a:spcPts val="2080"/>
              </a:lnSpc>
              <a:defRPr sz="1600" b="0">
                <a:solidFill>
                  <a:srgbClr val="FFFFFF"/>
                </a:solidFill>
              </a:defRPr>
            </a:pPr>
            <a:r>
              <a:t>📋</a:t>
            </a:r>
          </a:p>
        </p:txBody>
      </p:sp>
      <p:sp>
        <p:nvSpPr>
          <p:cNvPr id="28" name="TextBox 27"/>
          <p:cNvSpPr txBox="1"/>
          <p:nvPr/>
        </p:nvSpPr>
        <p:spPr>
          <a:xfrm>
            <a:off x="1234440" y="5193792"/>
            <a:ext cx="2286000" cy="228600"/>
          </a:xfrm>
          <a:prstGeom prst="rect">
            <a:avLst/>
          </a:prstGeom>
          <a:noFill/>
        </p:spPr>
        <p:txBody>
          <a:bodyPr wrap="square">
            <a:spAutoFit/>
          </a:bodyPr>
          <a:lstStyle/>
          <a:p>
            <a:pPr algn="l">
              <a:lnSpc>
                <a:spcPts val="1690"/>
              </a:lnSpc>
              <a:defRPr sz="1300" b="1">
                <a:solidFill>
                  <a:srgbClr val="00B4D8"/>
                </a:solidFill>
              </a:defRPr>
            </a:pPr>
            <a:r>
              <a:t>Project Report</a:t>
            </a:r>
          </a:p>
        </p:txBody>
      </p:sp>
      <p:sp>
        <p:nvSpPr>
          <p:cNvPr id="29" name="TextBox 28"/>
          <p:cNvSpPr txBox="1"/>
          <p:nvPr/>
        </p:nvSpPr>
        <p:spPr>
          <a:xfrm>
            <a:off x="1234440" y="5413248"/>
            <a:ext cx="5303520" cy="274320"/>
          </a:xfrm>
          <a:prstGeom prst="rect">
            <a:avLst/>
          </a:prstGeom>
          <a:noFill/>
        </p:spPr>
        <p:txBody>
          <a:bodyPr wrap="square">
            <a:spAutoFit/>
          </a:bodyPr>
          <a:lstStyle/>
          <a:p>
            <a:pPr algn="l">
              <a:lnSpc>
                <a:spcPts val="1430"/>
              </a:lnSpc>
              <a:defRPr sz="1100" b="0">
                <a:solidFill>
                  <a:srgbClr val="ECF0F1"/>
                </a:solidFill>
              </a:defRPr>
            </a:pPr>
            <a:r>
              <a:t>Academic report with complete analysis &amp; conclusions</a:t>
            </a:r>
          </a:p>
        </p:txBody>
      </p:sp>
      <p:sp>
        <p:nvSpPr>
          <p:cNvPr id="30" name="Rounded Rectangle 29"/>
          <p:cNvSpPr/>
          <p:nvPr/>
        </p:nvSpPr>
        <p:spPr>
          <a:xfrm>
            <a:off x="7132320" y="1371600"/>
            <a:ext cx="4572000" cy="475488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1508760"/>
            <a:ext cx="4114800" cy="274320"/>
          </a:xfrm>
          <a:prstGeom prst="rect">
            <a:avLst/>
          </a:prstGeom>
          <a:noFill/>
        </p:spPr>
        <p:txBody>
          <a:bodyPr wrap="square">
            <a:spAutoFit/>
          </a:bodyPr>
          <a:lstStyle/>
          <a:p>
            <a:pPr algn="l">
              <a:lnSpc>
                <a:spcPts val="1560"/>
              </a:lnSpc>
              <a:defRPr sz="1200" b="1">
                <a:solidFill>
                  <a:srgbClr val="F3961C"/>
                </a:solidFill>
              </a:defRPr>
            </a:pPr>
            <a:r>
              <a:t>CHALLENGES &amp; MITIGATIONS</a:t>
            </a:r>
          </a:p>
        </p:txBody>
      </p:sp>
      <p:sp>
        <p:nvSpPr>
          <p:cNvPr id="32" name="TextBox 31"/>
          <p:cNvSpPr txBox="1"/>
          <p:nvPr/>
        </p:nvSpPr>
        <p:spPr>
          <a:xfrm>
            <a:off x="7406640" y="1965960"/>
            <a:ext cx="274320" cy="228600"/>
          </a:xfrm>
          <a:prstGeom prst="rect">
            <a:avLst/>
          </a:prstGeom>
          <a:noFill/>
        </p:spPr>
        <p:txBody>
          <a:bodyPr wrap="square">
            <a:spAutoFit/>
          </a:bodyPr>
          <a:lstStyle/>
          <a:p>
            <a:pPr algn="l">
              <a:lnSpc>
                <a:spcPts val="1560"/>
              </a:lnSpc>
              <a:defRPr sz="1200" b="0">
                <a:solidFill>
                  <a:srgbClr val="E74C3C"/>
                </a:solidFill>
              </a:defRPr>
            </a:pPr>
            <a:r>
              <a:t>⚠</a:t>
            </a:r>
          </a:p>
        </p:txBody>
      </p:sp>
      <p:sp>
        <p:nvSpPr>
          <p:cNvPr id="33" name="TextBox 32"/>
          <p:cNvSpPr txBox="1"/>
          <p:nvPr/>
        </p:nvSpPr>
        <p:spPr>
          <a:xfrm>
            <a:off x="7680960" y="1965960"/>
            <a:ext cx="3840480" cy="274320"/>
          </a:xfrm>
          <a:prstGeom prst="rect">
            <a:avLst/>
          </a:prstGeom>
          <a:noFill/>
        </p:spPr>
        <p:txBody>
          <a:bodyPr wrap="square">
            <a:spAutoFit/>
          </a:bodyPr>
          <a:lstStyle/>
          <a:p>
            <a:pPr algn="l">
              <a:lnSpc>
                <a:spcPts val="1430"/>
              </a:lnSpc>
              <a:defRPr sz="1100" b="0">
                <a:solidFill>
                  <a:srgbClr val="F3961C"/>
                </a:solidFill>
              </a:defRPr>
            </a:pPr>
            <a:r>
              <a:t>Stable PWM control within 10ms budget</a:t>
            </a:r>
          </a:p>
        </p:txBody>
      </p:sp>
      <p:sp>
        <p:nvSpPr>
          <p:cNvPr id="34" name="TextBox 33"/>
          <p:cNvSpPr txBox="1"/>
          <p:nvPr/>
        </p:nvSpPr>
        <p:spPr>
          <a:xfrm>
            <a:off x="7680960" y="2221992"/>
            <a:ext cx="3840480" cy="274320"/>
          </a:xfrm>
          <a:prstGeom prst="rect">
            <a:avLst/>
          </a:prstGeom>
          <a:noFill/>
        </p:spPr>
        <p:txBody>
          <a:bodyPr wrap="square">
            <a:spAutoFit/>
          </a:bodyPr>
          <a:lstStyle/>
          <a:p>
            <a:pPr algn="l">
              <a:lnSpc>
                <a:spcPts val="1300"/>
              </a:lnSpc>
              <a:defRPr sz="1000" b="0">
                <a:solidFill>
                  <a:srgbClr val="2ECC71"/>
                </a:solidFill>
              </a:defRPr>
            </a:pPr>
            <a:r>
              <a:t>→ DMA for ADC &amp; UART (non-blocking)</a:t>
            </a:r>
          </a:p>
        </p:txBody>
      </p:sp>
      <p:sp>
        <p:nvSpPr>
          <p:cNvPr id="35" name="TextBox 34"/>
          <p:cNvSpPr txBox="1"/>
          <p:nvPr/>
        </p:nvSpPr>
        <p:spPr>
          <a:xfrm>
            <a:off x="7406640" y="2606040"/>
            <a:ext cx="274320" cy="228600"/>
          </a:xfrm>
          <a:prstGeom prst="rect">
            <a:avLst/>
          </a:prstGeom>
          <a:noFill/>
        </p:spPr>
        <p:txBody>
          <a:bodyPr wrap="square">
            <a:spAutoFit/>
          </a:bodyPr>
          <a:lstStyle/>
          <a:p>
            <a:pPr algn="l">
              <a:lnSpc>
                <a:spcPts val="1560"/>
              </a:lnSpc>
              <a:defRPr sz="1200" b="0">
                <a:solidFill>
                  <a:srgbClr val="E74C3C"/>
                </a:solidFill>
              </a:defRPr>
            </a:pPr>
            <a:r>
              <a:t>⚠</a:t>
            </a:r>
          </a:p>
        </p:txBody>
      </p:sp>
      <p:sp>
        <p:nvSpPr>
          <p:cNvPr id="36" name="TextBox 35"/>
          <p:cNvSpPr txBox="1"/>
          <p:nvPr/>
        </p:nvSpPr>
        <p:spPr>
          <a:xfrm>
            <a:off x="7680960" y="2606040"/>
            <a:ext cx="3840480" cy="274320"/>
          </a:xfrm>
          <a:prstGeom prst="rect">
            <a:avLst/>
          </a:prstGeom>
          <a:noFill/>
        </p:spPr>
        <p:txBody>
          <a:bodyPr wrap="square">
            <a:spAutoFit/>
          </a:bodyPr>
          <a:lstStyle/>
          <a:p>
            <a:pPr algn="l">
              <a:lnSpc>
                <a:spcPts val="1430"/>
              </a:lnSpc>
              <a:defRPr sz="1100" b="0">
                <a:solidFill>
                  <a:srgbClr val="F3961C"/>
                </a:solidFill>
              </a:defRPr>
            </a:pPr>
            <a:r>
              <a:t>Component availability</a:t>
            </a:r>
          </a:p>
        </p:txBody>
      </p:sp>
      <p:sp>
        <p:nvSpPr>
          <p:cNvPr id="37" name="TextBox 36"/>
          <p:cNvSpPr txBox="1"/>
          <p:nvPr/>
        </p:nvSpPr>
        <p:spPr>
          <a:xfrm>
            <a:off x="7680960" y="2862072"/>
            <a:ext cx="3840480" cy="274320"/>
          </a:xfrm>
          <a:prstGeom prst="rect">
            <a:avLst/>
          </a:prstGeom>
          <a:noFill/>
        </p:spPr>
        <p:txBody>
          <a:bodyPr wrap="square">
            <a:spAutoFit/>
          </a:bodyPr>
          <a:lstStyle/>
          <a:p>
            <a:pPr algn="l">
              <a:lnSpc>
                <a:spcPts val="1300"/>
              </a:lnSpc>
              <a:defRPr sz="1000" b="0">
                <a:solidFill>
                  <a:srgbClr val="2ECC71"/>
                </a:solidFill>
              </a:defRPr>
            </a:pPr>
            <a:r>
              <a:t>→ Standard IoT modules (Nucleo, NodeMCU)</a:t>
            </a:r>
          </a:p>
        </p:txBody>
      </p:sp>
      <p:sp>
        <p:nvSpPr>
          <p:cNvPr id="38" name="TextBox 37"/>
          <p:cNvSpPr txBox="1"/>
          <p:nvPr/>
        </p:nvSpPr>
        <p:spPr>
          <a:xfrm>
            <a:off x="7406640" y="3246120"/>
            <a:ext cx="274320" cy="228600"/>
          </a:xfrm>
          <a:prstGeom prst="rect">
            <a:avLst/>
          </a:prstGeom>
          <a:noFill/>
        </p:spPr>
        <p:txBody>
          <a:bodyPr wrap="square">
            <a:spAutoFit/>
          </a:bodyPr>
          <a:lstStyle/>
          <a:p>
            <a:pPr algn="l">
              <a:lnSpc>
                <a:spcPts val="1560"/>
              </a:lnSpc>
              <a:defRPr sz="1200" b="0">
                <a:solidFill>
                  <a:srgbClr val="E74C3C"/>
                </a:solidFill>
              </a:defRPr>
            </a:pPr>
            <a:r>
              <a:t>⚠</a:t>
            </a:r>
          </a:p>
        </p:txBody>
      </p:sp>
      <p:sp>
        <p:nvSpPr>
          <p:cNvPr id="39" name="TextBox 38"/>
          <p:cNvSpPr txBox="1"/>
          <p:nvPr/>
        </p:nvSpPr>
        <p:spPr>
          <a:xfrm>
            <a:off x="7680960" y="3246120"/>
            <a:ext cx="3840480" cy="274320"/>
          </a:xfrm>
          <a:prstGeom prst="rect">
            <a:avLst/>
          </a:prstGeom>
          <a:noFill/>
        </p:spPr>
        <p:txBody>
          <a:bodyPr wrap="square">
            <a:spAutoFit/>
          </a:bodyPr>
          <a:lstStyle/>
          <a:p>
            <a:pPr algn="l">
              <a:lnSpc>
                <a:spcPts val="1430"/>
              </a:lnSpc>
              <a:defRPr sz="1100" b="0">
                <a:solidFill>
                  <a:srgbClr val="F3961C"/>
                </a:solidFill>
              </a:defRPr>
            </a:pPr>
            <a:r>
              <a:t>Noise in ADC measurements</a:t>
            </a:r>
          </a:p>
        </p:txBody>
      </p:sp>
      <p:sp>
        <p:nvSpPr>
          <p:cNvPr id="40" name="TextBox 39"/>
          <p:cNvSpPr txBox="1"/>
          <p:nvPr/>
        </p:nvSpPr>
        <p:spPr>
          <a:xfrm>
            <a:off x="7680960" y="3502152"/>
            <a:ext cx="3840480" cy="274320"/>
          </a:xfrm>
          <a:prstGeom prst="rect">
            <a:avLst/>
          </a:prstGeom>
          <a:noFill/>
        </p:spPr>
        <p:txBody>
          <a:bodyPr wrap="square">
            <a:spAutoFit/>
          </a:bodyPr>
          <a:lstStyle/>
          <a:p>
            <a:pPr algn="l">
              <a:lnSpc>
                <a:spcPts val="1300"/>
              </a:lnSpc>
              <a:defRPr sz="1000" b="0">
                <a:solidFill>
                  <a:srgbClr val="2ECC71"/>
                </a:solidFill>
              </a:defRPr>
            </a:pPr>
            <a:r>
              <a:t>→ Moving avg filter + RC low-pass (f_c=16kHz)</a:t>
            </a:r>
          </a:p>
        </p:txBody>
      </p:sp>
      <p:sp>
        <p:nvSpPr>
          <p:cNvPr id="41" name="TextBox 40"/>
          <p:cNvSpPr txBox="1"/>
          <p:nvPr/>
        </p:nvSpPr>
        <p:spPr>
          <a:xfrm>
            <a:off x="7406640" y="3886200"/>
            <a:ext cx="274320" cy="228600"/>
          </a:xfrm>
          <a:prstGeom prst="rect">
            <a:avLst/>
          </a:prstGeom>
          <a:noFill/>
        </p:spPr>
        <p:txBody>
          <a:bodyPr wrap="square">
            <a:spAutoFit/>
          </a:bodyPr>
          <a:lstStyle/>
          <a:p>
            <a:pPr algn="l">
              <a:lnSpc>
                <a:spcPts val="1560"/>
              </a:lnSpc>
              <a:defRPr sz="1200" b="0">
                <a:solidFill>
                  <a:srgbClr val="E74C3C"/>
                </a:solidFill>
              </a:defRPr>
            </a:pPr>
            <a:r>
              <a:t>⚠</a:t>
            </a:r>
          </a:p>
        </p:txBody>
      </p:sp>
      <p:sp>
        <p:nvSpPr>
          <p:cNvPr id="42" name="TextBox 41"/>
          <p:cNvSpPr txBox="1"/>
          <p:nvPr/>
        </p:nvSpPr>
        <p:spPr>
          <a:xfrm>
            <a:off x="7680960" y="3886200"/>
            <a:ext cx="3840480" cy="274320"/>
          </a:xfrm>
          <a:prstGeom prst="rect">
            <a:avLst/>
          </a:prstGeom>
          <a:noFill/>
        </p:spPr>
        <p:txBody>
          <a:bodyPr wrap="square">
            <a:spAutoFit/>
          </a:bodyPr>
          <a:lstStyle/>
          <a:p>
            <a:pPr algn="l">
              <a:lnSpc>
                <a:spcPts val="1430"/>
              </a:lnSpc>
              <a:defRPr sz="1100" b="0">
                <a:solidFill>
                  <a:srgbClr val="F3961C"/>
                </a:solidFill>
              </a:defRPr>
            </a:pPr>
            <a:r>
              <a:t>Cloud connectivity in lab</a:t>
            </a:r>
          </a:p>
        </p:txBody>
      </p:sp>
      <p:sp>
        <p:nvSpPr>
          <p:cNvPr id="43" name="TextBox 42"/>
          <p:cNvSpPr txBox="1"/>
          <p:nvPr/>
        </p:nvSpPr>
        <p:spPr>
          <a:xfrm>
            <a:off x="7680960" y="4142232"/>
            <a:ext cx="3840480" cy="274320"/>
          </a:xfrm>
          <a:prstGeom prst="rect">
            <a:avLst/>
          </a:prstGeom>
          <a:noFill/>
        </p:spPr>
        <p:txBody>
          <a:bodyPr wrap="square">
            <a:spAutoFit/>
          </a:bodyPr>
          <a:lstStyle/>
          <a:p>
            <a:pPr algn="l">
              <a:lnSpc>
                <a:spcPts val="1300"/>
              </a:lnSpc>
              <a:defRPr sz="1000" b="0">
                <a:solidFill>
                  <a:srgbClr val="2ECC71"/>
                </a:solidFill>
              </a:defRPr>
            </a:pPr>
            <a:r>
              <a:t>→ ESP8266 WiFi + SPIFFS offline buffer</a:t>
            </a:r>
          </a:p>
        </p:txBody>
      </p:sp>
      <p:sp>
        <p:nvSpPr>
          <p:cNvPr id="44" name="TextBox 43"/>
          <p:cNvSpPr txBox="1"/>
          <p:nvPr/>
        </p:nvSpPr>
        <p:spPr>
          <a:xfrm>
            <a:off x="7406640" y="4526280"/>
            <a:ext cx="274320" cy="228600"/>
          </a:xfrm>
          <a:prstGeom prst="rect">
            <a:avLst/>
          </a:prstGeom>
          <a:noFill/>
        </p:spPr>
        <p:txBody>
          <a:bodyPr wrap="square">
            <a:spAutoFit/>
          </a:bodyPr>
          <a:lstStyle/>
          <a:p>
            <a:pPr algn="l">
              <a:lnSpc>
                <a:spcPts val="1560"/>
              </a:lnSpc>
              <a:defRPr sz="1200" b="0">
                <a:solidFill>
                  <a:srgbClr val="E74C3C"/>
                </a:solidFill>
              </a:defRPr>
            </a:pPr>
            <a:r>
              <a:t>⚠</a:t>
            </a:r>
          </a:p>
        </p:txBody>
      </p:sp>
      <p:sp>
        <p:nvSpPr>
          <p:cNvPr id="45" name="TextBox 44"/>
          <p:cNvSpPr txBox="1"/>
          <p:nvPr/>
        </p:nvSpPr>
        <p:spPr>
          <a:xfrm>
            <a:off x="7680960" y="4526280"/>
            <a:ext cx="3840480" cy="274320"/>
          </a:xfrm>
          <a:prstGeom prst="rect">
            <a:avLst/>
          </a:prstGeom>
          <a:noFill/>
        </p:spPr>
        <p:txBody>
          <a:bodyPr wrap="square">
            <a:spAutoFit/>
          </a:bodyPr>
          <a:lstStyle/>
          <a:p>
            <a:pPr algn="l">
              <a:lnSpc>
                <a:spcPts val="1430"/>
              </a:lnSpc>
              <a:defRPr sz="1100" b="0">
                <a:solidFill>
                  <a:srgbClr val="F3961C"/>
                </a:solidFill>
              </a:defRPr>
            </a:pPr>
            <a:r>
              <a:t>System complexity</a:t>
            </a:r>
          </a:p>
        </p:txBody>
      </p:sp>
      <p:sp>
        <p:nvSpPr>
          <p:cNvPr id="46" name="TextBox 45"/>
          <p:cNvSpPr txBox="1"/>
          <p:nvPr/>
        </p:nvSpPr>
        <p:spPr>
          <a:xfrm>
            <a:off x="7680960" y="4782312"/>
            <a:ext cx="3840480" cy="274320"/>
          </a:xfrm>
          <a:prstGeom prst="rect">
            <a:avLst/>
          </a:prstGeom>
          <a:noFill/>
        </p:spPr>
        <p:txBody>
          <a:bodyPr wrap="square">
            <a:spAutoFit/>
          </a:bodyPr>
          <a:lstStyle/>
          <a:p>
            <a:pPr algn="l">
              <a:lnSpc>
                <a:spcPts val="1300"/>
              </a:lnSpc>
              <a:defRPr sz="1000" b="0">
                <a:solidFill>
                  <a:srgbClr val="2ECC71"/>
                </a:solidFill>
              </a:defRPr>
            </a:pPr>
            <a:r>
              <a:t>→ Modular architecture with clear interfaces</a:t>
            </a:r>
          </a:p>
        </p:txBody>
      </p:sp>
      <p:sp>
        <p:nvSpPr>
          <p:cNvPr id="47" name="Rounded Rectangle 46"/>
          <p:cNvSpPr/>
          <p:nvPr/>
        </p:nvSpPr>
        <p:spPr>
          <a:xfrm>
            <a:off x="7132320" y="5212080"/>
            <a:ext cx="4572000" cy="914400"/>
          </a:xfrm>
          <a:prstGeom prst="roundRect">
            <a:avLst/>
          </a:prstGeom>
          <a:solidFill>
            <a:srgbClr val="13273F"/>
          </a:solidFill>
          <a:ln w="19050">
            <a:solidFill>
              <a:srgbClr val="418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06640" y="5257800"/>
            <a:ext cx="4114800" cy="228600"/>
          </a:xfrm>
          <a:prstGeom prst="rect">
            <a:avLst/>
          </a:prstGeom>
          <a:noFill/>
        </p:spPr>
        <p:txBody>
          <a:bodyPr wrap="square">
            <a:spAutoFit/>
          </a:bodyPr>
          <a:lstStyle/>
          <a:p>
            <a:pPr algn="l">
              <a:lnSpc>
                <a:spcPts val="1300"/>
              </a:lnSpc>
              <a:defRPr sz="1000" b="1">
                <a:solidFill>
                  <a:srgbClr val="418FDE"/>
                </a:solidFill>
              </a:defRPr>
            </a:pPr>
            <a:r>
              <a:t>SIMULATION APPROACH</a:t>
            </a:r>
          </a:p>
        </p:txBody>
      </p:sp>
      <p:sp>
        <p:nvSpPr>
          <p:cNvPr id="49" name="TextBox 48"/>
          <p:cNvSpPr txBox="1"/>
          <p:nvPr/>
        </p:nvSpPr>
        <p:spPr>
          <a:xfrm>
            <a:off x="7406640" y="5486400"/>
            <a:ext cx="4114800" cy="457200"/>
          </a:xfrm>
          <a:prstGeom prst="rect">
            <a:avLst/>
          </a:prstGeom>
          <a:noFill/>
        </p:spPr>
        <p:txBody>
          <a:bodyPr wrap="square">
            <a:spAutoFit/>
          </a:bodyPr>
          <a:lstStyle/>
          <a:p>
            <a:pPr algn="l">
              <a:lnSpc>
                <a:spcPts val="1300"/>
              </a:lnSpc>
              <a:defRPr sz="1000" b="0">
                <a:solidFill>
                  <a:srgbClr val="ECF0F1"/>
                </a:solidFill>
              </a:defRPr>
            </a:pPr>
            <a:r>
              <a:t>Python + NumPy + Matplotlib simulation for validation before hardware testing</a:t>
            </a:r>
          </a:p>
        </p:txBody>
      </p:sp>
      <p:sp>
        <p:nvSpPr>
          <p:cNvPr id="50" name="TextBox 49"/>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18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3657600" cy="320040"/>
          </a:xfrm>
          <a:prstGeom prst="rect">
            <a:avLst/>
          </a:prstGeom>
          <a:noFill/>
        </p:spPr>
        <p:txBody>
          <a:bodyPr wrap="none">
            <a:spAutoFit/>
          </a:bodyPr>
          <a:lstStyle/>
          <a:p>
            <a:pPr>
              <a:defRPr sz="900" b="1">
                <a:solidFill>
                  <a:srgbClr val="00B4D8"/>
                </a:solidFill>
              </a:defRPr>
            </a:pPr>
            <a:r>
              <a:rPr/>
              <a:t>REFERENCES</a:t>
            </a:r>
          </a:p>
        </p:txBody>
      </p:sp>
      <p:sp>
        <p:nvSpPr>
          <p:cNvPr id="5" name="TextBox 4"/>
          <p:cNvSpPr txBox="1"/>
          <p:nvPr/>
        </p:nvSpPr>
        <p:spPr>
          <a:xfrm>
            <a:off x="548640" y="411480"/>
            <a:ext cx="10972800" cy="731520"/>
          </a:xfrm>
          <a:prstGeom prst="rect">
            <a:avLst/>
          </a:prstGeom>
          <a:noFill/>
        </p:spPr>
        <p:txBody>
          <a:bodyPr wrap="square">
            <a:spAutoFit/>
          </a:bodyPr>
          <a:lstStyle/>
          <a:p>
            <a:pPr>
              <a:defRPr sz="3200" b="1">
                <a:solidFill>
                  <a:srgbClr val="FFFFFF"/>
                </a:solidFill>
              </a:defRPr>
            </a:pPr>
            <a:r>
              <a:t>References &amp; Conclusion</a:t>
            </a:r>
          </a:p>
        </p:txBody>
      </p:sp>
      <p:sp>
        <p:nvSpPr>
          <p:cNvPr id="6" name="Rectangle 5"/>
          <p:cNvSpPr/>
          <p:nvPr/>
        </p:nvSpPr>
        <p:spPr>
          <a:xfrm>
            <a:off x="548640" y="10972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371600"/>
            <a:ext cx="7315200" cy="4114800"/>
          </a:xfrm>
          <a:prstGeom prst="roundRect">
            <a:avLst/>
          </a:prstGeom>
          <a:solidFill>
            <a:srgbClr val="132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08760"/>
            <a:ext cx="4572000" cy="274320"/>
          </a:xfrm>
          <a:prstGeom prst="rect">
            <a:avLst/>
          </a:prstGeom>
          <a:noFill/>
        </p:spPr>
        <p:txBody>
          <a:bodyPr wrap="square">
            <a:spAutoFit/>
          </a:bodyPr>
          <a:lstStyle/>
          <a:p>
            <a:pPr algn="l">
              <a:lnSpc>
                <a:spcPts val="1560"/>
              </a:lnSpc>
              <a:defRPr sz="1200" b="1">
                <a:solidFill>
                  <a:srgbClr val="00B4D8"/>
                </a:solidFill>
              </a:defRPr>
            </a:pPr>
            <a:r>
              <a:t>REFERENCES</a:t>
            </a:r>
          </a:p>
        </p:txBody>
      </p:sp>
      <p:sp>
        <p:nvSpPr>
          <p:cNvPr id="9" name="TextBox 8"/>
          <p:cNvSpPr txBox="1"/>
          <p:nvPr/>
        </p:nvSpPr>
        <p:spPr>
          <a:xfrm>
            <a:off x="731520" y="1920240"/>
            <a:ext cx="6766560" cy="502920"/>
          </a:xfrm>
          <a:prstGeom prst="rect">
            <a:avLst/>
          </a:prstGeom>
          <a:noFill/>
        </p:spPr>
        <p:txBody>
          <a:bodyPr wrap="square">
            <a:spAutoFit/>
          </a:bodyPr>
          <a:lstStyle/>
          <a:p>
            <a:pPr algn="l">
              <a:lnSpc>
                <a:spcPts val="1320"/>
              </a:lnSpc>
              <a:defRPr sz="1100" b="0">
                <a:solidFill>
                  <a:srgbClr val="F8F9FA"/>
                </a:solidFill>
              </a:defRPr>
            </a:pPr>
            <a:r>
              <a:t>[1] Q. Hassan et al., "An analysis of photovoltaic/supercapacitor energy systems," Renewable Energy Reports, 2022.</a:t>
            </a:r>
          </a:p>
        </p:txBody>
      </p:sp>
      <p:sp>
        <p:nvSpPr>
          <p:cNvPr id="10" name="TextBox 9"/>
          <p:cNvSpPr txBox="1"/>
          <p:nvPr/>
        </p:nvSpPr>
        <p:spPr>
          <a:xfrm>
            <a:off x="731520" y="2423160"/>
            <a:ext cx="6766560" cy="502920"/>
          </a:xfrm>
          <a:prstGeom prst="rect">
            <a:avLst/>
          </a:prstGeom>
          <a:noFill/>
        </p:spPr>
        <p:txBody>
          <a:bodyPr wrap="square">
            <a:spAutoFit/>
          </a:bodyPr>
          <a:lstStyle/>
          <a:p>
            <a:pPr algn="l">
              <a:lnSpc>
                <a:spcPts val="1320"/>
              </a:lnSpc>
              <a:defRPr sz="1100" b="0">
                <a:solidFill>
                  <a:srgbClr val="F8F9FA"/>
                </a:solidFill>
              </a:defRPr>
            </a:pPr>
            <a:r>
              <a:t>[2] J. Zhang, "Supercapacitors for renewable energy applications: A review," Renewable and Sustainable Energy Reviews, 2023.</a:t>
            </a:r>
          </a:p>
        </p:txBody>
      </p:sp>
      <p:sp>
        <p:nvSpPr>
          <p:cNvPr id="11" name="TextBox 10"/>
          <p:cNvSpPr txBox="1"/>
          <p:nvPr/>
        </p:nvSpPr>
        <p:spPr>
          <a:xfrm>
            <a:off x="731520" y="2926080"/>
            <a:ext cx="6766560" cy="502920"/>
          </a:xfrm>
          <a:prstGeom prst="rect">
            <a:avLst/>
          </a:prstGeom>
          <a:noFill/>
        </p:spPr>
        <p:txBody>
          <a:bodyPr wrap="square">
            <a:spAutoFit/>
          </a:bodyPr>
          <a:lstStyle/>
          <a:p>
            <a:pPr algn="l">
              <a:lnSpc>
                <a:spcPts val="1320"/>
              </a:lnSpc>
              <a:defRPr sz="1100" b="0">
                <a:solidFill>
                  <a:srgbClr val="F8F9FA"/>
                </a:solidFill>
              </a:defRPr>
            </a:pPr>
            <a:r>
              <a:t>[3] C. V. V. M. Gopi et al., "Review of battery–supercapacitor hybrid energy storage systems for solar energy applications," Energy Reports, 2024.</a:t>
            </a:r>
          </a:p>
        </p:txBody>
      </p:sp>
      <p:sp>
        <p:nvSpPr>
          <p:cNvPr id="12" name="TextBox 11"/>
          <p:cNvSpPr txBox="1"/>
          <p:nvPr/>
        </p:nvSpPr>
        <p:spPr>
          <a:xfrm>
            <a:off x="731520" y="3429000"/>
            <a:ext cx="6766560" cy="502920"/>
          </a:xfrm>
          <a:prstGeom prst="rect">
            <a:avLst/>
          </a:prstGeom>
          <a:noFill/>
        </p:spPr>
        <p:txBody>
          <a:bodyPr wrap="square">
            <a:spAutoFit/>
          </a:bodyPr>
          <a:lstStyle/>
          <a:p>
            <a:pPr algn="l">
              <a:lnSpc>
                <a:spcPts val="1320"/>
              </a:lnSpc>
              <a:defRPr sz="1100" b="0">
                <a:solidFill>
                  <a:srgbClr val="F8F9FA"/>
                </a:solidFill>
              </a:defRPr>
            </a:pPr>
            <a:r>
              <a:t>[4] K. Piyumal et al., "Supercapacitor assisted hybrid PV systems for efficient energy management," Electronics, MDPI, 2021.</a:t>
            </a:r>
          </a:p>
        </p:txBody>
      </p:sp>
      <p:sp>
        <p:nvSpPr>
          <p:cNvPr id="13" name="TextBox 12"/>
          <p:cNvSpPr txBox="1"/>
          <p:nvPr/>
        </p:nvSpPr>
        <p:spPr>
          <a:xfrm>
            <a:off x="731520" y="3931920"/>
            <a:ext cx="6766560" cy="502920"/>
          </a:xfrm>
          <a:prstGeom prst="rect">
            <a:avLst/>
          </a:prstGeom>
          <a:noFill/>
        </p:spPr>
        <p:txBody>
          <a:bodyPr wrap="square">
            <a:spAutoFit/>
          </a:bodyPr>
          <a:lstStyle/>
          <a:p>
            <a:pPr algn="l">
              <a:lnSpc>
                <a:spcPts val="1320"/>
              </a:lnSpc>
              <a:defRPr sz="1100" b="0">
                <a:solidFill>
                  <a:srgbClr val="F8F9FA"/>
                </a:solidFill>
              </a:defRPr>
            </a:pPr>
            <a:r>
              <a:t>[5] M. Baqar et al., "Supercapacitor ageing control in residential microgrid based EV charging systems," Energies, MDPI, 2023.</a:t>
            </a:r>
          </a:p>
        </p:txBody>
      </p:sp>
      <p:sp>
        <p:nvSpPr>
          <p:cNvPr id="14" name="Rounded Rectangle 13"/>
          <p:cNvSpPr/>
          <p:nvPr/>
        </p:nvSpPr>
        <p:spPr>
          <a:xfrm>
            <a:off x="8046720" y="1371600"/>
            <a:ext cx="3657600" cy="5029200"/>
          </a:xfrm>
          <a:prstGeom prst="roundRect">
            <a:avLst/>
          </a:prstGeom>
          <a:solidFill>
            <a:srgbClr val="13273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961120" y="1645920"/>
            <a:ext cx="1645920" cy="1645920"/>
          </a:xfrm>
          <a:prstGeom prst="ellipse">
            <a:avLst/>
          </a:prstGeom>
          <a:solidFill>
            <a:srgbClr val="152A4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4000" b="1">
                <a:solidFill>
                  <a:srgbClr val="FFFFFF"/>
                </a:solidFill>
              </a:defRPr>
            </a:pPr>
            <a:r>
              <a:t>🙏</a:t>
            </a:r>
          </a:p>
        </p:txBody>
      </p:sp>
      <p:sp>
        <p:nvSpPr>
          <p:cNvPr id="16" name="TextBox 15"/>
          <p:cNvSpPr txBox="1"/>
          <p:nvPr/>
        </p:nvSpPr>
        <p:spPr>
          <a:xfrm>
            <a:off x="8229600" y="3474720"/>
            <a:ext cx="3291840" cy="457200"/>
          </a:xfrm>
          <a:prstGeom prst="rect">
            <a:avLst/>
          </a:prstGeom>
          <a:noFill/>
        </p:spPr>
        <p:txBody>
          <a:bodyPr wrap="square">
            <a:spAutoFit/>
          </a:bodyPr>
          <a:lstStyle/>
          <a:p>
            <a:pPr algn="ctr">
              <a:lnSpc>
                <a:spcPts val="3640"/>
              </a:lnSpc>
              <a:defRPr sz="2800" b="1">
                <a:solidFill>
                  <a:srgbClr val="00B4D8"/>
                </a:solidFill>
              </a:defRPr>
            </a:pPr>
            <a:r>
              <a:t>THANK YOU</a:t>
            </a:r>
          </a:p>
        </p:txBody>
      </p:sp>
      <p:sp>
        <p:nvSpPr>
          <p:cNvPr id="17" name="TextBox 16"/>
          <p:cNvSpPr txBox="1"/>
          <p:nvPr/>
        </p:nvSpPr>
        <p:spPr>
          <a:xfrm>
            <a:off x="8229600" y="3977639"/>
            <a:ext cx="3291840" cy="365760"/>
          </a:xfrm>
          <a:prstGeom prst="rect">
            <a:avLst/>
          </a:prstGeom>
          <a:noFill/>
        </p:spPr>
        <p:txBody>
          <a:bodyPr wrap="square">
            <a:spAutoFit/>
          </a:bodyPr>
          <a:lstStyle/>
          <a:p>
            <a:pPr algn="ctr">
              <a:lnSpc>
                <a:spcPts val="1820"/>
              </a:lnSpc>
              <a:defRPr sz="1400" b="0">
                <a:solidFill>
                  <a:srgbClr val="F8F9FA"/>
                </a:solidFill>
              </a:defRPr>
            </a:pPr>
            <a:r>
              <a:t>Questions &amp; Discussion</a:t>
            </a:r>
          </a:p>
        </p:txBody>
      </p:sp>
      <p:sp>
        <p:nvSpPr>
          <p:cNvPr id="18" name="Rectangle 17"/>
          <p:cNvSpPr/>
          <p:nvPr/>
        </p:nvSpPr>
        <p:spPr>
          <a:xfrm>
            <a:off x="8961120" y="4434840"/>
            <a:ext cx="18288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4663440"/>
            <a:ext cx="3291840" cy="274320"/>
          </a:xfrm>
          <a:prstGeom prst="rect">
            <a:avLst/>
          </a:prstGeom>
          <a:noFill/>
        </p:spPr>
        <p:txBody>
          <a:bodyPr wrap="square">
            <a:spAutoFit/>
          </a:bodyPr>
          <a:lstStyle/>
          <a:p>
            <a:pPr algn="ctr">
              <a:lnSpc>
                <a:spcPts val="1560"/>
              </a:lnSpc>
              <a:defRPr sz="1200" b="0">
                <a:solidFill>
                  <a:srgbClr val="ECF0F1"/>
                </a:solidFill>
              </a:defRPr>
            </a:pPr>
            <a:r>
              <a:t>Ajeesh Kumar R</a:t>
            </a:r>
          </a:p>
        </p:txBody>
      </p:sp>
      <p:sp>
        <p:nvSpPr>
          <p:cNvPr id="20" name="TextBox 19"/>
          <p:cNvSpPr txBox="1"/>
          <p:nvPr/>
        </p:nvSpPr>
        <p:spPr>
          <a:xfrm>
            <a:off x="8229600" y="4937760"/>
            <a:ext cx="3291840" cy="274320"/>
          </a:xfrm>
          <a:prstGeom prst="rect">
            <a:avLst/>
          </a:prstGeom>
          <a:noFill/>
        </p:spPr>
        <p:txBody>
          <a:bodyPr wrap="square">
            <a:spAutoFit/>
          </a:bodyPr>
          <a:lstStyle/>
          <a:p>
            <a:pPr algn="ctr">
              <a:lnSpc>
                <a:spcPts val="1560"/>
              </a:lnSpc>
              <a:defRPr sz="1200" b="0">
                <a:solidFill>
                  <a:srgbClr val="ECF0F1"/>
                </a:solidFill>
              </a:defRPr>
            </a:pPr>
            <a:r>
              <a:t>2024MT12104</a:t>
            </a:r>
          </a:p>
        </p:txBody>
      </p:sp>
      <p:sp>
        <p:nvSpPr>
          <p:cNvPr id="21" name="TextBox 20"/>
          <p:cNvSpPr txBox="1"/>
          <p:nvPr/>
        </p:nvSpPr>
        <p:spPr>
          <a:xfrm>
            <a:off x="8229600" y="5212080"/>
            <a:ext cx="3291840" cy="274320"/>
          </a:xfrm>
          <a:prstGeom prst="rect">
            <a:avLst/>
          </a:prstGeom>
          <a:noFill/>
        </p:spPr>
        <p:txBody>
          <a:bodyPr wrap="square">
            <a:spAutoFit/>
          </a:bodyPr>
          <a:lstStyle/>
          <a:p>
            <a:pPr algn="ctr">
              <a:lnSpc>
                <a:spcPts val="1560"/>
              </a:lnSpc>
              <a:defRPr sz="1200" b="0">
                <a:solidFill>
                  <a:srgbClr val="ECF0F1"/>
                </a:solidFill>
              </a:defRPr>
            </a:pPr>
            <a:r>
              <a:t>BITS Pilani WILP</a:t>
            </a:r>
          </a:p>
        </p:txBody>
      </p:sp>
      <p:sp>
        <p:nvSpPr>
          <p:cNvPr id="22" name="TextBox 21"/>
          <p:cNvSpPr txBox="1"/>
          <p:nvPr/>
        </p:nvSpPr>
        <p:spPr>
          <a:xfrm>
            <a:off x="8229600" y="5577840"/>
            <a:ext cx="3291840" cy="274320"/>
          </a:xfrm>
          <a:prstGeom prst="rect">
            <a:avLst/>
          </a:prstGeom>
          <a:noFill/>
        </p:spPr>
        <p:txBody>
          <a:bodyPr wrap="square">
            <a:spAutoFit/>
          </a:bodyPr>
          <a:lstStyle/>
          <a:p>
            <a:pPr algn="ctr">
              <a:lnSpc>
                <a:spcPts val="1170"/>
              </a:lnSpc>
              <a:defRPr sz="900" b="0">
                <a:solidFill>
                  <a:srgbClr val="418FDE"/>
                </a:solidFill>
              </a:defRPr>
            </a:pPr>
            <a:r>
              <a:t>github.com/2024mt12104/IoT-Solar-Charging-System</a:t>
            </a:r>
          </a:p>
        </p:txBody>
      </p:sp>
      <p:sp>
        <p:nvSpPr>
          <p:cNvPr id="23" name="Rounded Rectangle 22"/>
          <p:cNvSpPr/>
          <p:nvPr/>
        </p:nvSpPr>
        <p:spPr>
          <a:xfrm>
            <a:off x="457200" y="5669280"/>
            <a:ext cx="7315200" cy="731520"/>
          </a:xfrm>
          <a:prstGeom prst="roundRect">
            <a:avLst/>
          </a:prstGeom>
          <a:solidFill>
            <a:srgbClr val="13273F"/>
          </a:solidFill>
          <a:ln w="19050">
            <a:solidFill>
              <a:srgbClr val="F3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715000"/>
            <a:ext cx="1371600" cy="274320"/>
          </a:xfrm>
          <a:prstGeom prst="rect">
            <a:avLst/>
          </a:prstGeom>
          <a:noFill/>
        </p:spPr>
        <p:txBody>
          <a:bodyPr wrap="square">
            <a:spAutoFit/>
          </a:bodyPr>
          <a:lstStyle/>
          <a:p>
            <a:pPr algn="l">
              <a:lnSpc>
                <a:spcPts val="1430"/>
              </a:lnSpc>
              <a:defRPr sz="1100" b="1">
                <a:solidFill>
                  <a:srgbClr val="F3961C"/>
                </a:solidFill>
              </a:defRPr>
            </a:pPr>
            <a:r>
              <a:t>FUTURE SCOPE:</a:t>
            </a:r>
          </a:p>
        </p:txBody>
      </p:sp>
      <p:sp>
        <p:nvSpPr>
          <p:cNvPr id="25" name="TextBox 24"/>
          <p:cNvSpPr txBox="1"/>
          <p:nvPr/>
        </p:nvSpPr>
        <p:spPr>
          <a:xfrm>
            <a:off x="2103120" y="5715000"/>
            <a:ext cx="5486400" cy="548640"/>
          </a:xfrm>
          <a:prstGeom prst="rect">
            <a:avLst/>
          </a:prstGeom>
          <a:noFill/>
        </p:spPr>
        <p:txBody>
          <a:bodyPr wrap="square">
            <a:spAutoFit/>
          </a:bodyPr>
          <a:lstStyle/>
          <a:p>
            <a:pPr algn="l">
              <a:lnSpc>
                <a:spcPts val="1430"/>
              </a:lnSpc>
              <a:defRPr sz="1100" b="0">
                <a:solidFill>
                  <a:srgbClr val="F8F9FA"/>
                </a:solidFill>
              </a:defRPr>
            </a:pPr>
            <a:r>
              <a:t>ML-based optimization  •  Multi-battery management  •  Custom PCB design  •  Grid-scale integration  •  Mobile app monitoring</a:t>
            </a:r>
          </a:p>
        </p:txBody>
      </p:sp>
      <p:sp>
        <p:nvSpPr>
          <p:cNvPr id="26" name="TextBox 25"/>
          <p:cNvSpPr txBox="1"/>
          <p:nvPr/>
        </p:nvSpPr>
        <p:spPr>
          <a:xfrm>
            <a:off x="11094415" y="6400800"/>
            <a:ext cx="914400" cy="320040"/>
          </a:xfrm>
          <a:prstGeom prst="rect">
            <a:avLst/>
          </a:prstGeom>
          <a:noFill/>
        </p:spPr>
        <p:txBody>
          <a:bodyPr wrap="none">
            <a:spAutoFit/>
          </a:bodyPr>
          <a:lstStyle/>
          <a:p>
            <a:pPr algn="r">
              <a:defRPr sz="1000">
                <a:solidFill>
                  <a:srgbClr val="8899AA"/>
                </a:solidFill>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